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9" r:id="rId1"/>
    <p:sldMasterId id="2147483690" r:id="rId2"/>
    <p:sldMasterId id="2147483691" r:id="rId3"/>
  </p:sldMasterIdLst>
  <p:notesMasterIdLst>
    <p:notesMasterId r:id="rId34"/>
  </p:notesMasterIdLst>
  <p:sldIdLst>
    <p:sldId id="295" r:id="rId4"/>
    <p:sldId id="257" r:id="rId5"/>
    <p:sldId id="268" r:id="rId6"/>
    <p:sldId id="259" r:id="rId7"/>
    <p:sldId id="293" r:id="rId8"/>
    <p:sldId id="277" r:id="rId9"/>
    <p:sldId id="276" r:id="rId10"/>
    <p:sldId id="267" r:id="rId11"/>
    <p:sldId id="273" r:id="rId12"/>
    <p:sldId id="274" r:id="rId13"/>
    <p:sldId id="278" r:id="rId14"/>
    <p:sldId id="271" r:id="rId15"/>
    <p:sldId id="272" r:id="rId16"/>
    <p:sldId id="269" r:id="rId17"/>
    <p:sldId id="275" r:id="rId18"/>
    <p:sldId id="279" r:id="rId19"/>
    <p:sldId id="280" r:id="rId20"/>
    <p:sldId id="282" r:id="rId21"/>
    <p:sldId id="283" r:id="rId22"/>
    <p:sldId id="281" r:id="rId23"/>
    <p:sldId id="289" r:id="rId24"/>
    <p:sldId id="290" r:id="rId25"/>
    <p:sldId id="288" r:id="rId26"/>
    <p:sldId id="285" r:id="rId27"/>
    <p:sldId id="287" r:id="rId28"/>
    <p:sldId id="270" r:id="rId29"/>
    <p:sldId id="296" r:id="rId30"/>
    <p:sldId id="297" r:id="rId31"/>
    <p:sldId id="286" r:id="rId32"/>
    <p:sldId id="292" r:id="rId33"/>
  </p:sldIdLst>
  <p:sldSz cx="12192000" cy="6858000"/>
  <p:notesSz cx="6858000" cy="9144000"/>
  <p:embeddedFontLst>
    <p:embeddedFont>
      <p:font typeface="Consolas" panose="020B0609020204030204" pitchFamily="49" charset="0"/>
      <p:regular r:id="rId35"/>
      <p:bold r:id="rId36"/>
      <p:italic r:id="rId37"/>
      <p:boldItalic r:id="rId38"/>
    </p:embeddedFont>
    <p:embeddedFont>
      <p:font typeface="Libre Franklin" pitchFamily="2" charset="0"/>
      <p:regular r:id="rId39"/>
      <p:bold r:id="rId40"/>
      <p:italic r:id="rId41"/>
      <p:boldItalic r:id="rId42"/>
    </p:embeddedFont>
    <p:embeddedFont>
      <p:font typeface="Overpass" panose="020B0604020202020204" charset="0"/>
      <p:regular r:id="rId43"/>
      <p:bold r:id="rId44"/>
      <p:italic r:id="rId45"/>
      <p:boldItalic r:id="rId46"/>
    </p:embeddedFont>
    <p:embeddedFont>
      <p:font typeface="Overpass Black" panose="020B0604020202020204" charset="0"/>
      <p:bold r:id="rId47"/>
      <p:italic r:id="rId48"/>
      <p:boldItalic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6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font" Target="fonts/font5.fntdata"/><Relationship Id="rId21" Type="http://schemas.openxmlformats.org/officeDocument/2006/relationships/slide" Target="slides/slide18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50" Type="http://schemas.openxmlformats.org/officeDocument/2006/relationships/presProps" Target="pres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3" Type="http://schemas.openxmlformats.org/officeDocument/2006/relationships/tableStyles" Target="tableStyles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font" Target="fonts/font10.fntdata"/><Relationship Id="rId52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font" Target="fonts/font14.fntdata"/><Relationship Id="rId8" Type="http://schemas.openxmlformats.org/officeDocument/2006/relationships/slide" Target="slides/slide5.xml"/><Relationship Id="rId51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20" Type="http://schemas.openxmlformats.org/officeDocument/2006/relationships/slide" Target="slides/slide17.xml"/><Relationship Id="rId41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font" Target="fonts/font2.fntdata"/><Relationship Id="rId49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945060804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945060804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5b3822aa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75b3822aa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08998FC7-EEE3-567B-BB8A-EE992861F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5b3822aa9_0_0:notes">
            <a:extLst>
              <a:ext uri="{FF2B5EF4-FFF2-40B4-BE49-F238E27FC236}">
                <a16:creationId xmlns:a16="http://schemas.microsoft.com/office/drawing/2014/main" id="{EA9C5C3E-6F88-5ACA-5047-C7F50FCB45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75b3822aa9_0_0:notes">
            <a:extLst>
              <a:ext uri="{FF2B5EF4-FFF2-40B4-BE49-F238E27FC236}">
                <a16:creationId xmlns:a16="http://schemas.microsoft.com/office/drawing/2014/main" id="{3DCFAD71-59BC-2853-63C1-B1E6280079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0725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876491e779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876491e779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09C96991-2325-DA14-0E40-DDE6C748F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5b3822aa9_0_0:notes">
            <a:extLst>
              <a:ext uri="{FF2B5EF4-FFF2-40B4-BE49-F238E27FC236}">
                <a16:creationId xmlns:a16="http://schemas.microsoft.com/office/drawing/2014/main" id="{7E4F9DEA-5EF6-54C9-20D6-5DBB4E47D2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75b3822aa9_0_0:notes">
            <a:extLst>
              <a:ext uri="{FF2B5EF4-FFF2-40B4-BE49-F238E27FC236}">
                <a16:creationId xmlns:a16="http://schemas.microsoft.com/office/drawing/2014/main" id="{E50B25FE-D668-4385-3101-B5D63F55BF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108462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984BD40D-A95F-4C0C-80CD-4F10378BE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5b3822aa9_0_0:notes">
            <a:extLst>
              <a:ext uri="{FF2B5EF4-FFF2-40B4-BE49-F238E27FC236}">
                <a16:creationId xmlns:a16="http://schemas.microsoft.com/office/drawing/2014/main" id="{EEB889B4-06A1-1148-CC1B-FCC8055CA1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75b3822aa9_0_0:notes">
            <a:extLst>
              <a:ext uri="{FF2B5EF4-FFF2-40B4-BE49-F238E27FC236}">
                <a16:creationId xmlns:a16="http://schemas.microsoft.com/office/drawing/2014/main" id="{3A6F24B6-3EEC-72AD-DF4B-CE24AE7D1A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77428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>
          <a:extLst>
            <a:ext uri="{FF2B5EF4-FFF2-40B4-BE49-F238E27FC236}">
              <a16:creationId xmlns:a16="http://schemas.microsoft.com/office/drawing/2014/main" id="{76E3477E-9C85-F6C4-C3DF-4DD3451D0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876491e779_3_0:notes">
            <a:extLst>
              <a:ext uri="{FF2B5EF4-FFF2-40B4-BE49-F238E27FC236}">
                <a16:creationId xmlns:a16="http://schemas.microsoft.com/office/drawing/2014/main" id="{03C7D33A-1DD4-2409-6A8E-21DD44A6CA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876491e779_3_0:notes">
            <a:extLst>
              <a:ext uri="{FF2B5EF4-FFF2-40B4-BE49-F238E27FC236}">
                <a16:creationId xmlns:a16="http://schemas.microsoft.com/office/drawing/2014/main" id="{FA392E34-9A1B-BD75-CFB1-1F424A3FF5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45275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>
          <a:extLst>
            <a:ext uri="{FF2B5EF4-FFF2-40B4-BE49-F238E27FC236}">
              <a16:creationId xmlns:a16="http://schemas.microsoft.com/office/drawing/2014/main" id="{B34999F7-AB41-E01A-E21F-184C94ECF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876491e779_3_0:notes">
            <a:extLst>
              <a:ext uri="{FF2B5EF4-FFF2-40B4-BE49-F238E27FC236}">
                <a16:creationId xmlns:a16="http://schemas.microsoft.com/office/drawing/2014/main" id="{82C38ED6-9A1D-4269-29C0-99F40C488C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876491e779_3_0:notes">
            <a:extLst>
              <a:ext uri="{FF2B5EF4-FFF2-40B4-BE49-F238E27FC236}">
                <a16:creationId xmlns:a16="http://schemas.microsoft.com/office/drawing/2014/main" id="{60E70780-D889-B097-79A4-FA61DEAE7C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826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FB902734-8869-EE9B-45E8-4195B8F48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5b3822aa9_0_0:notes">
            <a:extLst>
              <a:ext uri="{FF2B5EF4-FFF2-40B4-BE49-F238E27FC236}">
                <a16:creationId xmlns:a16="http://schemas.microsoft.com/office/drawing/2014/main" id="{491EEF04-6B57-CD31-6175-C758FFCCB0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75b3822aa9_0_0:notes">
            <a:extLst>
              <a:ext uri="{FF2B5EF4-FFF2-40B4-BE49-F238E27FC236}">
                <a16:creationId xmlns:a16="http://schemas.microsoft.com/office/drawing/2014/main" id="{E9E9D40F-9989-AEAA-16C7-66615A7827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65626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F4CDCEEA-FE53-7185-0A90-87B5E3084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5b3822aa9_0_0:notes">
            <a:extLst>
              <a:ext uri="{FF2B5EF4-FFF2-40B4-BE49-F238E27FC236}">
                <a16:creationId xmlns:a16="http://schemas.microsoft.com/office/drawing/2014/main" id="{E3DBB5B7-0C61-EB9A-BADC-60E4DC868C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75b3822aa9_0_0:notes">
            <a:extLst>
              <a:ext uri="{FF2B5EF4-FFF2-40B4-BE49-F238E27FC236}">
                <a16:creationId xmlns:a16="http://schemas.microsoft.com/office/drawing/2014/main" id="{FFD616FF-29CF-37C3-850D-5D244FC758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41760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4EE24A4B-D981-B8A3-5DAB-D1668B10A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5b3822aa9_0_0:notes">
            <a:extLst>
              <a:ext uri="{FF2B5EF4-FFF2-40B4-BE49-F238E27FC236}">
                <a16:creationId xmlns:a16="http://schemas.microsoft.com/office/drawing/2014/main" id="{6835151C-0F82-6B49-7017-2471262759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75b3822aa9_0_0:notes">
            <a:extLst>
              <a:ext uri="{FF2B5EF4-FFF2-40B4-BE49-F238E27FC236}">
                <a16:creationId xmlns:a16="http://schemas.microsoft.com/office/drawing/2014/main" id="{ED53DF1D-3B46-773D-4776-2A2C3A9EF2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03514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1720E002-99E7-48CE-DCAD-7BD1A8CAF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5b3822aa9_0_0:notes">
            <a:extLst>
              <a:ext uri="{FF2B5EF4-FFF2-40B4-BE49-F238E27FC236}">
                <a16:creationId xmlns:a16="http://schemas.microsoft.com/office/drawing/2014/main" id="{03B66D6B-1412-AA40-97F6-D531B27B3F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75b3822aa9_0_0:notes">
            <a:extLst>
              <a:ext uri="{FF2B5EF4-FFF2-40B4-BE49-F238E27FC236}">
                <a16:creationId xmlns:a16="http://schemas.microsoft.com/office/drawing/2014/main" id="{849FF5F6-5496-6C11-E7D0-9BDAC750E8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07621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5F0199EA-7504-694D-7FE8-EA5DDEF85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5b3822aa9_0_0:notes">
            <a:extLst>
              <a:ext uri="{FF2B5EF4-FFF2-40B4-BE49-F238E27FC236}">
                <a16:creationId xmlns:a16="http://schemas.microsoft.com/office/drawing/2014/main" id="{1B34C2EF-56C3-2172-1D4B-2D093C34EB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75b3822aa9_0_0:notes">
            <a:extLst>
              <a:ext uri="{FF2B5EF4-FFF2-40B4-BE49-F238E27FC236}">
                <a16:creationId xmlns:a16="http://schemas.microsoft.com/office/drawing/2014/main" id="{7E5A8B29-A3AC-56A8-C7E1-2A9731D1A8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78105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>
          <a:extLst>
            <a:ext uri="{FF2B5EF4-FFF2-40B4-BE49-F238E27FC236}">
              <a16:creationId xmlns:a16="http://schemas.microsoft.com/office/drawing/2014/main" id="{DE033409-A933-7563-2EDC-FFC0D3EB6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876491e779_3_0:notes">
            <a:extLst>
              <a:ext uri="{FF2B5EF4-FFF2-40B4-BE49-F238E27FC236}">
                <a16:creationId xmlns:a16="http://schemas.microsoft.com/office/drawing/2014/main" id="{2D3E9C7C-862E-8CD7-CAB9-06C9ABB220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876491e779_3_0:notes">
            <a:extLst>
              <a:ext uri="{FF2B5EF4-FFF2-40B4-BE49-F238E27FC236}">
                <a16:creationId xmlns:a16="http://schemas.microsoft.com/office/drawing/2014/main" id="{1DFB886A-D846-E677-23A7-06FDA4B531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865712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>
          <a:extLst>
            <a:ext uri="{FF2B5EF4-FFF2-40B4-BE49-F238E27FC236}">
              <a16:creationId xmlns:a16="http://schemas.microsoft.com/office/drawing/2014/main" id="{D318CDAE-5A8E-20FF-73B5-92FE65328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876491e779_3_0:notes">
            <a:extLst>
              <a:ext uri="{FF2B5EF4-FFF2-40B4-BE49-F238E27FC236}">
                <a16:creationId xmlns:a16="http://schemas.microsoft.com/office/drawing/2014/main" id="{C2D41DD0-DDD7-BC2A-4756-D364B4BA9F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876491e779_3_0:notes">
            <a:extLst>
              <a:ext uri="{FF2B5EF4-FFF2-40B4-BE49-F238E27FC236}">
                <a16:creationId xmlns:a16="http://schemas.microsoft.com/office/drawing/2014/main" id="{9C1EFDBA-745B-FB67-5369-972331F663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676272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355E9C9F-8C98-9DF8-4503-C5D9DC9D6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5b3822aa9_0_0:notes">
            <a:extLst>
              <a:ext uri="{FF2B5EF4-FFF2-40B4-BE49-F238E27FC236}">
                <a16:creationId xmlns:a16="http://schemas.microsoft.com/office/drawing/2014/main" id="{6595883D-2D1C-39D3-A97D-C5FDC9B921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75b3822aa9_0_0:notes">
            <a:extLst>
              <a:ext uri="{FF2B5EF4-FFF2-40B4-BE49-F238E27FC236}">
                <a16:creationId xmlns:a16="http://schemas.microsoft.com/office/drawing/2014/main" id="{9D1DBB88-3ECA-5897-60AE-32B6E08DBF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82409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C6F3CAAE-436E-AE57-618C-B9B467DC4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5b3822aa9_0_0:notes">
            <a:extLst>
              <a:ext uri="{FF2B5EF4-FFF2-40B4-BE49-F238E27FC236}">
                <a16:creationId xmlns:a16="http://schemas.microsoft.com/office/drawing/2014/main" id="{577EA529-8D70-B0B5-D4B6-9F181D9169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75b3822aa9_0_0:notes">
            <a:extLst>
              <a:ext uri="{FF2B5EF4-FFF2-40B4-BE49-F238E27FC236}">
                <a16:creationId xmlns:a16="http://schemas.microsoft.com/office/drawing/2014/main" id="{4EE995E1-F69F-3A26-7033-005E544CAD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341205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E9703BFB-F591-95ED-D7B8-90F1F9276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5b3822aa9_0_0:notes">
            <a:extLst>
              <a:ext uri="{FF2B5EF4-FFF2-40B4-BE49-F238E27FC236}">
                <a16:creationId xmlns:a16="http://schemas.microsoft.com/office/drawing/2014/main" id="{42D50203-B35B-FE25-4C6E-9E672EC56B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75b3822aa9_0_0:notes">
            <a:extLst>
              <a:ext uri="{FF2B5EF4-FFF2-40B4-BE49-F238E27FC236}">
                <a16:creationId xmlns:a16="http://schemas.microsoft.com/office/drawing/2014/main" id="{099D0E7E-99B6-8745-562B-30C8E37CD6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808806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718B031F-C97C-403B-60C1-4BFC11941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5b3822aa9_0_0:notes">
            <a:extLst>
              <a:ext uri="{FF2B5EF4-FFF2-40B4-BE49-F238E27FC236}">
                <a16:creationId xmlns:a16="http://schemas.microsoft.com/office/drawing/2014/main" id="{823320F5-7699-226A-CC46-421C1D78A0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75b3822aa9_0_0:notes">
            <a:extLst>
              <a:ext uri="{FF2B5EF4-FFF2-40B4-BE49-F238E27FC236}">
                <a16:creationId xmlns:a16="http://schemas.microsoft.com/office/drawing/2014/main" id="{8DA65F37-5765-3F60-4E45-470EB55D83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324434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BBBC2C9B-0BEC-20B5-F7F4-5D0172E5F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5b3822aa9_0_0:notes">
            <a:extLst>
              <a:ext uri="{FF2B5EF4-FFF2-40B4-BE49-F238E27FC236}">
                <a16:creationId xmlns:a16="http://schemas.microsoft.com/office/drawing/2014/main" id="{0617C16D-4273-0C56-AE20-B69E36CB7F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75b3822aa9_0_0:notes">
            <a:extLst>
              <a:ext uri="{FF2B5EF4-FFF2-40B4-BE49-F238E27FC236}">
                <a16:creationId xmlns:a16="http://schemas.microsoft.com/office/drawing/2014/main" id="{0825E997-12AD-6F08-39D9-882EA82556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14717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FDBCE6C0-D9F5-43FB-B7EF-729B94601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5b3822aa9_0_0:notes">
            <a:extLst>
              <a:ext uri="{FF2B5EF4-FFF2-40B4-BE49-F238E27FC236}">
                <a16:creationId xmlns:a16="http://schemas.microsoft.com/office/drawing/2014/main" id="{9025D8E3-68E5-31D3-DFAC-0ECCCE675A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75b3822aa9_0_0:notes">
            <a:extLst>
              <a:ext uri="{FF2B5EF4-FFF2-40B4-BE49-F238E27FC236}">
                <a16:creationId xmlns:a16="http://schemas.microsoft.com/office/drawing/2014/main" id="{71497F19-0D9E-0532-EE6E-C8DAD5DD0B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02569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9F3E3ED6-FE32-EE43-830C-02835D37A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5b3822aa9_0_0:notes">
            <a:extLst>
              <a:ext uri="{FF2B5EF4-FFF2-40B4-BE49-F238E27FC236}">
                <a16:creationId xmlns:a16="http://schemas.microsoft.com/office/drawing/2014/main" id="{03321880-799B-2FDB-8DA8-07644A9CAB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75b3822aa9_0_0:notes">
            <a:extLst>
              <a:ext uri="{FF2B5EF4-FFF2-40B4-BE49-F238E27FC236}">
                <a16:creationId xmlns:a16="http://schemas.microsoft.com/office/drawing/2014/main" id="{C55B965E-48E7-2D6E-7EF8-2EA27C3A2D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916730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7FB1F20D-D661-E18E-88EA-CF9C8F983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5b3822aa9_0_0:notes">
            <a:extLst>
              <a:ext uri="{FF2B5EF4-FFF2-40B4-BE49-F238E27FC236}">
                <a16:creationId xmlns:a16="http://schemas.microsoft.com/office/drawing/2014/main" id="{532FD4D9-0988-9B36-1B90-5CF2603612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75b3822aa9_0_0:notes">
            <a:extLst>
              <a:ext uri="{FF2B5EF4-FFF2-40B4-BE49-F238E27FC236}">
                <a16:creationId xmlns:a16="http://schemas.microsoft.com/office/drawing/2014/main" id="{1C914DBD-E460-1518-2209-E017A243C2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48922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1F7D2C19-3DC8-EBE3-CE65-1FAD82F83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5b3822aa9_0_0:notes">
            <a:extLst>
              <a:ext uri="{FF2B5EF4-FFF2-40B4-BE49-F238E27FC236}">
                <a16:creationId xmlns:a16="http://schemas.microsoft.com/office/drawing/2014/main" id="{6DAFDF7A-CA6A-FAED-0E8F-C86DEE080E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75b3822aa9_0_0:notes">
            <a:extLst>
              <a:ext uri="{FF2B5EF4-FFF2-40B4-BE49-F238E27FC236}">
                <a16:creationId xmlns:a16="http://schemas.microsoft.com/office/drawing/2014/main" id="{955D3249-731E-CEF8-BAB1-80A769EFF8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50315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523D7D45-3F0C-D8A0-6048-7D4124853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5b3822aa9_0_0:notes">
            <a:extLst>
              <a:ext uri="{FF2B5EF4-FFF2-40B4-BE49-F238E27FC236}">
                <a16:creationId xmlns:a16="http://schemas.microsoft.com/office/drawing/2014/main" id="{3CC5B146-16A1-BF32-8A1E-2313D102A0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75b3822aa9_0_0:notes">
            <a:extLst>
              <a:ext uri="{FF2B5EF4-FFF2-40B4-BE49-F238E27FC236}">
                <a16:creationId xmlns:a16="http://schemas.microsoft.com/office/drawing/2014/main" id="{15D0F138-23AC-6E9D-60FC-85A64A6159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40324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>
          <a:extLst>
            <a:ext uri="{FF2B5EF4-FFF2-40B4-BE49-F238E27FC236}">
              <a16:creationId xmlns:a16="http://schemas.microsoft.com/office/drawing/2014/main" id="{3859F9A6-C2ED-3649-1881-BBF7E6DBE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876491e779_3_0:notes">
            <a:extLst>
              <a:ext uri="{FF2B5EF4-FFF2-40B4-BE49-F238E27FC236}">
                <a16:creationId xmlns:a16="http://schemas.microsoft.com/office/drawing/2014/main" id="{4511AC06-6349-8260-CFB0-CEAE8D529F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876491e779_3_0:notes">
            <a:extLst>
              <a:ext uri="{FF2B5EF4-FFF2-40B4-BE49-F238E27FC236}">
                <a16:creationId xmlns:a16="http://schemas.microsoft.com/office/drawing/2014/main" id="{5F621CF8-52AA-BD2D-F8FA-8F904D5F10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6727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>
          <a:extLst>
            <a:ext uri="{FF2B5EF4-FFF2-40B4-BE49-F238E27FC236}">
              <a16:creationId xmlns:a16="http://schemas.microsoft.com/office/drawing/2014/main" id="{B300BB9B-D42B-5F3E-CEAE-7EFF4F75F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876491e779_3_0:notes">
            <a:extLst>
              <a:ext uri="{FF2B5EF4-FFF2-40B4-BE49-F238E27FC236}">
                <a16:creationId xmlns:a16="http://schemas.microsoft.com/office/drawing/2014/main" id="{7148F6A3-B551-96DC-B586-FB5D348A1E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876491e779_3_0:notes">
            <a:extLst>
              <a:ext uri="{FF2B5EF4-FFF2-40B4-BE49-F238E27FC236}">
                <a16:creationId xmlns:a16="http://schemas.microsoft.com/office/drawing/2014/main" id="{889108F0-A1D8-F73F-C471-09707AAFC8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15915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>
          <a:extLst>
            <a:ext uri="{FF2B5EF4-FFF2-40B4-BE49-F238E27FC236}">
              <a16:creationId xmlns:a16="http://schemas.microsoft.com/office/drawing/2014/main" id="{6FDE368D-7D2F-5BE4-6F6F-CDBD1CA54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876491e779_3_0:notes">
            <a:extLst>
              <a:ext uri="{FF2B5EF4-FFF2-40B4-BE49-F238E27FC236}">
                <a16:creationId xmlns:a16="http://schemas.microsoft.com/office/drawing/2014/main" id="{5D406BA8-2AB7-72FF-CE06-A7E2BB43CD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876491e779_3_0:notes">
            <a:extLst>
              <a:ext uri="{FF2B5EF4-FFF2-40B4-BE49-F238E27FC236}">
                <a16:creationId xmlns:a16="http://schemas.microsoft.com/office/drawing/2014/main" id="{1B90ABF3-878D-95D9-CAFC-CE6C32942E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73497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3A4183A6-AC3B-A8AE-6E6C-0B4117A28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5b3822aa9_0_0:notes">
            <a:extLst>
              <a:ext uri="{FF2B5EF4-FFF2-40B4-BE49-F238E27FC236}">
                <a16:creationId xmlns:a16="http://schemas.microsoft.com/office/drawing/2014/main" id="{99DB51B8-A297-90B6-9860-AA5F71F577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75b3822aa9_0_0:notes">
            <a:extLst>
              <a:ext uri="{FF2B5EF4-FFF2-40B4-BE49-F238E27FC236}">
                <a16:creationId xmlns:a16="http://schemas.microsoft.com/office/drawing/2014/main" id="{E67ED661-8DD0-3773-070C-7674B278B2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0150180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EEA35D78-AFEC-8502-9998-64445F0A9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5b3822aa9_0_0:notes">
            <a:extLst>
              <a:ext uri="{FF2B5EF4-FFF2-40B4-BE49-F238E27FC236}">
                <a16:creationId xmlns:a16="http://schemas.microsoft.com/office/drawing/2014/main" id="{2FF09DA9-D242-1AD3-0EE6-44EE65309A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75b3822aa9_0_0:notes">
            <a:extLst>
              <a:ext uri="{FF2B5EF4-FFF2-40B4-BE49-F238E27FC236}">
                <a16:creationId xmlns:a16="http://schemas.microsoft.com/office/drawing/2014/main" id="{81F8706F-FEB4-FDCF-22A3-AB3C22782E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47280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0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0.pn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0.png"/><Relationship Id="rId4" Type="http://schemas.openxmlformats.org/officeDocument/2006/relationships/image" Target="../media/image11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0.png"/><Relationship Id="rId4" Type="http://schemas.openxmlformats.org/officeDocument/2006/relationships/image" Target="../media/image11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1 (Bright)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910250" y="2722450"/>
            <a:ext cx="57912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D1C28"/>
              </a:buClr>
              <a:buSzPts val="4000"/>
              <a:buFont typeface="Overpass"/>
              <a:buNone/>
              <a:defRPr sz="4000" b="1">
                <a:solidFill>
                  <a:srgbClr val="1D1C28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910250" y="4026186"/>
            <a:ext cx="85647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8F4D6"/>
              </a:buClr>
              <a:buSzPts val="2400"/>
              <a:buNone/>
              <a:defRPr sz="2400">
                <a:solidFill>
                  <a:srgbClr val="08F4D6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2">
            <a:alphaModFix/>
          </a:blip>
          <a:srcRect l="-3431" t="-1717" r="21343" b="26057"/>
          <a:stretch/>
        </p:blipFill>
        <p:spPr>
          <a:xfrm>
            <a:off x="7847500" y="1373450"/>
            <a:ext cx="4344500" cy="5484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7697" y="996975"/>
            <a:ext cx="2076599" cy="46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1 (Bright)">
  <p:cSld name="Content 1 (Bright)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ctrTitle"/>
          </p:nvPr>
        </p:nvSpPr>
        <p:spPr>
          <a:xfrm>
            <a:off x="1059255" y="1918930"/>
            <a:ext cx="10487479" cy="304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Overpass"/>
              <a:buNone/>
              <a:defRPr sz="2400" b="0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1"/>
          </p:nvPr>
        </p:nvSpPr>
        <p:spPr>
          <a:xfrm>
            <a:off x="1059256" y="2617651"/>
            <a:ext cx="10500184" cy="3094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49724" y="664325"/>
            <a:ext cx="679800" cy="93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1 (Dark)">
  <p:cSld name="Content 1 (Dark)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1D1C2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2" name="Google Shape;22;p4"/>
          <p:cNvSpPr txBox="1">
            <a:spLocks noGrp="1"/>
          </p:cNvSpPr>
          <p:nvPr>
            <p:ph type="ctrTitle"/>
          </p:nvPr>
        </p:nvSpPr>
        <p:spPr>
          <a:xfrm>
            <a:off x="1059255" y="1918930"/>
            <a:ext cx="10487479" cy="304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"/>
              <a:buNone/>
              <a:defRPr sz="2400" b="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3" name="Google Shape;23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81820" y="638525"/>
            <a:ext cx="1377620" cy="262228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1059256" y="2617651"/>
            <a:ext cx="10500184" cy="3094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2 (Bright)">
  <p:cSld name="Content 2 (Bright)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ctrTitle"/>
          </p:nvPr>
        </p:nvSpPr>
        <p:spPr>
          <a:xfrm>
            <a:off x="1059255" y="1919891"/>
            <a:ext cx="10487479" cy="304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Overpass"/>
              <a:buNone/>
              <a:defRPr sz="2400" b="0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1059256" y="2601685"/>
            <a:ext cx="4797258" cy="3094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6335487" y="2601685"/>
            <a:ext cx="4797260" cy="3094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29" name="Google Shape;29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49724" y="664325"/>
            <a:ext cx="679800" cy="93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2 (Dark)">
  <p:cSld name="Content 2 (Dark)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1C2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2" name="Google Shape;32;p6"/>
          <p:cNvSpPr txBox="1">
            <a:spLocks noGrp="1"/>
          </p:cNvSpPr>
          <p:nvPr>
            <p:ph type="ctrTitle"/>
          </p:nvPr>
        </p:nvSpPr>
        <p:spPr>
          <a:xfrm>
            <a:off x="1059255" y="1924010"/>
            <a:ext cx="10487479" cy="304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"/>
              <a:buNone/>
              <a:defRPr sz="2400" b="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>
            <a:off x="1059256" y="2601685"/>
            <a:ext cx="4797258" cy="3094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2"/>
          </p:nvPr>
        </p:nvSpPr>
        <p:spPr>
          <a:xfrm>
            <a:off x="6335487" y="2601685"/>
            <a:ext cx="4797260" cy="3094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35" name="Google Shape;35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49724" y="664325"/>
            <a:ext cx="679800" cy="93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+ Subtitle - Low (Bright)">
  <p:cSld name="Blank + Subtitle - Low (Bright)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ctrTitle"/>
          </p:nvPr>
        </p:nvSpPr>
        <p:spPr>
          <a:xfrm>
            <a:off x="1059255" y="1924010"/>
            <a:ext cx="10487479" cy="304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Overpass"/>
              <a:buNone/>
              <a:defRPr sz="2400" b="0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1059255" y="2424389"/>
            <a:ext cx="5666615" cy="244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 i="0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9" name="Google Shape;3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49724" y="664325"/>
            <a:ext cx="679800" cy="93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+ Subtitle - Low (Dark)">
  <p:cSld name="Blank + Subtitle - Low (Dark)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1C2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2" name="Google Shape;42;p8"/>
          <p:cNvSpPr txBox="1">
            <a:spLocks noGrp="1"/>
          </p:cNvSpPr>
          <p:nvPr>
            <p:ph type="ctrTitle"/>
          </p:nvPr>
        </p:nvSpPr>
        <p:spPr>
          <a:xfrm>
            <a:off x="1059255" y="1924010"/>
            <a:ext cx="10487479" cy="304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"/>
              <a:buNone/>
              <a:defRPr sz="2400" b="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1"/>
          </p:nvPr>
        </p:nvSpPr>
        <p:spPr>
          <a:xfrm>
            <a:off x="1059255" y="2424389"/>
            <a:ext cx="5666615" cy="244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 b="0" i="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44" name="Google Shape;44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49724" y="664325"/>
            <a:ext cx="679800" cy="93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- Medium (Bright)">
  <p:cSld name="Blank - Medium (Bright)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>
            <a:spLocks noGrp="1"/>
          </p:cNvSpPr>
          <p:nvPr>
            <p:ph type="ctrTitle"/>
          </p:nvPr>
        </p:nvSpPr>
        <p:spPr>
          <a:xfrm>
            <a:off x="1059255" y="1412201"/>
            <a:ext cx="10487479" cy="304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Overpass"/>
              <a:buNone/>
              <a:defRPr sz="2400" b="0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1"/>
          </p:nvPr>
        </p:nvSpPr>
        <p:spPr>
          <a:xfrm>
            <a:off x="1059255" y="1907554"/>
            <a:ext cx="5666615" cy="244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 i="0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48" name="Google Shape;48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49724" y="664325"/>
            <a:ext cx="679800" cy="93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Medium (Dark)">
  <p:cSld name="Blank - Medium (Dark)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1C2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51" name="Google Shape;51;p10"/>
          <p:cNvSpPr txBox="1">
            <a:spLocks noGrp="1"/>
          </p:cNvSpPr>
          <p:nvPr>
            <p:ph type="ctrTitle"/>
          </p:nvPr>
        </p:nvSpPr>
        <p:spPr>
          <a:xfrm>
            <a:off x="1059292" y="1412201"/>
            <a:ext cx="104874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"/>
              <a:buNone/>
              <a:defRPr sz="2400" b="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body" idx="1"/>
          </p:nvPr>
        </p:nvSpPr>
        <p:spPr>
          <a:xfrm>
            <a:off x="1059255" y="1907554"/>
            <a:ext cx="56667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 b="0" i="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53" name="Google Shape;53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49724" y="664325"/>
            <a:ext cx="679800" cy="93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- High (Bright)">
  <p:cSld name="Blank - High (Bright)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ctrTitle"/>
          </p:nvPr>
        </p:nvSpPr>
        <p:spPr>
          <a:xfrm>
            <a:off x="1059255" y="901113"/>
            <a:ext cx="104874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Overpass"/>
              <a:buNone/>
              <a:defRPr sz="2400" b="0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1059255" y="1390719"/>
            <a:ext cx="5666615" cy="244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 b="0" i="0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57" name="Google Shape;5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49724" y="664325"/>
            <a:ext cx="679800" cy="93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High (Dark)">
  <p:cSld name="Blank - High (Dark)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1C2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60" name="Google Shape;60;p12"/>
          <p:cNvSpPr txBox="1">
            <a:spLocks noGrp="1"/>
          </p:cNvSpPr>
          <p:nvPr>
            <p:ph type="ctrTitle"/>
          </p:nvPr>
        </p:nvSpPr>
        <p:spPr>
          <a:xfrm>
            <a:off x="1059255" y="900753"/>
            <a:ext cx="8564685" cy="304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"/>
              <a:buNone/>
              <a:defRPr sz="2400" b="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2"/>
          <p:cNvSpPr txBox="1">
            <a:spLocks noGrp="1"/>
          </p:cNvSpPr>
          <p:nvPr>
            <p:ph type="body" idx="1"/>
          </p:nvPr>
        </p:nvSpPr>
        <p:spPr>
          <a:xfrm>
            <a:off x="1059255" y="1380780"/>
            <a:ext cx="5666615" cy="244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 b="0" i="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62" name="Google Shape;62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49724" y="664325"/>
            <a:ext cx="679800" cy="93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+ Logo (Bright)">
  <p:cSld name="Blank + Logo (Bright)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49724" y="664325"/>
            <a:ext cx="679800" cy="93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+ Logo (Dark)">
  <p:cSld name="Blank + Logo (Dark)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1C2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2">
            <a:alphaModFix/>
          </a:blip>
          <a:srcRect l="-6351" t="-1912" r="25445" b="21906"/>
          <a:stretch/>
        </p:blipFill>
        <p:spPr>
          <a:xfrm>
            <a:off x="8598150" y="1990525"/>
            <a:ext cx="3593851" cy="4867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+ Logo (Dark) 1">
  <p:cSld name="Blank + Logo (Dark)_1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1C2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 rotWithShape="1">
          <a:blip r:embed="rId2">
            <a:alphaModFix amt="11000"/>
          </a:blip>
          <a:srcRect l="-6351" t="-1912" r="25445" b="21906"/>
          <a:stretch/>
        </p:blipFill>
        <p:spPr>
          <a:xfrm>
            <a:off x="8598150" y="1990525"/>
            <a:ext cx="3593851" cy="4867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(Bright)">
  <p:cSld name="Blank (Bright)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49724" y="664325"/>
            <a:ext cx="679800" cy="93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(Dark)">
  <p:cSld name="Blank (Dark)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1C2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75" name="Google Shape;75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49724" y="664325"/>
            <a:ext cx="679800" cy="93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hevron Content 1 (Bright)">
  <p:cSld name="Chevron Content 1 (Bright)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>
            <a:spLocks noGrp="1"/>
          </p:cNvSpPr>
          <p:nvPr>
            <p:ph type="ctrTitle"/>
          </p:nvPr>
        </p:nvSpPr>
        <p:spPr>
          <a:xfrm>
            <a:off x="6516007" y="1889056"/>
            <a:ext cx="4792190" cy="304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Overpass"/>
              <a:buNone/>
              <a:defRPr sz="2400" b="0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body" idx="1"/>
          </p:nvPr>
        </p:nvSpPr>
        <p:spPr>
          <a:xfrm>
            <a:off x="6510939" y="2525852"/>
            <a:ext cx="4797258" cy="2681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grpSp>
        <p:nvGrpSpPr>
          <p:cNvPr id="79" name="Google Shape;79;p18"/>
          <p:cNvGrpSpPr/>
          <p:nvPr/>
        </p:nvGrpSpPr>
        <p:grpSpPr>
          <a:xfrm>
            <a:off x="-2518491" y="-208896"/>
            <a:ext cx="10189407" cy="7270938"/>
            <a:chOff x="171734" y="769639"/>
            <a:chExt cx="6341118" cy="4525208"/>
          </a:xfrm>
        </p:grpSpPr>
        <p:sp>
          <p:nvSpPr>
            <p:cNvPr id="80" name="Google Shape;80;p18"/>
            <p:cNvSpPr/>
            <p:nvPr/>
          </p:nvSpPr>
          <p:spPr>
            <a:xfrm>
              <a:off x="2900782" y="769639"/>
              <a:ext cx="3612070" cy="4525208"/>
            </a:xfrm>
            <a:custGeom>
              <a:avLst/>
              <a:gdLst/>
              <a:ahLst/>
              <a:cxnLst/>
              <a:rect l="l" t="t" r="r" b="b"/>
              <a:pathLst>
                <a:path w="3612070" h="4525208" extrusionOk="0">
                  <a:moveTo>
                    <a:pt x="2257438" y="0"/>
                  </a:moveTo>
                  <a:lnTo>
                    <a:pt x="0" y="2262498"/>
                  </a:lnTo>
                  <a:lnTo>
                    <a:pt x="2257438" y="4525208"/>
                  </a:lnTo>
                  <a:lnTo>
                    <a:pt x="3612071" y="4525208"/>
                  </a:lnTo>
                  <a:lnTo>
                    <a:pt x="1354633" y="2262498"/>
                  </a:lnTo>
                  <a:lnTo>
                    <a:pt x="3612071" y="0"/>
                  </a:lnTo>
                  <a:lnTo>
                    <a:pt x="2257438" y="0"/>
                  </a:lnTo>
                  <a:close/>
                </a:path>
              </a:pathLst>
            </a:custGeom>
            <a:solidFill>
              <a:srgbClr val="D4D32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1" name="Google Shape;81;p18"/>
            <p:cNvSpPr/>
            <p:nvPr/>
          </p:nvSpPr>
          <p:spPr>
            <a:xfrm>
              <a:off x="171734" y="769639"/>
              <a:ext cx="3612070" cy="4525208"/>
            </a:xfrm>
            <a:custGeom>
              <a:avLst/>
              <a:gdLst/>
              <a:ahLst/>
              <a:cxnLst/>
              <a:rect l="l" t="t" r="r" b="b"/>
              <a:pathLst>
                <a:path w="3612070" h="4525208" extrusionOk="0">
                  <a:moveTo>
                    <a:pt x="2257438" y="0"/>
                  </a:moveTo>
                  <a:lnTo>
                    <a:pt x="0" y="2262498"/>
                  </a:lnTo>
                  <a:lnTo>
                    <a:pt x="2257438" y="4525208"/>
                  </a:lnTo>
                  <a:lnTo>
                    <a:pt x="3612071" y="4525208"/>
                  </a:lnTo>
                  <a:lnTo>
                    <a:pt x="1354633" y="2262498"/>
                  </a:lnTo>
                  <a:lnTo>
                    <a:pt x="3612071" y="0"/>
                  </a:lnTo>
                  <a:lnTo>
                    <a:pt x="2257438" y="0"/>
                  </a:lnTo>
                  <a:close/>
                </a:path>
              </a:pathLst>
            </a:custGeom>
            <a:solidFill>
              <a:srgbClr val="D4D32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pic>
        <p:nvPicPr>
          <p:cNvPr id="82" name="Google Shape;82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49724" y="664325"/>
            <a:ext cx="679800" cy="93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evron Content 1 (Dark)">
  <p:cSld name="Chevron Content 1 (Dark)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1C2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85" name="Google Shape;85;p19"/>
          <p:cNvSpPr txBox="1">
            <a:spLocks noGrp="1"/>
          </p:cNvSpPr>
          <p:nvPr>
            <p:ph type="ctrTitle"/>
          </p:nvPr>
        </p:nvSpPr>
        <p:spPr>
          <a:xfrm>
            <a:off x="6516007" y="1889056"/>
            <a:ext cx="4792190" cy="304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"/>
              <a:buNone/>
              <a:defRPr sz="2400" b="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9"/>
          <p:cNvSpPr txBox="1">
            <a:spLocks noGrp="1"/>
          </p:cNvSpPr>
          <p:nvPr>
            <p:ph type="body" idx="1"/>
          </p:nvPr>
        </p:nvSpPr>
        <p:spPr>
          <a:xfrm>
            <a:off x="6510939" y="2525852"/>
            <a:ext cx="4797258" cy="2681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grpSp>
        <p:nvGrpSpPr>
          <p:cNvPr id="87" name="Google Shape;87;p19"/>
          <p:cNvGrpSpPr/>
          <p:nvPr/>
        </p:nvGrpSpPr>
        <p:grpSpPr>
          <a:xfrm>
            <a:off x="-2518491" y="-206469"/>
            <a:ext cx="10189407" cy="7270938"/>
            <a:chOff x="171734" y="769639"/>
            <a:chExt cx="6341118" cy="4525208"/>
          </a:xfrm>
        </p:grpSpPr>
        <p:sp>
          <p:nvSpPr>
            <p:cNvPr id="88" name="Google Shape;88;p19"/>
            <p:cNvSpPr/>
            <p:nvPr/>
          </p:nvSpPr>
          <p:spPr>
            <a:xfrm>
              <a:off x="2900782" y="769639"/>
              <a:ext cx="3612070" cy="4525208"/>
            </a:xfrm>
            <a:custGeom>
              <a:avLst/>
              <a:gdLst/>
              <a:ahLst/>
              <a:cxnLst/>
              <a:rect l="l" t="t" r="r" b="b"/>
              <a:pathLst>
                <a:path w="3612070" h="4525208" extrusionOk="0">
                  <a:moveTo>
                    <a:pt x="2257438" y="0"/>
                  </a:moveTo>
                  <a:lnTo>
                    <a:pt x="0" y="2262498"/>
                  </a:lnTo>
                  <a:lnTo>
                    <a:pt x="2257438" y="4525208"/>
                  </a:lnTo>
                  <a:lnTo>
                    <a:pt x="3612071" y="4525208"/>
                  </a:lnTo>
                  <a:lnTo>
                    <a:pt x="1354633" y="2262498"/>
                  </a:lnTo>
                  <a:lnTo>
                    <a:pt x="3612071" y="0"/>
                  </a:lnTo>
                  <a:lnTo>
                    <a:pt x="2257438" y="0"/>
                  </a:lnTo>
                  <a:close/>
                </a:path>
              </a:pathLst>
            </a:custGeom>
            <a:solidFill>
              <a:srgbClr val="D4D32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9" name="Google Shape;89;p19"/>
            <p:cNvSpPr/>
            <p:nvPr/>
          </p:nvSpPr>
          <p:spPr>
            <a:xfrm>
              <a:off x="171734" y="769639"/>
              <a:ext cx="3612070" cy="4525208"/>
            </a:xfrm>
            <a:custGeom>
              <a:avLst/>
              <a:gdLst/>
              <a:ahLst/>
              <a:cxnLst/>
              <a:rect l="l" t="t" r="r" b="b"/>
              <a:pathLst>
                <a:path w="3612070" h="4525208" extrusionOk="0">
                  <a:moveTo>
                    <a:pt x="2257438" y="0"/>
                  </a:moveTo>
                  <a:lnTo>
                    <a:pt x="0" y="2262498"/>
                  </a:lnTo>
                  <a:lnTo>
                    <a:pt x="2257438" y="4525208"/>
                  </a:lnTo>
                  <a:lnTo>
                    <a:pt x="3612071" y="4525208"/>
                  </a:lnTo>
                  <a:lnTo>
                    <a:pt x="1354633" y="2262498"/>
                  </a:lnTo>
                  <a:lnTo>
                    <a:pt x="3612071" y="0"/>
                  </a:lnTo>
                  <a:lnTo>
                    <a:pt x="2257438" y="0"/>
                  </a:lnTo>
                  <a:close/>
                </a:path>
              </a:pathLst>
            </a:custGeom>
            <a:solidFill>
              <a:srgbClr val="D4D32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pic>
        <p:nvPicPr>
          <p:cNvPr id="90" name="Google Shape;90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49724" y="664325"/>
            <a:ext cx="679800" cy="93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hevron Content 2 (Bright)">
  <p:cSld name="Chevron Content 2 (Bright)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20"/>
          <p:cNvGrpSpPr/>
          <p:nvPr/>
        </p:nvGrpSpPr>
        <p:grpSpPr>
          <a:xfrm>
            <a:off x="4917849" y="1870818"/>
            <a:ext cx="7586254" cy="5413385"/>
            <a:chOff x="171734" y="769639"/>
            <a:chExt cx="6341118" cy="4525208"/>
          </a:xfrm>
        </p:grpSpPr>
        <p:sp>
          <p:nvSpPr>
            <p:cNvPr id="93" name="Google Shape;93;p20"/>
            <p:cNvSpPr/>
            <p:nvPr/>
          </p:nvSpPr>
          <p:spPr>
            <a:xfrm>
              <a:off x="2900782" y="769639"/>
              <a:ext cx="3612070" cy="4525208"/>
            </a:xfrm>
            <a:custGeom>
              <a:avLst/>
              <a:gdLst/>
              <a:ahLst/>
              <a:cxnLst/>
              <a:rect l="l" t="t" r="r" b="b"/>
              <a:pathLst>
                <a:path w="3612070" h="4525208" extrusionOk="0">
                  <a:moveTo>
                    <a:pt x="2257438" y="0"/>
                  </a:moveTo>
                  <a:lnTo>
                    <a:pt x="0" y="2262498"/>
                  </a:lnTo>
                  <a:lnTo>
                    <a:pt x="2257438" y="4525208"/>
                  </a:lnTo>
                  <a:lnTo>
                    <a:pt x="3612071" y="4525208"/>
                  </a:lnTo>
                  <a:lnTo>
                    <a:pt x="1354633" y="2262498"/>
                  </a:lnTo>
                  <a:lnTo>
                    <a:pt x="3612071" y="0"/>
                  </a:lnTo>
                  <a:lnTo>
                    <a:pt x="2257438" y="0"/>
                  </a:lnTo>
                  <a:close/>
                </a:path>
              </a:pathLst>
            </a:custGeom>
            <a:solidFill>
              <a:srgbClr val="D4D32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94" name="Google Shape;94;p20"/>
            <p:cNvSpPr/>
            <p:nvPr/>
          </p:nvSpPr>
          <p:spPr>
            <a:xfrm>
              <a:off x="171734" y="769639"/>
              <a:ext cx="3612070" cy="4525208"/>
            </a:xfrm>
            <a:custGeom>
              <a:avLst/>
              <a:gdLst/>
              <a:ahLst/>
              <a:cxnLst/>
              <a:rect l="l" t="t" r="r" b="b"/>
              <a:pathLst>
                <a:path w="3612070" h="4525208" extrusionOk="0">
                  <a:moveTo>
                    <a:pt x="2257438" y="0"/>
                  </a:moveTo>
                  <a:lnTo>
                    <a:pt x="0" y="2262498"/>
                  </a:lnTo>
                  <a:lnTo>
                    <a:pt x="2257438" y="4525208"/>
                  </a:lnTo>
                  <a:lnTo>
                    <a:pt x="3612071" y="4525208"/>
                  </a:lnTo>
                  <a:lnTo>
                    <a:pt x="1354633" y="2262498"/>
                  </a:lnTo>
                  <a:lnTo>
                    <a:pt x="3612071" y="0"/>
                  </a:lnTo>
                  <a:lnTo>
                    <a:pt x="2257438" y="0"/>
                  </a:lnTo>
                  <a:close/>
                </a:path>
              </a:pathLst>
            </a:custGeom>
            <a:solidFill>
              <a:srgbClr val="D4D32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95" name="Google Shape;95;p20"/>
          <p:cNvSpPr txBox="1">
            <a:spLocks noGrp="1"/>
          </p:cNvSpPr>
          <p:nvPr>
            <p:ph type="ctrTitle"/>
          </p:nvPr>
        </p:nvSpPr>
        <p:spPr>
          <a:xfrm>
            <a:off x="1071171" y="1312587"/>
            <a:ext cx="4792190" cy="304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Overpass"/>
              <a:buNone/>
              <a:defRPr sz="2400" b="0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body" idx="1"/>
          </p:nvPr>
        </p:nvSpPr>
        <p:spPr>
          <a:xfrm>
            <a:off x="1066103" y="1949383"/>
            <a:ext cx="4797258" cy="2681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97" name="Google Shape;97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49724" y="664325"/>
            <a:ext cx="679800" cy="93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evron Content 2 (Dark)">
  <p:cSld name="Chevron Content 2 (Dark)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1C2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pSp>
        <p:nvGrpSpPr>
          <p:cNvPr id="100" name="Google Shape;100;p21"/>
          <p:cNvGrpSpPr/>
          <p:nvPr/>
        </p:nvGrpSpPr>
        <p:grpSpPr>
          <a:xfrm>
            <a:off x="4917849" y="1870818"/>
            <a:ext cx="7586254" cy="5413385"/>
            <a:chOff x="171734" y="769639"/>
            <a:chExt cx="6341118" cy="4525208"/>
          </a:xfrm>
        </p:grpSpPr>
        <p:sp>
          <p:nvSpPr>
            <p:cNvPr id="101" name="Google Shape;101;p21"/>
            <p:cNvSpPr/>
            <p:nvPr/>
          </p:nvSpPr>
          <p:spPr>
            <a:xfrm>
              <a:off x="2900782" y="769639"/>
              <a:ext cx="3612070" cy="4525208"/>
            </a:xfrm>
            <a:custGeom>
              <a:avLst/>
              <a:gdLst/>
              <a:ahLst/>
              <a:cxnLst/>
              <a:rect l="l" t="t" r="r" b="b"/>
              <a:pathLst>
                <a:path w="3612070" h="4525208" extrusionOk="0">
                  <a:moveTo>
                    <a:pt x="2257438" y="0"/>
                  </a:moveTo>
                  <a:lnTo>
                    <a:pt x="0" y="2262498"/>
                  </a:lnTo>
                  <a:lnTo>
                    <a:pt x="2257438" y="4525208"/>
                  </a:lnTo>
                  <a:lnTo>
                    <a:pt x="3612071" y="4525208"/>
                  </a:lnTo>
                  <a:lnTo>
                    <a:pt x="1354633" y="2262498"/>
                  </a:lnTo>
                  <a:lnTo>
                    <a:pt x="3612071" y="0"/>
                  </a:lnTo>
                  <a:lnTo>
                    <a:pt x="2257438" y="0"/>
                  </a:lnTo>
                  <a:close/>
                </a:path>
              </a:pathLst>
            </a:custGeom>
            <a:solidFill>
              <a:srgbClr val="D4D32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2" name="Google Shape;102;p21"/>
            <p:cNvSpPr/>
            <p:nvPr/>
          </p:nvSpPr>
          <p:spPr>
            <a:xfrm>
              <a:off x="171734" y="769639"/>
              <a:ext cx="3612070" cy="4525208"/>
            </a:xfrm>
            <a:custGeom>
              <a:avLst/>
              <a:gdLst/>
              <a:ahLst/>
              <a:cxnLst/>
              <a:rect l="l" t="t" r="r" b="b"/>
              <a:pathLst>
                <a:path w="3612070" h="4525208" extrusionOk="0">
                  <a:moveTo>
                    <a:pt x="2257438" y="0"/>
                  </a:moveTo>
                  <a:lnTo>
                    <a:pt x="0" y="2262498"/>
                  </a:lnTo>
                  <a:lnTo>
                    <a:pt x="2257438" y="4525208"/>
                  </a:lnTo>
                  <a:lnTo>
                    <a:pt x="3612071" y="4525208"/>
                  </a:lnTo>
                  <a:lnTo>
                    <a:pt x="1354633" y="2262498"/>
                  </a:lnTo>
                  <a:lnTo>
                    <a:pt x="3612071" y="0"/>
                  </a:lnTo>
                  <a:lnTo>
                    <a:pt x="2257438" y="0"/>
                  </a:lnTo>
                  <a:close/>
                </a:path>
              </a:pathLst>
            </a:custGeom>
            <a:solidFill>
              <a:srgbClr val="D4D32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03" name="Google Shape;103;p21"/>
          <p:cNvSpPr txBox="1">
            <a:spLocks noGrp="1"/>
          </p:cNvSpPr>
          <p:nvPr>
            <p:ph type="ctrTitle"/>
          </p:nvPr>
        </p:nvSpPr>
        <p:spPr>
          <a:xfrm>
            <a:off x="1071171" y="1312587"/>
            <a:ext cx="4792190" cy="304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"/>
              <a:buNone/>
              <a:defRPr sz="2400" b="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body" idx="1"/>
          </p:nvPr>
        </p:nvSpPr>
        <p:spPr>
          <a:xfrm>
            <a:off x="1066103" y="1949383"/>
            <a:ext cx="4797258" cy="2681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105" name="Google Shape;105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49724" y="664325"/>
            <a:ext cx="679800" cy="93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Media Content 1 (Bright)">
  <p:cSld name="Media Content 1 (Bright)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ctrTitle"/>
          </p:nvPr>
        </p:nvSpPr>
        <p:spPr>
          <a:xfrm>
            <a:off x="6931065" y="1889056"/>
            <a:ext cx="4370153" cy="304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Overpass"/>
              <a:buNone/>
              <a:defRPr sz="2400" b="0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 txBox="1">
            <a:spLocks noGrp="1"/>
          </p:cNvSpPr>
          <p:nvPr>
            <p:ph type="body" idx="1"/>
          </p:nvPr>
        </p:nvSpPr>
        <p:spPr>
          <a:xfrm>
            <a:off x="6925997" y="2525852"/>
            <a:ext cx="4374775" cy="2681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grpSp>
        <p:nvGrpSpPr>
          <p:cNvPr id="109" name="Google Shape;109;p22"/>
          <p:cNvGrpSpPr/>
          <p:nvPr/>
        </p:nvGrpSpPr>
        <p:grpSpPr>
          <a:xfrm>
            <a:off x="-949034" y="1154572"/>
            <a:ext cx="7414722" cy="4548860"/>
            <a:chOff x="-949034" y="1154572"/>
            <a:chExt cx="7414722" cy="4548860"/>
          </a:xfrm>
        </p:grpSpPr>
        <p:sp>
          <p:nvSpPr>
            <p:cNvPr id="110" name="Google Shape;110;p22"/>
            <p:cNvSpPr/>
            <p:nvPr/>
          </p:nvSpPr>
          <p:spPr>
            <a:xfrm>
              <a:off x="5680179" y="5620185"/>
              <a:ext cx="452262" cy="83247"/>
            </a:xfrm>
            <a:custGeom>
              <a:avLst/>
              <a:gdLst/>
              <a:ahLst/>
              <a:cxnLst/>
              <a:rect l="l" t="t" r="r" b="b"/>
              <a:pathLst>
                <a:path w="452262" h="83247" extrusionOk="0">
                  <a:moveTo>
                    <a:pt x="0" y="0"/>
                  </a:moveTo>
                  <a:lnTo>
                    <a:pt x="452262" y="0"/>
                  </a:lnTo>
                  <a:lnTo>
                    <a:pt x="452262" y="35677"/>
                  </a:lnTo>
                  <a:cubicBezTo>
                    <a:pt x="452262" y="61960"/>
                    <a:pt x="430959" y="83247"/>
                    <a:pt x="404656" y="83247"/>
                  </a:cubicBezTo>
                  <a:lnTo>
                    <a:pt x="47607" y="83247"/>
                  </a:lnTo>
                  <a:cubicBezTo>
                    <a:pt x="21304" y="83247"/>
                    <a:pt x="0" y="61960"/>
                    <a:pt x="0" y="3567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9CB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1" name="Google Shape;111;p22"/>
            <p:cNvSpPr/>
            <p:nvPr/>
          </p:nvSpPr>
          <p:spPr>
            <a:xfrm>
              <a:off x="-615788" y="5620185"/>
              <a:ext cx="452262" cy="83247"/>
            </a:xfrm>
            <a:custGeom>
              <a:avLst/>
              <a:gdLst/>
              <a:ahLst/>
              <a:cxnLst/>
              <a:rect l="l" t="t" r="r" b="b"/>
              <a:pathLst>
                <a:path w="452262" h="83247" extrusionOk="0">
                  <a:moveTo>
                    <a:pt x="0" y="0"/>
                  </a:moveTo>
                  <a:lnTo>
                    <a:pt x="452262" y="0"/>
                  </a:lnTo>
                  <a:lnTo>
                    <a:pt x="452262" y="35677"/>
                  </a:lnTo>
                  <a:cubicBezTo>
                    <a:pt x="452262" y="61960"/>
                    <a:pt x="430958" y="83247"/>
                    <a:pt x="404656" y="83247"/>
                  </a:cubicBezTo>
                  <a:lnTo>
                    <a:pt x="47607" y="83247"/>
                  </a:lnTo>
                  <a:cubicBezTo>
                    <a:pt x="21304" y="83247"/>
                    <a:pt x="0" y="61960"/>
                    <a:pt x="0" y="3567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9CB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2" name="Google Shape;112;p22"/>
            <p:cNvSpPr/>
            <p:nvPr/>
          </p:nvSpPr>
          <p:spPr>
            <a:xfrm>
              <a:off x="-949034" y="1154572"/>
              <a:ext cx="7414722" cy="4507237"/>
            </a:xfrm>
            <a:custGeom>
              <a:avLst/>
              <a:gdLst/>
              <a:ahLst/>
              <a:cxnLst/>
              <a:rect l="l" t="t" r="r" b="b"/>
              <a:pathLst>
                <a:path w="7414722" h="4507237" extrusionOk="0">
                  <a:moveTo>
                    <a:pt x="7402821" y="4186141"/>
                  </a:moveTo>
                  <a:lnTo>
                    <a:pt x="6831542" y="4186141"/>
                  </a:lnTo>
                  <a:lnTo>
                    <a:pt x="6831542" y="4114787"/>
                  </a:lnTo>
                  <a:lnTo>
                    <a:pt x="6831542" y="4114787"/>
                  </a:lnTo>
                  <a:lnTo>
                    <a:pt x="6831542" y="142709"/>
                  </a:lnTo>
                  <a:cubicBezTo>
                    <a:pt x="6831542" y="63922"/>
                    <a:pt x="6767571" y="0"/>
                    <a:pt x="6688722" y="0"/>
                  </a:cubicBezTo>
                  <a:lnTo>
                    <a:pt x="726000" y="0"/>
                  </a:lnTo>
                  <a:cubicBezTo>
                    <a:pt x="647152" y="0"/>
                    <a:pt x="583180" y="63922"/>
                    <a:pt x="583180" y="142709"/>
                  </a:cubicBezTo>
                  <a:lnTo>
                    <a:pt x="583180" y="4186141"/>
                  </a:lnTo>
                  <a:lnTo>
                    <a:pt x="11902" y="4186141"/>
                  </a:lnTo>
                  <a:cubicBezTo>
                    <a:pt x="5356" y="4186141"/>
                    <a:pt x="0" y="4192980"/>
                    <a:pt x="0" y="4201423"/>
                  </a:cubicBezTo>
                  <a:lnTo>
                    <a:pt x="0" y="4339019"/>
                  </a:lnTo>
                  <a:cubicBezTo>
                    <a:pt x="0" y="4431899"/>
                    <a:pt x="58616" y="4507238"/>
                    <a:pt x="130918" y="4507238"/>
                  </a:cubicBezTo>
                  <a:lnTo>
                    <a:pt x="7283804" y="4507238"/>
                  </a:lnTo>
                  <a:cubicBezTo>
                    <a:pt x="7356107" y="4507238"/>
                    <a:pt x="7414722" y="4431959"/>
                    <a:pt x="7414722" y="4339019"/>
                  </a:cubicBezTo>
                  <a:lnTo>
                    <a:pt x="7414722" y="4201423"/>
                  </a:lnTo>
                  <a:cubicBezTo>
                    <a:pt x="7414722" y="4192980"/>
                    <a:pt x="7409366" y="4186141"/>
                    <a:pt x="7402821" y="4186141"/>
                  </a:cubicBezTo>
                  <a:close/>
                  <a:moveTo>
                    <a:pt x="666492" y="154602"/>
                  </a:moveTo>
                  <a:cubicBezTo>
                    <a:pt x="666492" y="115178"/>
                    <a:pt x="698448" y="83247"/>
                    <a:pt x="737902" y="83247"/>
                  </a:cubicBezTo>
                  <a:lnTo>
                    <a:pt x="3362214" y="83247"/>
                  </a:lnTo>
                  <a:cubicBezTo>
                    <a:pt x="3375365" y="83247"/>
                    <a:pt x="3386017" y="93891"/>
                    <a:pt x="3386017" y="107032"/>
                  </a:cubicBezTo>
                  <a:lnTo>
                    <a:pt x="3386017" y="166494"/>
                  </a:lnTo>
                  <a:cubicBezTo>
                    <a:pt x="3386017" y="179635"/>
                    <a:pt x="3396669" y="190279"/>
                    <a:pt x="3409820" y="190279"/>
                  </a:cubicBezTo>
                  <a:lnTo>
                    <a:pt x="4004902" y="190279"/>
                  </a:lnTo>
                  <a:cubicBezTo>
                    <a:pt x="4018054" y="190279"/>
                    <a:pt x="4028705" y="179635"/>
                    <a:pt x="4028705" y="166494"/>
                  </a:cubicBezTo>
                  <a:lnTo>
                    <a:pt x="4028705" y="107032"/>
                  </a:lnTo>
                  <a:cubicBezTo>
                    <a:pt x="4028705" y="93891"/>
                    <a:pt x="4039357" y="83247"/>
                    <a:pt x="4052509" y="83247"/>
                  </a:cubicBezTo>
                  <a:lnTo>
                    <a:pt x="6676821" y="83247"/>
                  </a:lnTo>
                  <a:cubicBezTo>
                    <a:pt x="6716275" y="83247"/>
                    <a:pt x="6748230" y="115178"/>
                    <a:pt x="6748230" y="154602"/>
                  </a:cubicBezTo>
                  <a:lnTo>
                    <a:pt x="6748230" y="4031540"/>
                  </a:lnTo>
                  <a:lnTo>
                    <a:pt x="666492" y="4031540"/>
                  </a:lnTo>
                  <a:lnTo>
                    <a:pt x="666492" y="154602"/>
                  </a:lnTo>
                  <a:close/>
                </a:path>
              </a:pathLst>
            </a:custGeom>
            <a:solidFill>
              <a:srgbClr val="F4F4F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3" name="Google Shape;113;p22"/>
            <p:cNvSpPr/>
            <p:nvPr/>
          </p:nvSpPr>
          <p:spPr>
            <a:xfrm>
              <a:off x="2192999" y="5412068"/>
              <a:ext cx="1130655" cy="71354"/>
            </a:xfrm>
            <a:custGeom>
              <a:avLst/>
              <a:gdLst/>
              <a:ahLst/>
              <a:cxnLst/>
              <a:rect l="l" t="t" r="r" b="b"/>
              <a:pathLst>
                <a:path w="1130655" h="71354" extrusionOk="0">
                  <a:moveTo>
                    <a:pt x="0" y="0"/>
                  </a:moveTo>
                  <a:lnTo>
                    <a:pt x="1130656" y="0"/>
                  </a:lnTo>
                  <a:cubicBezTo>
                    <a:pt x="1130656" y="39423"/>
                    <a:pt x="1098700" y="71355"/>
                    <a:pt x="1059246" y="71355"/>
                  </a:cubicBezTo>
                  <a:lnTo>
                    <a:pt x="71410" y="71355"/>
                  </a:lnTo>
                  <a:cubicBezTo>
                    <a:pt x="31956" y="71355"/>
                    <a:pt x="0" y="39423"/>
                    <a:pt x="0" y="0"/>
                  </a:cubicBez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14" name="Google Shape;114;p22"/>
          <p:cNvSpPr>
            <a:spLocks noGrp="1"/>
          </p:cNvSpPr>
          <p:nvPr>
            <p:ph type="pic" idx="2"/>
          </p:nvPr>
        </p:nvSpPr>
        <p:spPr>
          <a:xfrm>
            <a:off x="-282542" y="1237819"/>
            <a:ext cx="6081738" cy="394829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pic>
        <p:nvPicPr>
          <p:cNvPr id="115" name="Google Shape;115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049724" y="664325"/>
            <a:ext cx="679800" cy="93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dia Content 1 (Dark)">
  <p:cSld name="Media Content 1 (Dark)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1D1C2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18" name="Google Shape;118;p23"/>
          <p:cNvSpPr txBox="1">
            <a:spLocks noGrp="1"/>
          </p:cNvSpPr>
          <p:nvPr>
            <p:ph type="ctrTitle"/>
          </p:nvPr>
        </p:nvSpPr>
        <p:spPr>
          <a:xfrm>
            <a:off x="6931065" y="1889056"/>
            <a:ext cx="4370153" cy="304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"/>
              <a:buNone/>
              <a:defRPr sz="2400" b="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19" name="Google Shape;119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26970" y="1958577"/>
            <a:ext cx="342813" cy="244427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3"/>
          <p:cNvSpPr txBox="1">
            <a:spLocks noGrp="1"/>
          </p:cNvSpPr>
          <p:nvPr>
            <p:ph type="body" idx="1"/>
          </p:nvPr>
        </p:nvSpPr>
        <p:spPr>
          <a:xfrm>
            <a:off x="6925997" y="2525852"/>
            <a:ext cx="4374775" cy="2681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grpSp>
        <p:nvGrpSpPr>
          <p:cNvPr id="121" name="Google Shape;121;p23"/>
          <p:cNvGrpSpPr/>
          <p:nvPr/>
        </p:nvGrpSpPr>
        <p:grpSpPr>
          <a:xfrm>
            <a:off x="-949034" y="1154572"/>
            <a:ext cx="7414722" cy="4548860"/>
            <a:chOff x="-949034" y="1154572"/>
            <a:chExt cx="7414722" cy="4548860"/>
          </a:xfrm>
        </p:grpSpPr>
        <p:sp>
          <p:nvSpPr>
            <p:cNvPr id="122" name="Google Shape;122;p23"/>
            <p:cNvSpPr/>
            <p:nvPr/>
          </p:nvSpPr>
          <p:spPr>
            <a:xfrm>
              <a:off x="5680179" y="5620185"/>
              <a:ext cx="452262" cy="83247"/>
            </a:xfrm>
            <a:custGeom>
              <a:avLst/>
              <a:gdLst/>
              <a:ahLst/>
              <a:cxnLst/>
              <a:rect l="l" t="t" r="r" b="b"/>
              <a:pathLst>
                <a:path w="452262" h="83247" extrusionOk="0">
                  <a:moveTo>
                    <a:pt x="0" y="0"/>
                  </a:moveTo>
                  <a:lnTo>
                    <a:pt x="452262" y="0"/>
                  </a:lnTo>
                  <a:lnTo>
                    <a:pt x="452262" y="35677"/>
                  </a:lnTo>
                  <a:cubicBezTo>
                    <a:pt x="452262" y="61960"/>
                    <a:pt x="430959" y="83247"/>
                    <a:pt x="404656" y="83247"/>
                  </a:cubicBezTo>
                  <a:lnTo>
                    <a:pt x="47607" y="83247"/>
                  </a:lnTo>
                  <a:cubicBezTo>
                    <a:pt x="21304" y="83247"/>
                    <a:pt x="0" y="61960"/>
                    <a:pt x="0" y="3567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9CB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23" name="Google Shape;123;p23"/>
            <p:cNvSpPr/>
            <p:nvPr/>
          </p:nvSpPr>
          <p:spPr>
            <a:xfrm>
              <a:off x="-615788" y="5620185"/>
              <a:ext cx="452262" cy="83247"/>
            </a:xfrm>
            <a:custGeom>
              <a:avLst/>
              <a:gdLst/>
              <a:ahLst/>
              <a:cxnLst/>
              <a:rect l="l" t="t" r="r" b="b"/>
              <a:pathLst>
                <a:path w="452262" h="83247" extrusionOk="0">
                  <a:moveTo>
                    <a:pt x="0" y="0"/>
                  </a:moveTo>
                  <a:lnTo>
                    <a:pt x="452262" y="0"/>
                  </a:lnTo>
                  <a:lnTo>
                    <a:pt x="452262" y="35677"/>
                  </a:lnTo>
                  <a:cubicBezTo>
                    <a:pt x="452262" y="61960"/>
                    <a:pt x="430958" y="83247"/>
                    <a:pt x="404656" y="83247"/>
                  </a:cubicBezTo>
                  <a:lnTo>
                    <a:pt x="47607" y="83247"/>
                  </a:lnTo>
                  <a:cubicBezTo>
                    <a:pt x="21304" y="83247"/>
                    <a:pt x="0" y="61960"/>
                    <a:pt x="0" y="3567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9CB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24" name="Google Shape;124;p23"/>
            <p:cNvSpPr/>
            <p:nvPr/>
          </p:nvSpPr>
          <p:spPr>
            <a:xfrm>
              <a:off x="-949034" y="1154572"/>
              <a:ext cx="7414722" cy="4507237"/>
            </a:xfrm>
            <a:custGeom>
              <a:avLst/>
              <a:gdLst/>
              <a:ahLst/>
              <a:cxnLst/>
              <a:rect l="l" t="t" r="r" b="b"/>
              <a:pathLst>
                <a:path w="7414722" h="4507237" extrusionOk="0">
                  <a:moveTo>
                    <a:pt x="7402821" y="4186141"/>
                  </a:moveTo>
                  <a:lnTo>
                    <a:pt x="6831542" y="4186141"/>
                  </a:lnTo>
                  <a:lnTo>
                    <a:pt x="6831542" y="4114787"/>
                  </a:lnTo>
                  <a:lnTo>
                    <a:pt x="6831542" y="4114787"/>
                  </a:lnTo>
                  <a:lnTo>
                    <a:pt x="6831542" y="142709"/>
                  </a:lnTo>
                  <a:cubicBezTo>
                    <a:pt x="6831542" y="63922"/>
                    <a:pt x="6767571" y="0"/>
                    <a:pt x="6688722" y="0"/>
                  </a:cubicBezTo>
                  <a:lnTo>
                    <a:pt x="726000" y="0"/>
                  </a:lnTo>
                  <a:cubicBezTo>
                    <a:pt x="647152" y="0"/>
                    <a:pt x="583180" y="63922"/>
                    <a:pt x="583180" y="142709"/>
                  </a:cubicBezTo>
                  <a:lnTo>
                    <a:pt x="583180" y="4186141"/>
                  </a:lnTo>
                  <a:lnTo>
                    <a:pt x="11902" y="4186141"/>
                  </a:lnTo>
                  <a:cubicBezTo>
                    <a:pt x="5356" y="4186141"/>
                    <a:pt x="0" y="4192980"/>
                    <a:pt x="0" y="4201423"/>
                  </a:cubicBezTo>
                  <a:lnTo>
                    <a:pt x="0" y="4339019"/>
                  </a:lnTo>
                  <a:cubicBezTo>
                    <a:pt x="0" y="4431899"/>
                    <a:pt x="58616" y="4507238"/>
                    <a:pt x="130918" y="4507238"/>
                  </a:cubicBezTo>
                  <a:lnTo>
                    <a:pt x="7283804" y="4507238"/>
                  </a:lnTo>
                  <a:cubicBezTo>
                    <a:pt x="7356107" y="4507238"/>
                    <a:pt x="7414722" y="4431959"/>
                    <a:pt x="7414722" y="4339019"/>
                  </a:cubicBezTo>
                  <a:lnTo>
                    <a:pt x="7414722" y="4201423"/>
                  </a:lnTo>
                  <a:cubicBezTo>
                    <a:pt x="7414722" y="4192980"/>
                    <a:pt x="7409366" y="4186141"/>
                    <a:pt x="7402821" y="4186141"/>
                  </a:cubicBezTo>
                  <a:close/>
                  <a:moveTo>
                    <a:pt x="666492" y="154602"/>
                  </a:moveTo>
                  <a:cubicBezTo>
                    <a:pt x="666492" y="115178"/>
                    <a:pt x="698448" y="83247"/>
                    <a:pt x="737902" y="83247"/>
                  </a:cubicBezTo>
                  <a:lnTo>
                    <a:pt x="3362214" y="83247"/>
                  </a:lnTo>
                  <a:cubicBezTo>
                    <a:pt x="3375365" y="83247"/>
                    <a:pt x="3386017" y="93891"/>
                    <a:pt x="3386017" y="107032"/>
                  </a:cubicBezTo>
                  <a:lnTo>
                    <a:pt x="3386017" y="166494"/>
                  </a:lnTo>
                  <a:cubicBezTo>
                    <a:pt x="3386017" y="179635"/>
                    <a:pt x="3396669" y="190279"/>
                    <a:pt x="3409820" y="190279"/>
                  </a:cubicBezTo>
                  <a:lnTo>
                    <a:pt x="4004902" y="190279"/>
                  </a:lnTo>
                  <a:cubicBezTo>
                    <a:pt x="4018054" y="190279"/>
                    <a:pt x="4028705" y="179635"/>
                    <a:pt x="4028705" y="166494"/>
                  </a:cubicBezTo>
                  <a:lnTo>
                    <a:pt x="4028705" y="107032"/>
                  </a:lnTo>
                  <a:cubicBezTo>
                    <a:pt x="4028705" y="93891"/>
                    <a:pt x="4039357" y="83247"/>
                    <a:pt x="4052509" y="83247"/>
                  </a:cubicBezTo>
                  <a:lnTo>
                    <a:pt x="6676821" y="83247"/>
                  </a:lnTo>
                  <a:cubicBezTo>
                    <a:pt x="6716275" y="83247"/>
                    <a:pt x="6748230" y="115178"/>
                    <a:pt x="6748230" y="154602"/>
                  </a:cubicBezTo>
                  <a:lnTo>
                    <a:pt x="6748230" y="4031540"/>
                  </a:lnTo>
                  <a:lnTo>
                    <a:pt x="666492" y="4031540"/>
                  </a:lnTo>
                  <a:lnTo>
                    <a:pt x="666492" y="154602"/>
                  </a:lnTo>
                  <a:close/>
                </a:path>
              </a:pathLst>
            </a:custGeom>
            <a:solidFill>
              <a:srgbClr val="F4F4F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25" name="Google Shape;125;p23"/>
            <p:cNvSpPr/>
            <p:nvPr/>
          </p:nvSpPr>
          <p:spPr>
            <a:xfrm>
              <a:off x="2192999" y="5412068"/>
              <a:ext cx="1130655" cy="71354"/>
            </a:xfrm>
            <a:custGeom>
              <a:avLst/>
              <a:gdLst/>
              <a:ahLst/>
              <a:cxnLst/>
              <a:rect l="l" t="t" r="r" b="b"/>
              <a:pathLst>
                <a:path w="1130655" h="71354" extrusionOk="0">
                  <a:moveTo>
                    <a:pt x="0" y="0"/>
                  </a:moveTo>
                  <a:lnTo>
                    <a:pt x="1130656" y="0"/>
                  </a:lnTo>
                  <a:cubicBezTo>
                    <a:pt x="1130656" y="39423"/>
                    <a:pt x="1098700" y="71355"/>
                    <a:pt x="1059246" y="71355"/>
                  </a:cubicBezTo>
                  <a:lnTo>
                    <a:pt x="71410" y="71355"/>
                  </a:lnTo>
                  <a:cubicBezTo>
                    <a:pt x="31956" y="71355"/>
                    <a:pt x="0" y="39423"/>
                    <a:pt x="0" y="0"/>
                  </a:cubicBez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26" name="Google Shape;126;p23"/>
          <p:cNvSpPr>
            <a:spLocks noGrp="1"/>
          </p:cNvSpPr>
          <p:nvPr>
            <p:ph type="pic" idx="2"/>
          </p:nvPr>
        </p:nvSpPr>
        <p:spPr>
          <a:xfrm>
            <a:off x="-282542" y="1237819"/>
            <a:ext cx="6081738" cy="394829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pic>
        <p:nvPicPr>
          <p:cNvPr id="127" name="Google Shape;12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49724" y="664325"/>
            <a:ext cx="679800" cy="93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Media Content 2 (Bright)">
  <p:cSld name="Media Content 2 (Bright)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887684" y="5007428"/>
            <a:ext cx="304316" cy="185057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4"/>
          <p:cNvSpPr txBox="1">
            <a:spLocks noGrp="1"/>
          </p:cNvSpPr>
          <p:nvPr>
            <p:ph type="ctrTitle"/>
          </p:nvPr>
        </p:nvSpPr>
        <p:spPr>
          <a:xfrm>
            <a:off x="1044495" y="1867737"/>
            <a:ext cx="4370153" cy="304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Overpass"/>
              <a:buNone/>
              <a:defRPr sz="2400" b="0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4"/>
          <p:cNvSpPr txBox="1">
            <a:spLocks noGrp="1"/>
          </p:cNvSpPr>
          <p:nvPr>
            <p:ph type="body" idx="1"/>
          </p:nvPr>
        </p:nvSpPr>
        <p:spPr>
          <a:xfrm>
            <a:off x="1039427" y="2504533"/>
            <a:ext cx="4374775" cy="2681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grpSp>
        <p:nvGrpSpPr>
          <p:cNvPr id="132" name="Google Shape;132;p24"/>
          <p:cNvGrpSpPr/>
          <p:nvPr/>
        </p:nvGrpSpPr>
        <p:grpSpPr>
          <a:xfrm>
            <a:off x="5748668" y="1154570"/>
            <a:ext cx="7414722" cy="4548860"/>
            <a:chOff x="-949034" y="1154572"/>
            <a:chExt cx="7414722" cy="4548860"/>
          </a:xfrm>
        </p:grpSpPr>
        <p:sp>
          <p:nvSpPr>
            <p:cNvPr id="133" name="Google Shape;133;p24"/>
            <p:cNvSpPr/>
            <p:nvPr/>
          </p:nvSpPr>
          <p:spPr>
            <a:xfrm>
              <a:off x="5680179" y="5620185"/>
              <a:ext cx="452262" cy="83247"/>
            </a:xfrm>
            <a:custGeom>
              <a:avLst/>
              <a:gdLst/>
              <a:ahLst/>
              <a:cxnLst/>
              <a:rect l="l" t="t" r="r" b="b"/>
              <a:pathLst>
                <a:path w="452262" h="83247" extrusionOk="0">
                  <a:moveTo>
                    <a:pt x="0" y="0"/>
                  </a:moveTo>
                  <a:lnTo>
                    <a:pt x="452262" y="0"/>
                  </a:lnTo>
                  <a:lnTo>
                    <a:pt x="452262" y="35677"/>
                  </a:lnTo>
                  <a:cubicBezTo>
                    <a:pt x="452262" y="61960"/>
                    <a:pt x="430959" y="83247"/>
                    <a:pt x="404656" y="83247"/>
                  </a:cubicBezTo>
                  <a:lnTo>
                    <a:pt x="47607" y="83247"/>
                  </a:lnTo>
                  <a:cubicBezTo>
                    <a:pt x="21304" y="83247"/>
                    <a:pt x="0" y="61960"/>
                    <a:pt x="0" y="3567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9CB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4" name="Google Shape;134;p24"/>
            <p:cNvSpPr/>
            <p:nvPr/>
          </p:nvSpPr>
          <p:spPr>
            <a:xfrm>
              <a:off x="-615788" y="5620185"/>
              <a:ext cx="452262" cy="83247"/>
            </a:xfrm>
            <a:custGeom>
              <a:avLst/>
              <a:gdLst/>
              <a:ahLst/>
              <a:cxnLst/>
              <a:rect l="l" t="t" r="r" b="b"/>
              <a:pathLst>
                <a:path w="452262" h="83247" extrusionOk="0">
                  <a:moveTo>
                    <a:pt x="0" y="0"/>
                  </a:moveTo>
                  <a:lnTo>
                    <a:pt x="452262" y="0"/>
                  </a:lnTo>
                  <a:lnTo>
                    <a:pt x="452262" y="35677"/>
                  </a:lnTo>
                  <a:cubicBezTo>
                    <a:pt x="452262" y="61960"/>
                    <a:pt x="430958" y="83247"/>
                    <a:pt x="404656" y="83247"/>
                  </a:cubicBezTo>
                  <a:lnTo>
                    <a:pt x="47607" y="83247"/>
                  </a:lnTo>
                  <a:cubicBezTo>
                    <a:pt x="21304" y="83247"/>
                    <a:pt x="0" y="61960"/>
                    <a:pt x="0" y="3567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9CB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5" name="Google Shape;135;p24"/>
            <p:cNvSpPr/>
            <p:nvPr/>
          </p:nvSpPr>
          <p:spPr>
            <a:xfrm>
              <a:off x="-949034" y="1154572"/>
              <a:ext cx="7414722" cy="4507237"/>
            </a:xfrm>
            <a:custGeom>
              <a:avLst/>
              <a:gdLst/>
              <a:ahLst/>
              <a:cxnLst/>
              <a:rect l="l" t="t" r="r" b="b"/>
              <a:pathLst>
                <a:path w="7414722" h="4507237" extrusionOk="0">
                  <a:moveTo>
                    <a:pt x="7402821" y="4186141"/>
                  </a:moveTo>
                  <a:lnTo>
                    <a:pt x="6831542" y="4186141"/>
                  </a:lnTo>
                  <a:lnTo>
                    <a:pt x="6831542" y="4114787"/>
                  </a:lnTo>
                  <a:lnTo>
                    <a:pt x="6831542" y="4114787"/>
                  </a:lnTo>
                  <a:lnTo>
                    <a:pt x="6831542" y="142709"/>
                  </a:lnTo>
                  <a:cubicBezTo>
                    <a:pt x="6831542" y="63922"/>
                    <a:pt x="6767571" y="0"/>
                    <a:pt x="6688722" y="0"/>
                  </a:cubicBezTo>
                  <a:lnTo>
                    <a:pt x="726000" y="0"/>
                  </a:lnTo>
                  <a:cubicBezTo>
                    <a:pt x="647152" y="0"/>
                    <a:pt x="583180" y="63922"/>
                    <a:pt x="583180" y="142709"/>
                  </a:cubicBezTo>
                  <a:lnTo>
                    <a:pt x="583180" y="4186141"/>
                  </a:lnTo>
                  <a:lnTo>
                    <a:pt x="11902" y="4186141"/>
                  </a:lnTo>
                  <a:cubicBezTo>
                    <a:pt x="5356" y="4186141"/>
                    <a:pt x="0" y="4192980"/>
                    <a:pt x="0" y="4201423"/>
                  </a:cubicBezTo>
                  <a:lnTo>
                    <a:pt x="0" y="4339019"/>
                  </a:lnTo>
                  <a:cubicBezTo>
                    <a:pt x="0" y="4431899"/>
                    <a:pt x="58616" y="4507238"/>
                    <a:pt x="130918" y="4507238"/>
                  </a:cubicBezTo>
                  <a:lnTo>
                    <a:pt x="7283804" y="4507238"/>
                  </a:lnTo>
                  <a:cubicBezTo>
                    <a:pt x="7356107" y="4507238"/>
                    <a:pt x="7414722" y="4431959"/>
                    <a:pt x="7414722" y="4339019"/>
                  </a:cubicBezTo>
                  <a:lnTo>
                    <a:pt x="7414722" y="4201423"/>
                  </a:lnTo>
                  <a:cubicBezTo>
                    <a:pt x="7414722" y="4192980"/>
                    <a:pt x="7409366" y="4186141"/>
                    <a:pt x="7402821" y="4186141"/>
                  </a:cubicBezTo>
                  <a:close/>
                  <a:moveTo>
                    <a:pt x="666492" y="154602"/>
                  </a:moveTo>
                  <a:cubicBezTo>
                    <a:pt x="666492" y="115178"/>
                    <a:pt x="698448" y="83247"/>
                    <a:pt x="737902" y="83247"/>
                  </a:cubicBezTo>
                  <a:lnTo>
                    <a:pt x="3362214" y="83247"/>
                  </a:lnTo>
                  <a:cubicBezTo>
                    <a:pt x="3375365" y="83247"/>
                    <a:pt x="3386017" y="93891"/>
                    <a:pt x="3386017" y="107032"/>
                  </a:cubicBezTo>
                  <a:lnTo>
                    <a:pt x="3386017" y="166494"/>
                  </a:lnTo>
                  <a:cubicBezTo>
                    <a:pt x="3386017" y="179635"/>
                    <a:pt x="3396669" y="190279"/>
                    <a:pt x="3409820" y="190279"/>
                  </a:cubicBezTo>
                  <a:lnTo>
                    <a:pt x="4004902" y="190279"/>
                  </a:lnTo>
                  <a:cubicBezTo>
                    <a:pt x="4018054" y="190279"/>
                    <a:pt x="4028705" y="179635"/>
                    <a:pt x="4028705" y="166494"/>
                  </a:cubicBezTo>
                  <a:lnTo>
                    <a:pt x="4028705" y="107032"/>
                  </a:lnTo>
                  <a:cubicBezTo>
                    <a:pt x="4028705" y="93891"/>
                    <a:pt x="4039357" y="83247"/>
                    <a:pt x="4052509" y="83247"/>
                  </a:cubicBezTo>
                  <a:lnTo>
                    <a:pt x="6676821" y="83247"/>
                  </a:lnTo>
                  <a:cubicBezTo>
                    <a:pt x="6716275" y="83247"/>
                    <a:pt x="6748230" y="115178"/>
                    <a:pt x="6748230" y="154602"/>
                  </a:cubicBezTo>
                  <a:lnTo>
                    <a:pt x="6748230" y="4031540"/>
                  </a:lnTo>
                  <a:lnTo>
                    <a:pt x="666492" y="4031540"/>
                  </a:lnTo>
                  <a:lnTo>
                    <a:pt x="666492" y="154602"/>
                  </a:lnTo>
                  <a:close/>
                </a:path>
              </a:pathLst>
            </a:custGeom>
            <a:solidFill>
              <a:srgbClr val="F4F4F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6" name="Google Shape;136;p24"/>
            <p:cNvSpPr/>
            <p:nvPr/>
          </p:nvSpPr>
          <p:spPr>
            <a:xfrm>
              <a:off x="2192999" y="5412068"/>
              <a:ext cx="1130655" cy="71354"/>
            </a:xfrm>
            <a:custGeom>
              <a:avLst/>
              <a:gdLst/>
              <a:ahLst/>
              <a:cxnLst/>
              <a:rect l="l" t="t" r="r" b="b"/>
              <a:pathLst>
                <a:path w="1130655" h="71354" extrusionOk="0">
                  <a:moveTo>
                    <a:pt x="0" y="0"/>
                  </a:moveTo>
                  <a:lnTo>
                    <a:pt x="1130656" y="0"/>
                  </a:lnTo>
                  <a:cubicBezTo>
                    <a:pt x="1130656" y="39423"/>
                    <a:pt x="1098700" y="71355"/>
                    <a:pt x="1059246" y="71355"/>
                  </a:cubicBezTo>
                  <a:lnTo>
                    <a:pt x="71410" y="71355"/>
                  </a:lnTo>
                  <a:cubicBezTo>
                    <a:pt x="31956" y="71355"/>
                    <a:pt x="0" y="39423"/>
                    <a:pt x="0" y="0"/>
                  </a:cubicBez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37" name="Google Shape;137;p24"/>
          <p:cNvSpPr>
            <a:spLocks noGrp="1"/>
          </p:cNvSpPr>
          <p:nvPr>
            <p:ph type="pic" idx="2"/>
          </p:nvPr>
        </p:nvSpPr>
        <p:spPr>
          <a:xfrm>
            <a:off x="6415160" y="1237819"/>
            <a:ext cx="6081738" cy="394829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dia Content 2 (Dark)">
  <p:cSld name="Media Content 2 (Dark)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1D1C2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40" name="Google Shape;140;p25"/>
          <p:cNvSpPr txBox="1">
            <a:spLocks noGrp="1"/>
          </p:cNvSpPr>
          <p:nvPr>
            <p:ph type="ctrTitle"/>
          </p:nvPr>
        </p:nvSpPr>
        <p:spPr>
          <a:xfrm>
            <a:off x="1044495" y="1867737"/>
            <a:ext cx="4370153" cy="304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"/>
              <a:buNone/>
              <a:defRPr sz="2400" b="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5"/>
          <p:cNvSpPr txBox="1">
            <a:spLocks noGrp="1"/>
          </p:cNvSpPr>
          <p:nvPr>
            <p:ph type="body" idx="1"/>
          </p:nvPr>
        </p:nvSpPr>
        <p:spPr>
          <a:xfrm>
            <a:off x="1039427" y="2504533"/>
            <a:ext cx="4374775" cy="2681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grpSp>
        <p:nvGrpSpPr>
          <p:cNvPr id="142" name="Google Shape;142;p25"/>
          <p:cNvGrpSpPr/>
          <p:nvPr/>
        </p:nvGrpSpPr>
        <p:grpSpPr>
          <a:xfrm>
            <a:off x="5748668" y="1154570"/>
            <a:ext cx="7414722" cy="4548860"/>
            <a:chOff x="-949034" y="1154572"/>
            <a:chExt cx="7414722" cy="4548860"/>
          </a:xfrm>
        </p:grpSpPr>
        <p:sp>
          <p:nvSpPr>
            <p:cNvPr id="143" name="Google Shape;143;p25"/>
            <p:cNvSpPr/>
            <p:nvPr/>
          </p:nvSpPr>
          <p:spPr>
            <a:xfrm>
              <a:off x="5680179" y="5620185"/>
              <a:ext cx="452262" cy="83247"/>
            </a:xfrm>
            <a:custGeom>
              <a:avLst/>
              <a:gdLst/>
              <a:ahLst/>
              <a:cxnLst/>
              <a:rect l="l" t="t" r="r" b="b"/>
              <a:pathLst>
                <a:path w="452262" h="83247" extrusionOk="0">
                  <a:moveTo>
                    <a:pt x="0" y="0"/>
                  </a:moveTo>
                  <a:lnTo>
                    <a:pt x="452262" y="0"/>
                  </a:lnTo>
                  <a:lnTo>
                    <a:pt x="452262" y="35677"/>
                  </a:lnTo>
                  <a:cubicBezTo>
                    <a:pt x="452262" y="61960"/>
                    <a:pt x="430959" y="83247"/>
                    <a:pt x="404656" y="83247"/>
                  </a:cubicBezTo>
                  <a:lnTo>
                    <a:pt x="47607" y="83247"/>
                  </a:lnTo>
                  <a:cubicBezTo>
                    <a:pt x="21304" y="83247"/>
                    <a:pt x="0" y="61960"/>
                    <a:pt x="0" y="3567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9CB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44" name="Google Shape;144;p25"/>
            <p:cNvSpPr/>
            <p:nvPr/>
          </p:nvSpPr>
          <p:spPr>
            <a:xfrm>
              <a:off x="-615788" y="5620185"/>
              <a:ext cx="452262" cy="83247"/>
            </a:xfrm>
            <a:custGeom>
              <a:avLst/>
              <a:gdLst/>
              <a:ahLst/>
              <a:cxnLst/>
              <a:rect l="l" t="t" r="r" b="b"/>
              <a:pathLst>
                <a:path w="452262" h="83247" extrusionOk="0">
                  <a:moveTo>
                    <a:pt x="0" y="0"/>
                  </a:moveTo>
                  <a:lnTo>
                    <a:pt x="452262" y="0"/>
                  </a:lnTo>
                  <a:lnTo>
                    <a:pt x="452262" y="35677"/>
                  </a:lnTo>
                  <a:cubicBezTo>
                    <a:pt x="452262" y="61960"/>
                    <a:pt x="430958" y="83247"/>
                    <a:pt x="404656" y="83247"/>
                  </a:cubicBezTo>
                  <a:lnTo>
                    <a:pt x="47607" y="83247"/>
                  </a:lnTo>
                  <a:cubicBezTo>
                    <a:pt x="21304" y="83247"/>
                    <a:pt x="0" y="61960"/>
                    <a:pt x="0" y="3567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9CB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45" name="Google Shape;145;p25"/>
            <p:cNvSpPr/>
            <p:nvPr/>
          </p:nvSpPr>
          <p:spPr>
            <a:xfrm>
              <a:off x="-949034" y="1154572"/>
              <a:ext cx="7414722" cy="4507237"/>
            </a:xfrm>
            <a:custGeom>
              <a:avLst/>
              <a:gdLst/>
              <a:ahLst/>
              <a:cxnLst/>
              <a:rect l="l" t="t" r="r" b="b"/>
              <a:pathLst>
                <a:path w="7414722" h="4507237" extrusionOk="0">
                  <a:moveTo>
                    <a:pt x="7402821" y="4186141"/>
                  </a:moveTo>
                  <a:lnTo>
                    <a:pt x="6831542" y="4186141"/>
                  </a:lnTo>
                  <a:lnTo>
                    <a:pt x="6831542" y="4114787"/>
                  </a:lnTo>
                  <a:lnTo>
                    <a:pt x="6831542" y="4114787"/>
                  </a:lnTo>
                  <a:lnTo>
                    <a:pt x="6831542" y="142709"/>
                  </a:lnTo>
                  <a:cubicBezTo>
                    <a:pt x="6831542" y="63922"/>
                    <a:pt x="6767571" y="0"/>
                    <a:pt x="6688722" y="0"/>
                  </a:cubicBezTo>
                  <a:lnTo>
                    <a:pt x="726000" y="0"/>
                  </a:lnTo>
                  <a:cubicBezTo>
                    <a:pt x="647152" y="0"/>
                    <a:pt x="583180" y="63922"/>
                    <a:pt x="583180" y="142709"/>
                  </a:cubicBezTo>
                  <a:lnTo>
                    <a:pt x="583180" y="4186141"/>
                  </a:lnTo>
                  <a:lnTo>
                    <a:pt x="11902" y="4186141"/>
                  </a:lnTo>
                  <a:cubicBezTo>
                    <a:pt x="5356" y="4186141"/>
                    <a:pt x="0" y="4192980"/>
                    <a:pt x="0" y="4201423"/>
                  </a:cubicBezTo>
                  <a:lnTo>
                    <a:pt x="0" y="4339019"/>
                  </a:lnTo>
                  <a:cubicBezTo>
                    <a:pt x="0" y="4431899"/>
                    <a:pt x="58616" y="4507238"/>
                    <a:pt x="130918" y="4507238"/>
                  </a:cubicBezTo>
                  <a:lnTo>
                    <a:pt x="7283804" y="4507238"/>
                  </a:lnTo>
                  <a:cubicBezTo>
                    <a:pt x="7356107" y="4507238"/>
                    <a:pt x="7414722" y="4431959"/>
                    <a:pt x="7414722" y="4339019"/>
                  </a:cubicBezTo>
                  <a:lnTo>
                    <a:pt x="7414722" y="4201423"/>
                  </a:lnTo>
                  <a:cubicBezTo>
                    <a:pt x="7414722" y="4192980"/>
                    <a:pt x="7409366" y="4186141"/>
                    <a:pt x="7402821" y="4186141"/>
                  </a:cubicBezTo>
                  <a:close/>
                  <a:moveTo>
                    <a:pt x="666492" y="154602"/>
                  </a:moveTo>
                  <a:cubicBezTo>
                    <a:pt x="666492" y="115178"/>
                    <a:pt x="698448" y="83247"/>
                    <a:pt x="737902" y="83247"/>
                  </a:cubicBezTo>
                  <a:lnTo>
                    <a:pt x="3362214" y="83247"/>
                  </a:lnTo>
                  <a:cubicBezTo>
                    <a:pt x="3375365" y="83247"/>
                    <a:pt x="3386017" y="93891"/>
                    <a:pt x="3386017" y="107032"/>
                  </a:cubicBezTo>
                  <a:lnTo>
                    <a:pt x="3386017" y="166494"/>
                  </a:lnTo>
                  <a:cubicBezTo>
                    <a:pt x="3386017" y="179635"/>
                    <a:pt x="3396669" y="190279"/>
                    <a:pt x="3409820" y="190279"/>
                  </a:cubicBezTo>
                  <a:lnTo>
                    <a:pt x="4004902" y="190279"/>
                  </a:lnTo>
                  <a:cubicBezTo>
                    <a:pt x="4018054" y="190279"/>
                    <a:pt x="4028705" y="179635"/>
                    <a:pt x="4028705" y="166494"/>
                  </a:cubicBezTo>
                  <a:lnTo>
                    <a:pt x="4028705" y="107032"/>
                  </a:lnTo>
                  <a:cubicBezTo>
                    <a:pt x="4028705" y="93891"/>
                    <a:pt x="4039357" y="83247"/>
                    <a:pt x="4052509" y="83247"/>
                  </a:cubicBezTo>
                  <a:lnTo>
                    <a:pt x="6676821" y="83247"/>
                  </a:lnTo>
                  <a:cubicBezTo>
                    <a:pt x="6716275" y="83247"/>
                    <a:pt x="6748230" y="115178"/>
                    <a:pt x="6748230" y="154602"/>
                  </a:cubicBezTo>
                  <a:lnTo>
                    <a:pt x="6748230" y="4031540"/>
                  </a:lnTo>
                  <a:lnTo>
                    <a:pt x="666492" y="4031540"/>
                  </a:lnTo>
                  <a:lnTo>
                    <a:pt x="666492" y="154602"/>
                  </a:lnTo>
                  <a:close/>
                </a:path>
              </a:pathLst>
            </a:custGeom>
            <a:solidFill>
              <a:srgbClr val="F4F4F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46" name="Google Shape;146;p25"/>
            <p:cNvSpPr/>
            <p:nvPr/>
          </p:nvSpPr>
          <p:spPr>
            <a:xfrm>
              <a:off x="2192999" y="5412068"/>
              <a:ext cx="1130655" cy="71354"/>
            </a:xfrm>
            <a:custGeom>
              <a:avLst/>
              <a:gdLst/>
              <a:ahLst/>
              <a:cxnLst/>
              <a:rect l="l" t="t" r="r" b="b"/>
              <a:pathLst>
                <a:path w="1130655" h="71354" extrusionOk="0">
                  <a:moveTo>
                    <a:pt x="0" y="0"/>
                  </a:moveTo>
                  <a:lnTo>
                    <a:pt x="1130656" y="0"/>
                  </a:lnTo>
                  <a:cubicBezTo>
                    <a:pt x="1130656" y="39423"/>
                    <a:pt x="1098700" y="71355"/>
                    <a:pt x="1059246" y="71355"/>
                  </a:cubicBezTo>
                  <a:lnTo>
                    <a:pt x="71410" y="71355"/>
                  </a:lnTo>
                  <a:cubicBezTo>
                    <a:pt x="31956" y="71355"/>
                    <a:pt x="0" y="39423"/>
                    <a:pt x="0" y="0"/>
                  </a:cubicBez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47" name="Google Shape;147;p25"/>
          <p:cNvSpPr>
            <a:spLocks noGrp="1"/>
          </p:cNvSpPr>
          <p:nvPr>
            <p:ph type="pic" idx="2"/>
          </p:nvPr>
        </p:nvSpPr>
        <p:spPr>
          <a:xfrm>
            <a:off x="6415160" y="1237819"/>
            <a:ext cx="6081738" cy="394829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>
            <a:spLocks noGrp="1"/>
          </p:cNvSpPr>
          <p:nvPr>
            <p:ph type="title"/>
          </p:nvPr>
        </p:nvSpPr>
        <p:spPr>
          <a:xfrm>
            <a:off x="609633" y="546100"/>
            <a:ext cx="10972800" cy="428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400"/>
              <a:buNone/>
              <a:defRPr sz="3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Master Diagram (Bright) 2">
  <p:cSld name="Master Diagram (Bright)_2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E2B2E"/>
              </a:gs>
              <a:gs pos="100000">
                <a:srgbClr val="1F433F"/>
              </a:gs>
            </a:gsLst>
            <a:lin ang="5400012" scaled="0"/>
          </a:gra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</p:txBody>
      </p:sp>
      <p:pic>
        <p:nvPicPr>
          <p:cNvPr id="152" name="Google Shape;152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67555" y="1495620"/>
            <a:ext cx="11050496" cy="6857998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7"/>
          <p:cNvSpPr txBox="1">
            <a:spLocks noGrp="1"/>
          </p:cNvSpPr>
          <p:nvPr>
            <p:ph type="ctrTitle"/>
          </p:nvPr>
        </p:nvSpPr>
        <p:spPr>
          <a:xfrm>
            <a:off x="513733" y="1225000"/>
            <a:ext cx="5459700" cy="21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ECB4"/>
              </a:buClr>
              <a:buSzPts val="4800"/>
              <a:buNone/>
              <a:defRPr sz="4800" b="1">
                <a:solidFill>
                  <a:srgbClr val="01ECB4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7"/>
          <p:cNvSpPr txBox="1">
            <a:spLocks noGrp="1"/>
          </p:cNvSpPr>
          <p:nvPr>
            <p:ph type="body" idx="1"/>
          </p:nvPr>
        </p:nvSpPr>
        <p:spPr>
          <a:xfrm>
            <a:off x="513733" y="3444000"/>
            <a:ext cx="3316800" cy="2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  <a:defRPr sz="13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None/>
              <a:defRPr sz="1500">
                <a:solidFill>
                  <a:srgbClr val="FFFFFF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9pPr>
          </a:lstStyle>
          <a:p>
            <a:endParaRPr/>
          </a:p>
        </p:txBody>
      </p:sp>
      <p:pic>
        <p:nvPicPr>
          <p:cNvPr id="155" name="Google Shape;15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5586" y="1495624"/>
            <a:ext cx="5236733" cy="3056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600" y="6421700"/>
            <a:ext cx="936533" cy="178967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7"/>
          <p:cNvSpPr txBox="1"/>
          <p:nvPr/>
        </p:nvSpPr>
        <p:spPr>
          <a:xfrm>
            <a:off x="7814500" y="6363567"/>
            <a:ext cx="2626500" cy="3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FFFF"/>
                </a:solidFill>
              </a:rPr>
              <a:t>@2024 IriusRisk. All Rights Reserved</a:t>
            </a:r>
            <a:endParaRPr sz="900">
              <a:solidFill>
                <a:srgbClr val="FFFFFF"/>
              </a:solidFill>
            </a:endParaRPr>
          </a:p>
        </p:txBody>
      </p:sp>
      <p:sp>
        <p:nvSpPr>
          <p:cNvPr id="158" name="Google Shape;158;p27"/>
          <p:cNvSpPr>
            <a:spLocks noGrp="1"/>
          </p:cNvSpPr>
          <p:nvPr>
            <p:ph type="pic" idx="2"/>
          </p:nvPr>
        </p:nvSpPr>
        <p:spPr>
          <a:xfrm>
            <a:off x="6815933" y="1790833"/>
            <a:ext cx="4376100" cy="2567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265">
          <p15:clr>
            <a:srgbClr val="E46962"/>
          </p15:clr>
        </p15:guide>
        <p15:guide id="2" pos="384">
          <p15:clr>
            <a:srgbClr val="E46962"/>
          </p15:clr>
        </p15:guide>
        <p15:guide id="3" pos="2784">
          <p15:clr>
            <a:srgbClr val="E46962"/>
          </p15:clr>
        </p15:guide>
        <p15:guide id="4" pos="4224">
          <p15:clr>
            <a:srgbClr val="E46962"/>
          </p15:clr>
        </p15:guide>
        <p15:guide id="5" orient="horz" pos="2160">
          <p15:clr>
            <a:srgbClr val="E46962"/>
          </p15:clr>
        </p15:guide>
        <p15:guide id="6" orient="horz" pos="672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1 (Bright) 2">
  <p:cSld name="TITLE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30" title="Bg-Pattern.png"/>
          <p:cNvPicPr preferRelativeResize="0"/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 rot="6317238">
            <a:off x="-3669027" y="-9870267"/>
            <a:ext cx="28354104" cy="2107173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30"/>
          <p:cNvSpPr txBox="1">
            <a:spLocks noGrp="1"/>
          </p:cNvSpPr>
          <p:nvPr>
            <p:ph type="ctrTitle"/>
          </p:nvPr>
        </p:nvSpPr>
        <p:spPr>
          <a:xfrm>
            <a:off x="910250" y="2240266"/>
            <a:ext cx="57912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4800"/>
              <a:buFont typeface="Overpass"/>
              <a:buNone/>
              <a:defRPr sz="4800" b="1">
                <a:solidFill>
                  <a:srgbClr val="08F4D6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9pPr>
          </a:lstStyle>
          <a:p>
            <a:endParaRPr/>
          </a:p>
        </p:txBody>
      </p:sp>
      <p:sp>
        <p:nvSpPr>
          <p:cNvPr id="178" name="Google Shape;178;p30"/>
          <p:cNvSpPr txBox="1">
            <a:spLocks noGrp="1"/>
          </p:cNvSpPr>
          <p:nvPr>
            <p:ph type="subTitle" idx="1"/>
          </p:nvPr>
        </p:nvSpPr>
        <p:spPr>
          <a:xfrm>
            <a:off x="910250" y="4026175"/>
            <a:ext cx="54444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20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79" name="Google Shape;179;p30" title="TMC2026-PIR-Teal-Whit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69701" y="448539"/>
            <a:ext cx="2076600" cy="683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10877" y="6116026"/>
            <a:ext cx="2335425" cy="3036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1 (Bright) 1">
  <p:cSld name="TITLE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31" title="Bg-Pattern.png"/>
          <p:cNvPicPr preferRelativeResize="0"/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 rot="6317238">
            <a:off x="-3669027" y="-9870267"/>
            <a:ext cx="28354104" cy="2107173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31"/>
          <p:cNvSpPr txBox="1">
            <a:spLocks noGrp="1"/>
          </p:cNvSpPr>
          <p:nvPr>
            <p:ph type="ctrTitle"/>
          </p:nvPr>
        </p:nvSpPr>
        <p:spPr>
          <a:xfrm>
            <a:off x="910250" y="1909234"/>
            <a:ext cx="44487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4800"/>
              <a:buFont typeface="Overpass"/>
              <a:buNone/>
              <a:defRPr sz="4800" b="1">
                <a:solidFill>
                  <a:srgbClr val="08F4D6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9pPr>
          </a:lstStyle>
          <a:p>
            <a:endParaRPr/>
          </a:p>
        </p:txBody>
      </p:sp>
      <p:sp>
        <p:nvSpPr>
          <p:cNvPr id="184" name="Google Shape;184;p31"/>
          <p:cNvSpPr txBox="1">
            <a:spLocks noGrp="1"/>
          </p:cNvSpPr>
          <p:nvPr>
            <p:ph type="subTitle" idx="1"/>
          </p:nvPr>
        </p:nvSpPr>
        <p:spPr>
          <a:xfrm>
            <a:off x="984200" y="4097600"/>
            <a:ext cx="40824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20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85" name="Google Shape;18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18063" y="1569249"/>
            <a:ext cx="6372315" cy="3719499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1"/>
          <p:cNvSpPr>
            <a:spLocks noGrp="1"/>
          </p:cNvSpPr>
          <p:nvPr>
            <p:ph type="pic" idx="2"/>
          </p:nvPr>
        </p:nvSpPr>
        <p:spPr>
          <a:xfrm>
            <a:off x="6064700" y="1933223"/>
            <a:ext cx="5326200" cy="3109500"/>
          </a:xfrm>
          <a:prstGeom prst="rect">
            <a:avLst/>
          </a:prstGeom>
          <a:noFill/>
          <a:ln>
            <a:noFill/>
          </a:ln>
        </p:spPr>
      </p:sp>
      <p:pic>
        <p:nvPicPr>
          <p:cNvPr id="187" name="Google Shape;187;p31" title="TMC2026-PIR-Teal-Whit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69701" y="448539"/>
            <a:ext cx="2076600" cy="683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10877" y="6116026"/>
            <a:ext cx="2335425" cy="3036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1 (Bright) 1 1">
  <p:cSld name="TITLE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2"/>
          <p:cNvSpPr txBox="1">
            <a:spLocks noGrp="1"/>
          </p:cNvSpPr>
          <p:nvPr>
            <p:ph type="ctrTitle"/>
          </p:nvPr>
        </p:nvSpPr>
        <p:spPr>
          <a:xfrm>
            <a:off x="910250" y="1909234"/>
            <a:ext cx="44487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4800"/>
              <a:buFont typeface="Overpass"/>
              <a:buNone/>
              <a:defRPr sz="4800" b="1">
                <a:solidFill>
                  <a:srgbClr val="08F4D6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9pPr>
          </a:lstStyle>
          <a:p>
            <a:endParaRPr/>
          </a:p>
        </p:txBody>
      </p:sp>
      <p:sp>
        <p:nvSpPr>
          <p:cNvPr id="191" name="Google Shape;191;p32"/>
          <p:cNvSpPr txBox="1">
            <a:spLocks noGrp="1"/>
          </p:cNvSpPr>
          <p:nvPr>
            <p:ph type="subTitle" idx="1"/>
          </p:nvPr>
        </p:nvSpPr>
        <p:spPr>
          <a:xfrm>
            <a:off x="910250" y="4393445"/>
            <a:ext cx="85647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20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92" name="Google Shape;192;p32" title="Bg-Pattern.png"/>
          <p:cNvPicPr preferRelativeResize="0"/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 rot="6317238">
            <a:off x="-3669027" y="-9870267"/>
            <a:ext cx="28354104" cy="2107173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2"/>
          <p:cNvSpPr>
            <a:spLocks noGrp="1"/>
          </p:cNvSpPr>
          <p:nvPr>
            <p:ph type="pic" idx="2"/>
          </p:nvPr>
        </p:nvSpPr>
        <p:spPr>
          <a:xfrm>
            <a:off x="7506225" y="1408950"/>
            <a:ext cx="4040100" cy="4040100"/>
          </a:xfrm>
          <a:prstGeom prst="roundRect">
            <a:avLst>
              <a:gd name="adj" fmla="val 4749"/>
            </a:avLst>
          </a:prstGeom>
          <a:noFill/>
          <a:ln w="9525" cap="flat" cmpd="sng">
            <a:solidFill>
              <a:srgbClr val="08F4D6"/>
            </a:solidFill>
            <a:prstDash val="solid"/>
            <a:round/>
            <a:headEnd type="none" w="sm" len="sm"/>
            <a:tailEnd type="none" w="sm" len="sm"/>
          </a:ln>
          <a:effectLst>
            <a:outerShdw dist="238125" dir="2760000" algn="bl" rotWithShape="0">
              <a:srgbClr val="08F4D6"/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4" name="Google Shape;194;p32" title="TMC2026-PIR-Teal-Whit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69701" y="448539"/>
            <a:ext cx="2076600" cy="683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10877" y="6116026"/>
            <a:ext cx="2335425" cy="3036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1 (Bright) 1 1 1">
  <p:cSld name="TITLE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3"/>
          <p:cNvSpPr txBox="1">
            <a:spLocks noGrp="1"/>
          </p:cNvSpPr>
          <p:nvPr>
            <p:ph type="ctrTitle"/>
          </p:nvPr>
        </p:nvSpPr>
        <p:spPr>
          <a:xfrm>
            <a:off x="910250" y="1909234"/>
            <a:ext cx="44487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4800"/>
              <a:buFont typeface="Overpass"/>
              <a:buNone/>
              <a:defRPr sz="4800" b="1">
                <a:solidFill>
                  <a:srgbClr val="08F4D6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9pPr>
          </a:lstStyle>
          <a:p>
            <a:endParaRPr/>
          </a:p>
        </p:txBody>
      </p:sp>
      <p:sp>
        <p:nvSpPr>
          <p:cNvPr id="198" name="Google Shape;198;p33"/>
          <p:cNvSpPr txBox="1">
            <a:spLocks noGrp="1"/>
          </p:cNvSpPr>
          <p:nvPr>
            <p:ph type="subTitle" idx="1"/>
          </p:nvPr>
        </p:nvSpPr>
        <p:spPr>
          <a:xfrm>
            <a:off x="910250" y="4393445"/>
            <a:ext cx="85647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20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99" name="Google Shape;199;p33" title="Bg-Pattern.png"/>
          <p:cNvPicPr preferRelativeResize="0"/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 rot="6317238">
            <a:off x="-3669027" y="-9870267"/>
            <a:ext cx="28354104" cy="2107173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33"/>
          <p:cNvSpPr>
            <a:spLocks noGrp="1"/>
          </p:cNvSpPr>
          <p:nvPr>
            <p:ph type="pic" idx="2"/>
          </p:nvPr>
        </p:nvSpPr>
        <p:spPr>
          <a:xfrm>
            <a:off x="6449638" y="1408950"/>
            <a:ext cx="5100900" cy="4040100"/>
          </a:xfrm>
          <a:prstGeom prst="roundRect">
            <a:avLst>
              <a:gd name="adj" fmla="val 4620"/>
            </a:avLst>
          </a:prstGeom>
          <a:noFill/>
          <a:ln w="9525" cap="flat" cmpd="sng">
            <a:solidFill>
              <a:srgbClr val="08F4D6"/>
            </a:solidFill>
            <a:prstDash val="solid"/>
            <a:round/>
            <a:headEnd type="none" w="sm" len="sm"/>
            <a:tailEnd type="none" w="sm" len="sm"/>
          </a:ln>
          <a:effectLst>
            <a:outerShdw dist="238125" dir="2760000" algn="bl" rotWithShape="0">
              <a:srgbClr val="08F4D6"/>
            </a:outerShdw>
          </a:effectLst>
        </p:spPr>
      </p:sp>
      <p:pic>
        <p:nvPicPr>
          <p:cNvPr id="201" name="Google Shape;201;p33" title="TMC2026-PIR-Teal-Whit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69701" y="448539"/>
            <a:ext cx="2076600" cy="683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10877" y="6116026"/>
            <a:ext cx="2335425" cy="3036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1 (Dark)">
  <p:cSld name="Content 1 (Dark)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1D1C2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211" name="Google Shape;211;p35" title="TMC-SlideBG-Dar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5" title="Bg-Pattern.png"/>
          <p:cNvPicPr preferRelativeResize="0"/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 rot="6317238">
            <a:off x="-3669027" y="-9870267"/>
            <a:ext cx="28354104" cy="2107173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5"/>
          <p:cNvSpPr txBox="1">
            <a:spLocks noGrp="1"/>
          </p:cNvSpPr>
          <p:nvPr>
            <p:ph type="ctrTitle"/>
          </p:nvPr>
        </p:nvSpPr>
        <p:spPr>
          <a:xfrm>
            <a:off x="1059251" y="1543000"/>
            <a:ext cx="84105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4000"/>
              <a:buNone/>
              <a:defRPr sz="4000" b="1">
                <a:solidFill>
                  <a:srgbClr val="08F4D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35"/>
          <p:cNvSpPr txBox="1">
            <a:spLocks noGrp="1"/>
          </p:cNvSpPr>
          <p:nvPr>
            <p:ph type="body" idx="1"/>
          </p:nvPr>
        </p:nvSpPr>
        <p:spPr>
          <a:xfrm>
            <a:off x="1059250" y="2424550"/>
            <a:ext cx="9045300" cy="3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None/>
              <a:defRPr sz="1500" i="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None/>
              <a:defRPr sz="1500">
                <a:solidFill>
                  <a:srgbClr val="FFFFFF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None/>
              <a:defRPr sz="1500">
                <a:solidFill>
                  <a:srgbClr val="FFFFFF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None/>
              <a:defRPr sz="1500">
                <a:solidFill>
                  <a:srgbClr val="FFFFFF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None/>
              <a:defRPr sz="1500">
                <a:solidFill>
                  <a:srgbClr val="FFFFFF"/>
                </a:solidFill>
              </a:defRPr>
            </a:lvl5pPr>
            <a:lvl6pPr marL="2743200" lvl="5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Char char="•"/>
              <a:defRPr sz="15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marL="3200400" lvl="6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Char char="•"/>
              <a:defRPr sz="15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marL="3657600" lvl="7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Char char="•"/>
              <a:defRPr sz="15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marL="4114800" lvl="8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Char char="•"/>
              <a:defRPr sz="15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endParaRPr/>
          </a:p>
        </p:txBody>
      </p:sp>
      <p:pic>
        <p:nvPicPr>
          <p:cNvPr id="215" name="Google Shape;215;p35" title="TMC2026-PIR-Teal-Whit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69701" y="448539"/>
            <a:ext cx="2076600" cy="683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10877" y="6116026"/>
            <a:ext cx="2335425" cy="3036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+ Subtitle - Low (Dark)">
  <p:cSld name="Blank + Subtitle - Low (Dark)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1C2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235" name="Google Shape;235;p38" title="TMC-SlideBG-Dark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8" title="Bg-Pattern.png"/>
          <p:cNvPicPr preferRelativeResize="0"/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 rot="6317238">
            <a:off x="-3669027" y="-9870267"/>
            <a:ext cx="28354104" cy="2107173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8"/>
          <p:cNvSpPr txBox="1">
            <a:spLocks noGrp="1"/>
          </p:cNvSpPr>
          <p:nvPr>
            <p:ph type="ctrTitle"/>
          </p:nvPr>
        </p:nvSpPr>
        <p:spPr>
          <a:xfrm>
            <a:off x="1059251" y="1543000"/>
            <a:ext cx="84105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4000"/>
              <a:buNone/>
              <a:defRPr sz="4000" b="1">
                <a:solidFill>
                  <a:srgbClr val="08F4D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38"/>
          <p:cNvSpPr txBox="1">
            <a:spLocks noGrp="1"/>
          </p:cNvSpPr>
          <p:nvPr>
            <p:ph type="body" idx="1"/>
          </p:nvPr>
        </p:nvSpPr>
        <p:spPr>
          <a:xfrm>
            <a:off x="1059250" y="2424550"/>
            <a:ext cx="9045300" cy="3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None/>
              <a:defRPr sz="1500" i="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None/>
              <a:defRPr sz="1500">
                <a:solidFill>
                  <a:srgbClr val="FFFFFF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None/>
              <a:defRPr sz="1500">
                <a:solidFill>
                  <a:srgbClr val="FFFFFF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None/>
              <a:defRPr sz="1500">
                <a:solidFill>
                  <a:srgbClr val="FFFFFF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None/>
              <a:defRPr sz="1500">
                <a:solidFill>
                  <a:srgbClr val="FFFFFF"/>
                </a:solidFill>
              </a:defRPr>
            </a:lvl5pPr>
            <a:lvl6pPr marL="2743200" lvl="5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Char char="•"/>
              <a:defRPr sz="15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marL="3200400" lvl="6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Char char="•"/>
              <a:defRPr sz="15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marL="3657600" lvl="7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Char char="•"/>
              <a:defRPr sz="15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marL="4114800" lvl="8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Char char="•"/>
              <a:defRPr sz="15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endParaRPr/>
          </a:p>
        </p:txBody>
      </p:sp>
      <p:pic>
        <p:nvPicPr>
          <p:cNvPr id="239" name="Google Shape;239;p38" title="TMC2026-PIR-Teal-Whit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69701" y="448539"/>
            <a:ext cx="2076600" cy="683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10877" y="6116026"/>
            <a:ext cx="2335425" cy="3036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+ Logo (Dark) 1">
  <p:cSld name="Blank + Logo (Dark)_1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1C2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243" name="Google Shape;243;p39" title="TMC-SlideBG-Dark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9" title="TMC-Icon-Mai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4675" y="1396575"/>
            <a:ext cx="3617324" cy="4889923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9"/>
          <p:cNvSpPr txBox="1">
            <a:spLocks noGrp="1"/>
          </p:cNvSpPr>
          <p:nvPr>
            <p:ph type="ctrTitle"/>
          </p:nvPr>
        </p:nvSpPr>
        <p:spPr>
          <a:xfrm>
            <a:off x="1059251" y="1543000"/>
            <a:ext cx="84105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4000"/>
              <a:buNone/>
              <a:defRPr sz="4000" b="1">
                <a:solidFill>
                  <a:srgbClr val="08F4D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39"/>
          <p:cNvSpPr txBox="1">
            <a:spLocks noGrp="1"/>
          </p:cNvSpPr>
          <p:nvPr>
            <p:ph type="body" idx="1"/>
          </p:nvPr>
        </p:nvSpPr>
        <p:spPr>
          <a:xfrm>
            <a:off x="1059250" y="2424550"/>
            <a:ext cx="9045300" cy="3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None/>
              <a:defRPr sz="1500" i="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None/>
              <a:defRPr sz="1500">
                <a:solidFill>
                  <a:srgbClr val="FFFFFF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None/>
              <a:defRPr sz="1500">
                <a:solidFill>
                  <a:srgbClr val="FFFFFF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None/>
              <a:defRPr sz="1500">
                <a:solidFill>
                  <a:srgbClr val="FFFFFF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None/>
              <a:defRPr sz="1500">
                <a:solidFill>
                  <a:srgbClr val="FFFFFF"/>
                </a:solidFill>
              </a:defRPr>
            </a:lvl5pPr>
            <a:lvl6pPr marL="2743200" lvl="5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Char char="•"/>
              <a:defRPr sz="15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marL="3200400" lvl="6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Char char="•"/>
              <a:defRPr sz="15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marL="3657600" lvl="7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Char char="•"/>
              <a:defRPr sz="15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marL="4114800" lvl="8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Char char="•"/>
              <a:defRPr sz="15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endParaRPr/>
          </a:p>
        </p:txBody>
      </p:sp>
      <p:pic>
        <p:nvPicPr>
          <p:cNvPr id="247" name="Google Shape;247;p39" title="TMC2026-PIR-Teal-Whit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69701" y="448539"/>
            <a:ext cx="2076600" cy="683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10877" y="6116026"/>
            <a:ext cx="2335425" cy="3036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Main Title + Logo">
  <p:cSld name="Main Title + Logo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1D1C2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170" name="Google Shape;170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007299" y="-402213"/>
            <a:ext cx="664188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06314" y="242342"/>
            <a:ext cx="7772400" cy="6276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7050" y="1615650"/>
            <a:ext cx="2877910" cy="37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9" title="TMC2026-PIR-Teal-Whit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75850" y="2319350"/>
            <a:ext cx="6240302" cy="20536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894554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1 (Bright) 2">
  <p:cSld name="Title 1 (Bright) 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30" title="Bg-Pattern.png"/>
          <p:cNvPicPr preferRelativeResize="0"/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 rot="6317238">
            <a:off x="-3669027" y="-9870267"/>
            <a:ext cx="28354104" cy="2107173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0"/>
          <p:cNvSpPr txBox="1">
            <a:spLocks noGrp="1"/>
          </p:cNvSpPr>
          <p:nvPr>
            <p:ph type="ctrTitle"/>
          </p:nvPr>
        </p:nvSpPr>
        <p:spPr>
          <a:xfrm>
            <a:off x="910250" y="2240266"/>
            <a:ext cx="57912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4800"/>
              <a:buFont typeface="Overpass"/>
              <a:buNone/>
              <a:defRPr sz="4800" b="1">
                <a:solidFill>
                  <a:srgbClr val="08F4D6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9pPr>
          </a:lstStyle>
          <a:p>
            <a:endParaRPr/>
          </a:p>
        </p:txBody>
      </p:sp>
      <p:sp>
        <p:nvSpPr>
          <p:cNvPr id="177" name="Google Shape;177;p30"/>
          <p:cNvSpPr txBox="1">
            <a:spLocks noGrp="1"/>
          </p:cNvSpPr>
          <p:nvPr>
            <p:ph type="subTitle" idx="1"/>
          </p:nvPr>
        </p:nvSpPr>
        <p:spPr>
          <a:xfrm>
            <a:off x="910250" y="4026175"/>
            <a:ext cx="54444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20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78" name="Google Shape;178;p30" title="TMC2026-PIR-Teal-Whit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69701" y="448539"/>
            <a:ext cx="2076600" cy="683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10877" y="6116026"/>
            <a:ext cx="2335425" cy="3036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084589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1 (Bright) 1">
  <p:cSld name="Title 1 (Bright)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1" title="Bg-Pattern.png"/>
          <p:cNvPicPr preferRelativeResize="0"/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 rot="6317238">
            <a:off x="-3669027" y="-9870267"/>
            <a:ext cx="28354104" cy="2107173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31"/>
          <p:cNvSpPr txBox="1">
            <a:spLocks noGrp="1"/>
          </p:cNvSpPr>
          <p:nvPr>
            <p:ph type="ctrTitle"/>
          </p:nvPr>
        </p:nvSpPr>
        <p:spPr>
          <a:xfrm>
            <a:off x="910250" y="1909234"/>
            <a:ext cx="44487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4800"/>
              <a:buFont typeface="Overpass"/>
              <a:buNone/>
              <a:defRPr sz="4800" b="1">
                <a:solidFill>
                  <a:srgbClr val="08F4D6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9pPr>
          </a:lstStyle>
          <a:p>
            <a:endParaRPr/>
          </a:p>
        </p:txBody>
      </p:sp>
      <p:sp>
        <p:nvSpPr>
          <p:cNvPr id="183" name="Google Shape;183;p31"/>
          <p:cNvSpPr txBox="1">
            <a:spLocks noGrp="1"/>
          </p:cNvSpPr>
          <p:nvPr>
            <p:ph type="subTitle" idx="1"/>
          </p:nvPr>
        </p:nvSpPr>
        <p:spPr>
          <a:xfrm>
            <a:off x="984200" y="4097600"/>
            <a:ext cx="40824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20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84" name="Google Shape;18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18063" y="1569249"/>
            <a:ext cx="6372315" cy="3719499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1"/>
          <p:cNvSpPr>
            <a:spLocks noGrp="1"/>
          </p:cNvSpPr>
          <p:nvPr>
            <p:ph type="pic" idx="2"/>
          </p:nvPr>
        </p:nvSpPr>
        <p:spPr>
          <a:xfrm>
            <a:off x="6064700" y="1933223"/>
            <a:ext cx="5326200" cy="3109500"/>
          </a:xfrm>
          <a:prstGeom prst="rect">
            <a:avLst/>
          </a:prstGeom>
          <a:noFill/>
          <a:ln>
            <a:noFill/>
          </a:ln>
        </p:spPr>
      </p:sp>
      <p:pic>
        <p:nvPicPr>
          <p:cNvPr id="186" name="Google Shape;186;p31" title="TMC2026-PIR-Teal-Whit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69701" y="448539"/>
            <a:ext cx="2076600" cy="683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10877" y="6116026"/>
            <a:ext cx="2335425" cy="3036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2138452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1 (Bright) 1 1">
  <p:cSld name="Title 1 (Bright) 1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 txBox="1">
            <a:spLocks noGrp="1"/>
          </p:cNvSpPr>
          <p:nvPr>
            <p:ph type="ctrTitle"/>
          </p:nvPr>
        </p:nvSpPr>
        <p:spPr>
          <a:xfrm>
            <a:off x="910250" y="1909234"/>
            <a:ext cx="44487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4800"/>
              <a:buFont typeface="Overpass"/>
              <a:buNone/>
              <a:defRPr sz="4800" b="1">
                <a:solidFill>
                  <a:srgbClr val="08F4D6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32"/>
          <p:cNvSpPr txBox="1">
            <a:spLocks noGrp="1"/>
          </p:cNvSpPr>
          <p:nvPr>
            <p:ph type="subTitle" idx="1"/>
          </p:nvPr>
        </p:nvSpPr>
        <p:spPr>
          <a:xfrm>
            <a:off x="910250" y="4393445"/>
            <a:ext cx="85647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20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91" name="Google Shape;191;p32" title="Bg-Pattern.png"/>
          <p:cNvPicPr preferRelativeResize="0"/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 rot="6317238">
            <a:off x="-3669027" y="-9870267"/>
            <a:ext cx="28354104" cy="2107173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32"/>
          <p:cNvSpPr>
            <a:spLocks noGrp="1"/>
          </p:cNvSpPr>
          <p:nvPr>
            <p:ph type="pic" idx="2"/>
          </p:nvPr>
        </p:nvSpPr>
        <p:spPr>
          <a:xfrm>
            <a:off x="7506225" y="1408950"/>
            <a:ext cx="4040100" cy="4040100"/>
          </a:xfrm>
          <a:prstGeom prst="roundRect">
            <a:avLst>
              <a:gd name="adj" fmla="val 4749"/>
            </a:avLst>
          </a:prstGeom>
          <a:noFill/>
          <a:ln w="9525" cap="flat" cmpd="sng">
            <a:solidFill>
              <a:srgbClr val="08F4D6"/>
            </a:solidFill>
            <a:prstDash val="solid"/>
            <a:round/>
            <a:headEnd type="none" w="sm" len="sm"/>
            <a:tailEnd type="none" w="sm" len="sm"/>
          </a:ln>
          <a:effectLst>
            <a:outerShdw dist="238125" dir="2760000" algn="bl" rotWithShape="0">
              <a:srgbClr val="08F4D6"/>
            </a:outerShdw>
          </a:effectLst>
        </p:spPr>
      </p:sp>
      <p:pic>
        <p:nvPicPr>
          <p:cNvPr id="193" name="Google Shape;193;p32" title="TMC2026-PIR-Teal-Whit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69701" y="448539"/>
            <a:ext cx="2076600" cy="683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10877" y="6116026"/>
            <a:ext cx="2335425" cy="3036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1245449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1 (Bright) 1 1 1">
  <p:cSld name="Title 1 (Bright) 1 1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3"/>
          <p:cNvSpPr txBox="1">
            <a:spLocks noGrp="1"/>
          </p:cNvSpPr>
          <p:nvPr>
            <p:ph type="ctrTitle"/>
          </p:nvPr>
        </p:nvSpPr>
        <p:spPr>
          <a:xfrm>
            <a:off x="910250" y="1909234"/>
            <a:ext cx="44487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4800"/>
              <a:buFont typeface="Overpass"/>
              <a:buNone/>
              <a:defRPr sz="4800" b="1">
                <a:solidFill>
                  <a:srgbClr val="08F4D6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1400"/>
              <a:buNone/>
              <a:defRPr>
                <a:solidFill>
                  <a:srgbClr val="08F4D6"/>
                </a:solidFill>
              </a:defRPr>
            </a:lvl9pPr>
          </a:lstStyle>
          <a:p>
            <a:endParaRPr/>
          </a:p>
        </p:txBody>
      </p:sp>
      <p:sp>
        <p:nvSpPr>
          <p:cNvPr id="197" name="Google Shape;197;p33"/>
          <p:cNvSpPr txBox="1">
            <a:spLocks noGrp="1"/>
          </p:cNvSpPr>
          <p:nvPr>
            <p:ph type="subTitle" idx="1"/>
          </p:nvPr>
        </p:nvSpPr>
        <p:spPr>
          <a:xfrm>
            <a:off x="910250" y="4393445"/>
            <a:ext cx="85647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20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98" name="Google Shape;198;p33" title="Bg-Pattern.png"/>
          <p:cNvPicPr preferRelativeResize="0"/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 rot="6317238">
            <a:off x="-3669027" y="-9870267"/>
            <a:ext cx="28354104" cy="2107173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3"/>
          <p:cNvSpPr>
            <a:spLocks noGrp="1"/>
          </p:cNvSpPr>
          <p:nvPr>
            <p:ph type="pic" idx="2"/>
          </p:nvPr>
        </p:nvSpPr>
        <p:spPr>
          <a:xfrm>
            <a:off x="6449638" y="1408950"/>
            <a:ext cx="5100900" cy="4040100"/>
          </a:xfrm>
          <a:prstGeom prst="roundRect">
            <a:avLst>
              <a:gd name="adj" fmla="val 4620"/>
            </a:avLst>
          </a:prstGeom>
          <a:noFill/>
          <a:ln w="9525" cap="flat" cmpd="sng">
            <a:solidFill>
              <a:srgbClr val="08F4D6"/>
            </a:solidFill>
            <a:prstDash val="solid"/>
            <a:round/>
            <a:headEnd type="none" w="sm" len="sm"/>
            <a:tailEnd type="none" w="sm" len="sm"/>
          </a:ln>
          <a:effectLst>
            <a:outerShdw dist="238125" dir="2760000" algn="bl" rotWithShape="0">
              <a:srgbClr val="08F4D6"/>
            </a:outerShdw>
          </a:effectLst>
        </p:spPr>
      </p:sp>
      <p:pic>
        <p:nvPicPr>
          <p:cNvPr id="200" name="Google Shape;200;p33" title="TMC2026-PIR-Teal-Whit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69701" y="448539"/>
            <a:ext cx="2076600" cy="683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10877" y="6116026"/>
            <a:ext cx="2335425" cy="3036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880504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1 (Bright)">
  <p:cSld name="Content 1 (Bright)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34" title="Bg-Pattern.png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6317238">
            <a:off x="-3669027" y="-9870267"/>
            <a:ext cx="28354104" cy="2107173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4"/>
          <p:cNvSpPr txBox="1">
            <a:spLocks noGrp="1"/>
          </p:cNvSpPr>
          <p:nvPr>
            <p:ph type="ctrTitle"/>
          </p:nvPr>
        </p:nvSpPr>
        <p:spPr>
          <a:xfrm>
            <a:off x="1059251" y="1543000"/>
            <a:ext cx="84105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34"/>
          <p:cNvSpPr txBox="1">
            <a:spLocks noGrp="1"/>
          </p:cNvSpPr>
          <p:nvPr>
            <p:ph type="body" idx="1"/>
          </p:nvPr>
        </p:nvSpPr>
        <p:spPr>
          <a:xfrm>
            <a:off x="1059250" y="2424550"/>
            <a:ext cx="9045300" cy="3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Overpass"/>
              <a:buNone/>
              <a:defRPr sz="1500" i="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Font typeface="Overpass"/>
              <a:buNone/>
              <a:defRPr sz="15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Font typeface="Overpass"/>
              <a:buNone/>
              <a:defRPr sz="15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Font typeface="Overpass"/>
              <a:buNone/>
              <a:defRPr sz="15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Font typeface="Overpass"/>
              <a:buNone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Font typeface="Overpass"/>
              <a:buChar char="•"/>
              <a:defRPr sz="1500">
                <a:latin typeface="Overpass"/>
                <a:ea typeface="Overpass"/>
                <a:cs typeface="Overpass"/>
                <a:sym typeface="Overpass"/>
              </a:defRPr>
            </a:lvl6pPr>
            <a:lvl7pPr marL="3200400" lvl="6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Font typeface="Overpass"/>
              <a:buChar char="•"/>
              <a:defRPr sz="1500">
                <a:latin typeface="Overpass"/>
                <a:ea typeface="Overpass"/>
                <a:cs typeface="Overpass"/>
                <a:sym typeface="Overpass"/>
              </a:defRPr>
            </a:lvl7pPr>
            <a:lvl8pPr marL="3657600" lvl="7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Font typeface="Overpass"/>
              <a:buChar char="•"/>
              <a:defRPr sz="1500">
                <a:latin typeface="Overpass"/>
                <a:ea typeface="Overpass"/>
                <a:cs typeface="Overpass"/>
                <a:sym typeface="Overpass"/>
              </a:defRPr>
            </a:lvl8pPr>
            <a:lvl9pPr marL="4114800" lvl="8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Font typeface="Overpass"/>
              <a:buChar char="•"/>
              <a:defRPr sz="1500"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endParaRPr/>
          </a:p>
        </p:txBody>
      </p:sp>
      <p:pic>
        <p:nvPicPr>
          <p:cNvPr id="206" name="Google Shape;206;p34" title="TMC2026-PIR-Teal-Dar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69725" y="438234"/>
            <a:ext cx="2076600" cy="68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10877" y="6116026"/>
            <a:ext cx="2335425" cy="3036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83458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7">
          <p15:clr>
            <a:srgbClr val="E46962"/>
          </p15:clr>
        </p15:guide>
        <p15:guide id="2" orient="horz" pos="667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1 (Dark)">
  <p:cSld name="Content 1 (Dark)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5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1D1C2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210" name="Google Shape;210;p35" title="TMC-SlideBG-Dar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5" title="Bg-Pattern.png"/>
          <p:cNvPicPr preferRelativeResize="0"/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 rot="6317238">
            <a:off x="-3669027" y="-9870267"/>
            <a:ext cx="28354104" cy="2107173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5"/>
          <p:cNvSpPr txBox="1">
            <a:spLocks noGrp="1"/>
          </p:cNvSpPr>
          <p:nvPr>
            <p:ph type="ctrTitle"/>
          </p:nvPr>
        </p:nvSpPr>
        <p:spPr>
          <a:xfrm>
            <a:off x="1059251" y="1543000"/>
            <a:ext cx="84105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4000"/>
              <a:buNone/>
              <a:defRPr sz="4000" b="1">
                <a:solidFill>
                  <a:srgbClr val="08F4D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35"/>
          <p:cNvSpPr txBox="1">
            <a:spLocks noGrp="1"/>
          </p:cNvSpPr>
          <p:nvPr>
            <p:ph type="body" idx="1"/>
          </p:nvPr>
        </p:nvSpPr>
        <p:spPr>
          <a:xfrm>
            <a:off x="1059250" y="2424550"/>
            <a:ext cx="9045300" cy="3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None/>
              <a:defRPr sz="1500" i="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None/>
              <a:defRPr sz="1500">
                <a:solidFill>
                  <a:srgbClr val="FFFFFF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None/>
              <a:defRPr sz="1500">
                <a:solidFill>
                  <a:srgbClr val="FFFFFF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None/>
              <a:defRPr sz="1500">
                <a:solidFill>
                  <a:srgbClr val="FFFFFF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None/>
              <a:defRPr sz="1500">
                <a:solidFill>
                  <a:srgbClr val="FFFFFF"/>
                </a:solidFill>
              </a:defRPr>
            </a:lvl5pPr>
            <a:lvl6pPr marL="2743200" lvl="5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Char char="•"/>
              <a:defRPr sz="15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marL="3200400" lvl="6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Char char="•"/>
              <a:defRPr sz="15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marL="3657600" lvl="7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Char char="•"/>
              <a:defRPr sz="15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marL="4114800" lvl="8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Char char="•"/>
              <a:defRPr sz="15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endParaRPr/>
          </a:p>
        </p:txBody>
      </p:sp>
      <p:pic>
        <p:nvPicPr>
          <p:cNvPr id="214" name="Google Shape;214;p35" title="TMC2026-PIR-Teal-Whit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69701" y="448539"/>
            <a:ext cx="2076600" cy="683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10877" y="6116026"/>
            <a:ext cx="2335425" cy="3036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6097732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2 (Bright)">
  <p:cSld name="Content 2 (Bright)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36" title="Bg-Pattern.png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6317238">
            <a:off x="-3669027" y="-9870267"/>
            <a:ext cx="28354104" cy="2107173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6"/>
          <p:cNvSpPr txBox="1">
            <a:spLocks noGrp="1"/>
          </p:cNvSpPr>
          <p:nvPr>
            <p:ph type="ctrTitle"/>
          </p:nvPr>
        </p:nvSpPr>
        <p:spPr>
          <a:xfrm>
            <a:off x="1059251" y="1543000"/>
            <a:ext cx="84105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36"/>
          <p:cNvSpPr txBox="1">
            <a:spLocks noGrp="1"/>
          </p:cNvSpPr>
          <p:nvPr>
            <p:ph type="body" idx="1"/>
          </p:nvPr>
        </p:nvSpPr>
        <p:spPr>
          <a:xfrm>
            <a:off x="1059250" y="2424550"/>
            <a:ext cx="4895400" cy="3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Overpass"/>
              <a:buNone/>
              <a:defRPr sz="1500" i="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Font typeface="Overpass"/>
              <a:buNone/>
              <a:defRPr sz="15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Font typeface="Overpass"/>
              <a:buNone/>
              <a:defRPr sz="15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Font typeface="Overpass"/>
              <a:buNone/>
              <a:defRPr sz="15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Font typeface="Overpass"/>
              <a:buNone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Font typeface="Overpass"/>
              <a:buChar char="•"/>
              <a:defRPr sz="1500">
                <a:latin typeface="Overpass"/>
                <a:ea typeface="Overpass"/>
                <a:cs typeface="Overpass"/>
                <a:sym typeface="Overpass"/>
              </a:defRPr>
            </a:lvl6pPr>
            <a:lvl7pPr marL="3200400" lvl="6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Font typeface="Overpass"/>
              <a:buChar char="•"/>
              <a:defRPr sz="1500">
                <a:latin typeface="Overpass"/>
                <a:ea typeface="Overpass"/>
                <a:cs typeface="Overpass"/>
                <a:sym typeface="Overpass"/>
              </a:defRPr>
            </a:lvl7pPr>
            <a:lvl8pPr marL="3657600" lvl="7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Font typeface="Overpass"/>
              <a:buChar char="•"/>
              <a:defRPr sz="1500">
                <a:latin typeface="Overpass"/>
                <a:ea typeface="Overpass"/>
                <a:cs typeface="Overpass"/>
                <a:sym typeface="Overpass"/>
              </a:defRPr>
            </a:lvl8pPr>
            <a:lvl9pPr marL="4114800" lvl="8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Font typeface="Overpass"/>
              <a:buChar char="•"/>
              <a:defRPr sz="1500"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endParaRPr/>
          </a:p>
        </p:txBody>
      </p:sp>
      <p:sp>
        <p:nvSpPr>
          <p:cNvPr id="220" name="Google Shape;220;p36"/>
          <p:cNvSpPr txBox="1">
            <a:spLocks noGrp="1"/>
          </p:cNvSpPr>
          <p:nvPr>
            <p:ph type="body" idx="2"/>
          </p:nvPr>
        </p:nvSpPr>
        <p:spPr>
          <a:xfrm>
            <a:off x="6111075" y="2424550"/>
            <a:ext cx="4895400" cy="3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Overpass"/>
              <a:buNone/>
              <a:defRPr sz="1500" i="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Font typeface="Overpass"/>
              <a:buNone/>
              <a:defRPr sz="15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Font typeface="Overpass"/>
              <a:buNone/>
              <a:defRPr sz="15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Font typeface="Overpass"/>
              <a:buNone/>
              <a:defRPr sz="15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Font typeface="Overpass"/>
              <a:buNone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Font typeface="Overpass"/>
              <a:buChar char="•"/>
              <a:defRPr sz="1500">
                <a:latin typeface="Overpass"/>
                <a:ea typeface="Overpass"/>
                <a:cs typeface="Overpass"/>
                <a:sym typeface="Overpass"/>
              </a:defRPr>
            </a:lvl6pPr>
            <a:lvl7pPr marL="3200400" lvl="6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Font typeface="Overpass"/>
              <a:buChar char="•"/>
              <a:defRPr sz="1500">
                <a:latin typeface="Overpass"/>
                <a:ea typeface="Overpass"/>
                <a:cs typeface="Overpass"/>
                <a:sym typeface="Overpass"/>
              </a:defRPr>
            </a:lvl7pPr>
            <a:lvl8pPr marL="3657600" lvl="7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Font typeface="Overpass"/>
              <a:buChar char="•"/>
              <a:defRPr sz="1500">
                <a:latin typeface="Overpass"/>
                <a:ea typeface="Overpass"/>
                <a:cs typeface="Overpass"/>
                <a:sym typeface="Overpass"/>
              </a:defRPr>
            </a:lvl8pPr>
            <a:lvl9pPr marL="4114800" lvl="8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Font typeface="Overpass"/>
              <a:buChar char="•"/>
              <a:defRPr sz="1500"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endParaRPr/>
          </a:p>
        </p:txBody>
      </p:sp>
      <p:pic>
        <p:nvPicPr>
          <p:cNvPr id="221" name="Google Shape;221;p36" title="TMC2026-PIR-Teal-Dar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69725" y="438234"/>
            <a:ext cx="2076600" cy="68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10877" y="6116026"/>
            <a:ext cx="2335425" cy="3036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905413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2 (Dark)">
  <p:cSld name="Content 2 (Dark)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1C2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225" name="Google Shape;225;p37" title="TMC-SlideBG-Dark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7" title="Bg-Pattern.png"/>
          <p:cNvPicPr preferRelativeResize="0"/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 rot="6317238">
            <a:off x="-3669027" y="-9870267"/>
            <a:ext cx="28354104" cy="2107173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7"/>
          <p:cNvSpPr txBox="1">
            <a:spLocks noGrp="1"/>
          </p:cNvSpPr>
          <p:nvPr>
            <p:ph type="ctrTitle"/>
          </p:nvPr>
        </p:nvSpPr>
        <p:spPr>
          <a:xfrm>
            <a:off x="1059251" y="1543000"/>
            <a:ext cx="84105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4000"/>
              <a:buNone/>
              <a:defRPr sz="4000" b="1">
                <a:solidFill>
                  <a:srgbClr val="08F4D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37"/>
          <p:cNvSpPr txBox="1">
            <a:spLocks noGrp="1"/>
          </p:cNvSpPr>
          <p:nvPr>
            <p:ph type="body" idx="1"/>
          </p:nvPr>
        </p:nvSpPr>
        <p:spPr>
          <a:xfrm>
            <a:off x="1059250" y="2424550"/>
            <a:ext cx="4882800" cy="3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None/>
              <a:defRPr sz="1500" i="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None/>
              <a:defRPr sz="1500">
                <a:solidFill>
                  <a:srgbClr val="FFFFFF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None/>
              <a:defRPr sz="1500">
                <a:solidFill>
                  <a:srgbClr val="FFFFFF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None/>
              <a:defRPr sz="1500">
                <a:solidFill>
                  <a:srgbClr val="FFFFFF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None/>
              <a:defRPr sz="1500">
                <a:solidFill>
                  <a:srgbClr val="FFFFFF"/>
                </a:solidFill>
              </a:defRPr>
            </a:lvl5pPr>
            <a:lvl6pPr marL="2743200" lvl="5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Char char="•"/>
              <a:defRPr sz="15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marL="3200400" lvl="6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Char char="•"/>
              <a:defRPr sz="15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marL="3657600" lvl="7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Char char="•"/>
              <a:defRPr sz="15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marL="4114800" lvl="8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Char char="•"/>
              <a:defRPr sz="15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endParaRPr/>
          </a:p>
        </p:txBody>
      </p:sp>
      <p:sp>
        <p:nvSpPr>
          <p:cNvPr id="229" name="Google Shape;229;p37"/>
          <p:cNvSpPr txBox="1">
            <a:spLocks noGrp="1"/>
          </p:cNvSpPr>
          <p:nvPr>
            <p:ph type="body" idx="2"/>
          </p:nvPr>
        </p:nvSpPr>
        <p:spPr>
          <a:xfrm>
            <a:off x="6072775" y="2424550"/>
            <a:ext cx="4882800" cy="3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None/>
              <a:defRPr sz="1500" i="0">
                <a:solidFill>
                  <a:srgbClr val="FFFFFF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None/>
              <a:defRPr sz="1500">
                <a:solidFill>
                  <a:srgbClr val="FFFFFF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None/>
              <a:defRPr sz="1500">
                <a:solidFill>
                  <a:srgbClr val="FFFFFF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None/>
              <a:defRPr sz="1500">
                <a:solidFill>
                  <a:srgbClr val="FFFFFF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None/>
              <a:defRPr sz="1500">
                <a:solidFill>
                  <a:srgbClr val="FFFFFF"/>
                </a:solidFill>
              </a:defRPr>
            </a:lvl5pPr>
            <a:lvl6pPr marL="2743200" lvl="5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Char char="•"/>
              <a:defRPr sz="15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marL="3200400" lvl="6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Char char="•"/>
              <a:defRPr sz="15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marL="3657600" lvl="7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Char char="•"/>
              <a:defRPr sz="15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marL="4114800" lvl="8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Char char="•"/>
              <a:defRPr sz="15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endParaRPr/>
          </a:p>
        </p:txBody>
      </p:sp>
      <p:pic>
        <p:nvPicPr>
          <p:cNvPr id="230" name="Google Shape;230;p37" title="TMC2026-PIR-Teal-Whit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69701" y="448539"/>
            <a:ext cx="2076600" cy="683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10877" y="6116026"/>
            <a:ext cx="2335425" cy="3036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3762891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+ Subtitle - Low (Dark)">
  <p:cSld name="Blank + Subtitle - Low (Dark)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1C2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234" name="Google Shape;234;p38" title="TMC-SlideBG-Dark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8" title="Bg-Pattern.png"/>
          <p:cNvPicPr preferRelativeResize="0"/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 rot="6317238">
            <a:off x="-3669027" y="-9870267"/>
            <a:ext cx="28354104" cy="2107173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8"/>
          <p:cNvSpPr txBox="1">
            <a:spLocks noGrp="1"/>
          </p:cNvSpPr>
          <p:nvPr>
            <p:ph type="ctrTitle"/>
          </p:nvPr>
        </p:nvSpPr>
        <p:spPr>
          <a:xfrm>
            <a:off x="1059251" y="1543000"/>
            <a:ext cx="84105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4000"/>
              <a:buNone/>
              <a:defRPr sz="4000" b="1">
                <a:solidFill>
                  <a:srgbClr val="08F4D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38"/>
          <p:cNvSpPr txBox="1">
            <a:spLocks noGrp="1"/>
          </p:cNvSpPr>
          <p:nvPr>
            <p:ph type="body" idx="1"/>
          </p:nvPr>
        </p:nvSpPr>
        <p:spPr>
          <a:xfrm>
            <a:off x="1059250" y="2424550"/>
            <a:ext cx="9045300" cy="3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None/>
              <a:defRPr sz="1500" i="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None/>
              <a:defRPr sz="1500">
                <a:solidFill>
                  <a:srgbClr val="FFFFFF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None/>
              <a:defRPr sz="1500">
                <a:solidFill>
                  <a:srgbClr val="FFFFFF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None/>
              <a:defRPr sz="1500">
                <a:solidFill>
                  <a:srgbClr val="FFFFFF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None/>
              <a:defRPr sz="1500">
                <a:solidFill>
                  <a:srgbClr val="FFFFFF"/>
                </a:solidFill>
              </a:defRPr>
            </a:lvl5pPr>
            <a:lvl6pPr marL="2743200" lvl="5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Char char="•"/>
              <a:defRPr sz="15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marL="3200400" lvl="6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Char char="•"/>
              <a:defRPr sz="15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marL="3657600" lvl="7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Char char="•"/>
              <a:defRPr sz="15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marL="4114800" lvl="8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Char char="•"/>
              <a:defRPr sz="15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endParaRPr/>
          </a:p>
        </p:txBody>
      </p:sp>
      <p:pic>
        <p:nvPicPr>
          <p:cNvPr id="238" name="Google Shape;238;p38" title="TMC2026-PIR-Teal-Whit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69701" y="448539"/>
            <a:ext cx="2076600" cy="683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10877" y="6116026"/>
            <a:ext cx="2335425" cy="3036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1951526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+ Logo (Dark) 1">
  <p:cSld name="Blank + Logo (Dark) 1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1C2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242" name="Google Shape;242;p39" title="TMC-SlideBG-Dark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39" title="TMC-Icon-Mai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4675" y="1396575"/>
            <a:ext cx="3617324" cy="4889923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9"/>
          <p:cNvSpPr txBox="1">
            <a:spLocks noGrp="1"/>
          </p:cNvSpPr>
          <p:nvPr>
            <p:ph type="ctrTitle"/>
          </p:nvPr>
        </p:nvSpPr>
        <p:spPr>
          <a:xfrm>
            <a:off x="1059251" y="1543000"/>
            <a:ext cx="84105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4000"/>
              <a:buNone/>
              <a:defRPr sz="4000" b="1">
                <a:solidFill>
                  <a:srgbClr val="08F4D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39"/>
          <p:cNvSpPr txBox="1">
            <a:spLocks noGrp="1"/>
          </p:cNvSpPr>
          <p:nvPr>
            <p:ph type="body" idx="1"/>
          </p:nvPr>
        </p:nvSpPr>
        <p:spPr>
          <a:xfrm>
            <a:off x="1059250" y="2424550"/>
            <a:ext cx="9045300" cy="3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None/>
              <a:defRPr sz="1500" i="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None/>
              <a:defRPr sz="1500">
                <a:solidFill>
                  <a:srgbClr val="FFFFFF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None/>
              <a:defRPr sz="1500">
                <a:solidFill>
                  <a:srgbClr val="FFFFFF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None/>
              <a:defRPr sz="1500">
                <a:solidFill>
                  <a:srgbClr val="FFFFFF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None/>
              <a:defRPr sz="1500">
                <a:solidFill>
                  <a:srgbClr val="FFFFFF"/>
                </a:solidFill>
              </a:defRPr>
            </a:lvl5pPr>
            <a:lvl6pPr marL="2743200" lvl="5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Char char="•"/>
              <a:defRPr sz="15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marL="3200400" lvl="6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Char char="•"/>
              <a:defRPr sz="15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marL="3657600" lvl="7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Char char="•"/>
              <a:defRPr sz="15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marL="4114800" lvl="8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Char char="•"/>
              <a:defRPr sz="15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endParaRPr/>
          </a:p>
        </p:txBody>
      </p:sp>
      <p:pic>
        <p:nvPicPr>
          <p:cNvPr id="246" name="Google Shape;246;p39" title="TMC2026-PIR-Teal-Whit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69701" y="448539"/>
            <a:ext cx="2076600" cy="683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10877" y="6116026"/>
            <a:ext cx="2335425" cy="3036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357207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Media Content 1 (Bright)">
  <p:cSld name="Media Content 1 (Bright)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40" title="Bg-Pattern.png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6317238">
            <a:off x="-3669027" y="-9870267"/>
            <a:ext cx="28354104" cy="2107173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40"/>
          <p:cNvSpPr txBox="1">
            <a:spLocks noGrp="1"/>
          </p:cNvSpPr>
          <p:nvPr>
            <p:ph type="ctrTitle"/>
          </p:nvPr>
        </p:nvSpPr>
        <p:spPr>
          <a:xfrm>
            <a:off x="6931065" y="1508056"/>
            <a:ext cx="43701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 b="1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Overpass"/>
              <a:buNone/>
              <a:defRPr b="1">
                <a:latin typeface="Overpass"/>
                <a:ea typeface="Overpass"/>
                <a:cs typeface="Overpass"/>
                <a:sym typeface="Overpas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Overpass"/>
              <a:buNone/>
              <a:defRPr b="1">
                <a:latin typeface="Overpass"/>
                <a:ea typeface="Overpass"/>
                <a:cs typeface="Overpass"/>
                <a:sym typeface="Overpas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Overpass"/>
              <a:buNone/>
              <a:defRPr b="1">
                <a:latin typeface="Overpass"/>
                <a:ea typeface="Overpass"/>
                <a:cs typeface="Overpass"/>
                <a:sym typeface="Overpas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Overpass"/>
              <a:buNone/>
              <a:defRPr b="1">
                <a:latin typeface="Overpass"/>
                <a:ea typeface="Overpass"/>
                <a:cs typeface="Overpass"/>
                <a:sym typeface="Overpas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Overpass"/>
              <a:buNone/>
              <a:defRPr b="1">
                <a:latin typeface="Overpass"/>
                <a:ea typeface="Overpass"/>
                <a:cs typeface="Overpass"/>
                <a:sym typeface="Overpas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Overpass"/>
              <a:buNone/>
              <a:defRPr b="1">
                <a:latin typeface="Overpass"/>
                <a:ea typeface="Overpass"/>
                <a:cs typeface="Overpass"/>
                <a:sym typeface="Overpas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Overpass"/>
              <a:buNone/>
              <a:defRPr b="1">
                <a:latin typeface="Overpass"/>
                <a:ea typeface="Overpass"/>
                <a:cs typeface="Overpass"/>
                <a:sym typeface="Overpas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Overpass"/>
              <a:buNone/>
              <a:defRPr b="1"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endParaRPr/>
          </a:p>
        </p:txBody>
      </p:sp>
      <p:sp>
        <p:nvSpPr>
          <p:cNvPr id="251" name="Google Shape;251;p40"/>
          <p:cNvSpPr txBox="1">
            <a:spLocks noGrp="1"/>
          </p:cNvSpPr>
          <p:nvPr>
            <p:ph type="body" idx="1"/>
          </p:nvPr>
        </p:nvSpPr>
        <p:spPr>
          <a:xfrm>
            <a:off x="6928672" y="2874127"/>
            <a:ext cx="4374900" cy="26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Overpass"/>
              <a:buNone/>
              <a:defRPr sz="150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Overpass"/>
              <a:buNone/>
              <a:defRPr sz="1500">
                <a:solidFill>
                  <a:schemeClr val="accent2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Overpass"/>
              <a:buNone/>
              <a:defRPr sz="1500">
                <a:solidFill>
                  <a:schemeClr val="accent2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Overpass"/>
              <a:buNone/>
              <a:defRPr sz="1500">
                <a:solidFill>
                  <a:schemeClr val="accent2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Overpass"/>
              <a:buNone/>
              <a:defRPr sz="1500">
                <a:solidFill>
                  <a:schemeClr val="accent2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Overpass"/>
              <a:buNone/>
              <a:defRPr sz="1500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Overpass"/>
              <a:buNone/>
              <a:defRPr sz="1500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Overpass"/>
              <a:buNone/>
              <a:defRPr sz="1500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Overpass"/>
              <a:buNone/>
              <a:defRPr sz="1500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endParaRPr/>
          </a:p>
        </p:txBody>
      </p:sp>
      <p:pic>
        <p:nvPicPr>
          <p:cNvPr id="252" name="Google Shape;25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25537" y="1569249"/>
            <a:ext cx="6372315" cy="371949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40"/>
          <p:cNvSpPr>
            <a:spLocks noGrp="1"/>
          </p:cNvSpPr>
          <p:nvPr>
            <p:ph type="pic" idx="2"/>
          </p:nvPr>
        </p:nvSpPr>
        <p:spPr>
          <a:xfrm>
            <a:off x="883100" y="1933223"/>
            <a:ext cx="5326200" cy="3109500"/>
          </a:xfrm>
          <a:prstGeom prst="rect">
            <a:avLst/>
          </a:prstGeom>
          <a:noFill/>
          <a:ln>
            <a:noFill/>
          </a:ln>
        </p:spPr>
      </p:sp>
      <p:pic>
        <p:nvPicPr>
          <p:cNvPr id="254" name="Google Shape;254;p40" title="TMC2026-PIR-Teal-Dark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69725" y="438234"/>
            <a:ext cx="2076600" cy="68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10877" y="6116026"/>
            <a:ext cx="2335425" cy="3036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273446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dia Content 1 (Dark)">
  <p:cSld name="Media Content 1 (Dark)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1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1D1C2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258" name="Google Shape;258;p41" title="TMC-SlideBG-Dark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41" title="Bg-Pattern.png"/>
          <p:cNvPicPr preferRelativeResize="0"/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 rot="6317238">
            <a:off x="-3669027" y="-9870267"/>
            <a:ext cx="28354104" cy="21071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-25537" y="1569249"/>
            <a:ext cx="6372315" cy="371949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41"/>
          <p:cNvSpPr>
            <a:spLocks noGrp="1"/>
          </p:cNvSpPr>
          <p:nvPr>
            <p:ph type="pic" idx="2"/>
          </p:nvPr>
        </p:nvSpPr>
        <p:spPr>
          <a:xfrm>
            <a:off x="883100" y="1933223"/>
            <a:ext cx="5326200" cy="31095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41"/>
          <p:cNvSpPr txBox="1">
            <a:spLocks noGrp="1"/>
          </p:cNvSpPr>
          <p:nvPr>
            <p:ph type="ctrTitle"/>
          </p:nvPr>
        </p:nvSpPr>
        <p:spPr>
          <a:xfrm>
            <a:off x="6850450" y="1543000"/>
            <a:ext cx="47136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4000"/>
              <a:buNone/>
              <a:defRPr sz="4000" b="1">
                <a:solidFill>
                  <a:srgbClr val="08F4D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41"/>
          <p:cNvSpPr txBox="1">
            <a:spLocks noGrp="1"/>
          </p:cNvSpPr>
          <p:nvPr>
            <p:ph type="body" idx="1"/>
          </p:nvPr>
        </p:nvSpPr>
        <p:spPr>
          <a:xfrm>
            <a:off x="6850450" y="2838950"/>
            <a:ext cx="4713600" cy="3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None/>
              <a:defRPr sz="1500" i="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None/>
              <a:defRPr sz="1500">
                <a:solidFill>
                  <a:srgbClr val="FFFFFF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None/>
              <a:defRPr sz="1500">
                <a:solidFill>
                  <a:srgbClr val="FFFFFF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None/>
              <a:defRPr sz="1500">
                <a:solidFill>
                  <a:srgbClr val="FFFFFF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None/>
              <a:defRPr sz="1500">
                <a:solidFill>
                  <a:srgbClr val="FFFFFF"/>
                </a:solidFill>
              </a:defRPr>
            </a:lvl5pPr>
            <a:lvl6pPr marL="2743200" lvl="5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Char char="•"/>
              <a:defRPr sz="15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marL="3200400" lvl="6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Char char="•"/>
              <a:defRPr sz="15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marL="3657600" lvl="7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Char char="•"/>
              <a:defRPr sz="15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marL="4114800" lvl="8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Char char="•"/>
              <a:defRPr sz="15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endParaRPr/>
          </a:p>
        </p:txBody>
      </p:sp>
      <p:pic>
        <p:nvPicPr>
          <p:cNvPr id="264" name="Google Shape;264;p41" title="TMC2026-PIR-Teal-Whit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69701" y="448539"/>
            <a:ext cx="2076600" cy="683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10877" y="6116026"/>
            <a:ext cx="2335425" cy="3036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6336603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Media Content 2 (Bright)">
  <p:cSld name="Media Content 2 (Bright)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42" title="Bg-Pattern.png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6317238">
            <a:off x="-3669027" y="-9870267"/>
            <a:ext cx="28354104" cy="2107173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42"/>
          <p:cNvSpPr txBox="1">
            <a:spLocks noGrp="1"/>
          </p:cNvSpPr>
          <p:nvPr>
            <p:ph type="ctrTitle"/>
          </p:nvPr>
        </p:nvSpPr>
        <p:spPr>
          <a:xfrm>
            <a:off x="1044495" y="1550445"/>
            <a:ext cx="43701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 b="1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Overpass"/>
              <a:buNone/>
              <a:defRPr b="1">
                <a:latin typeface="Overpass"/>
                <a:ea typeface="Overpass"/>
                <a:cs typeface="Overpass"/>
                <a:sym typeface="Overpas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Overpass"/>
              <a:buNone/>
              <a:defRPr b="1">
                <a:latin typeface="Overpass"/>
                <a:ea typeface="Overpass"/>
                <a:cs typeface="Overpass"/>
                <a:sym typeface="Overpas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Overpass"/>
              <a:buNone/>
              <a:defRPr b="1">
                <a:latin typeface="Overpass"/>
                <a:ea typeface="Overpass"/>
                <a:cs typeface="Overpass"/>
                <a:sym typeface="Overpas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Overpass"/>
              <a:buNone/>
              <a:defRPr b="1">
                <a:latin typeface="Overpass"/>
                <a:ea typeface="Overpass"/>
                <a:cs typeface="Overpass"/>
                <a:sym typeface="Overpas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Overpass"/>
              <a:buNone/>
              <a:defRPr b="1">
                <a:latin typeface="Overpass"/>
                <a:ea typeface="Overpass"/>
                <a:cs typeface="Overpass"/>
                <a:sym typeface="Overpas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Overpass"/>
              <a:buNone/>
              <a:defRPr b="1">
                <a:latin typeface="Overpass"/>
                <a:ea typeface="Overpass"/>
                <a:cs typeface="Overpass"/>
                <a:sym typeface="Overpas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Overpass"/>
              <a:buNone/>
              <a:defRPr b="1">
                <a:latin typeface="Overpass"/>
                <a:ea typeface="Overpass"/>
                <a:cs typeface="Overpass"/>
                <a:sym typeface="Overpas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Overpass"/>
              <a:buNone/>
              <a:defRPr b="1"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endParaRPr/>
          </a:p>
        </p:txBody>
      </p:sp>
      <p:sp>
        <p:nvSpPr>
          <p:cNvPr id="269" name="Google Shape;269;p42"/>
          <p:cNvSpPr txBox="1">
            <a:spLocks noGrp="1"/>
          </p:cNvSpPr>
          <p:nvPr>
            <p:ph type="body" idx="1"/>
          </p:nvPr>
        </p:nvSpPr>
        <p:spPr>
          <a:xfrm>
            <a:off x="1042102" y="2776608"/>
            <a:ext cx="4374900" cy="26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Overpass"/>
              <a:buNone/>
              <a:defRPr sz="150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Overpass"/>
              <a:buNone/>
              <a:defRPr sz="1500">
                <a:solidFill>
                  <a:schemeClr val="accent2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Overpass"/>
              <a:buNone/>
              <a:defRPr sz="1500">
                <a:solidFill>
                  <a:schemeClr val="accent2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Overpass"/>
              <a:buNone/>
              <a:defRPr sz="1500">
                <a:solidFill>
                  <a:schemeClr val="accent2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Overpass"/>
              <a:buNone/>
              <a:defRPr sz="1500">
                <a:solidFill>
                  <a:schemeClr val="accent2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Overpass"/>
              <a:buNone/>
              <a:defRPr sz="1500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Overpass"/>
              <a:buNone/>
              <a:defRPr sz="1500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Overpass"/>
              <a:buNone/>
              <a:defRPr sz="1500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Overpass"/>
              <a:buNone/>
              <a:defRPr sz="1500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endParaRPr/>
          </a:p>
        </p:txBody>
      </p:sp>
      <p:pic>
        <p:nvPicPr>
          <p:cNvPr id="270" name="Google Shape;27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8063" y="1569249"/>
            <a:ext cx="6372315" cy="3719499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42"/>
          <p:cNvSpPr>
            <a:spLocks noGrp="1"/>
          </p:cNvSpPr>
          <p:nvPr>
            <p:ph type="pic" idx="2"/>
          </p:nvPr>
        </p:nvSpPr>
        <p:spPr>
          <a:xfrm>
            <a:off x="6064700" y="1933223"/>
            <a:ext cx="5326200" cy="3109500"/>
          </a:xfrm>
          <a:prstGeom prst="rect">
            <a:avLst/>
          </a:prstGeom>
          <a:noFill/>
          <a:ln>
            <a:noFill/>
          </a:ln>
        </p:spPr>
      </p:sp>
      <p:pic>
        <p:nvPicPr>
          <p:cNvPr id="272" name="Google Shape;272;p42" title="TMC2026-PIR-Teal-Dark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69725" y="438234"/>
            <a:ext cx="2076600" cy="68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10877" y="6116026"/>
            <a:ext cx="2335425" cy="3036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561822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dia Content 2 (Dark)">
  <p:cSld name="Media Content 2 (Dark)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1D1C2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276" name="Google Shape;276;p43" title="TMC-SlideBG-Dark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43" title="Bg-Pattern.png"/>
          <p:cNvPicPr preferRelativeResize="0"/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 rot="6317238">
            <a:off x="-3669027" y="-9870267"/>
            <a:ext cx="28354104" cy="21071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18063" y="1569249"/>
            <a:ext cx="6372315" cy="3719499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43"/>
          <p:cNvSpPr>
            <a:spLocks noGrp="1"/>
          </p:cNvSpPr>
          <p:nvPr>
            <p:ph type="pic" idx="2"/>
          </p:nvPr>
        </p:nvSpPr>
        <p:spPr>
          <a:xfrm>
            <a:off x="6064700" y="1933223"/>
            <a:ext cx="5326200" cy="31095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43"/>
          <p:cNvSpPr txBox="1">
            <a:spLocks noGrp="1"/>
          </p:cNvSpPr>
          <p:nvPr>
            <p:ph type="ctrTitle"/>
          </p:nvPr>
        </p:nvSpPr>
        <p:spPr>
          <a:xfrm>
            <a:off x="1059251" y="1543000"/>
            <a:ext cx="41955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8F4D6"/>
              </a:buClr>
              <a:buSzPts val="4000"/>
              <a:buNone/>
              <a:defRPr sz="4000" b="1">
                <a:solidFill>
                  <a:srgbClr val="08F4D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1" name="Google Shape;281;p43"/>
          <p:cNvSpPr txBox="1">
            <a:spLocks noGrp="1"/>
          </p:cNvSpPr>
          <p:nvPr>
            <p:ph type="body" idx="1"/>
          </p:nvPr>
        </p:nvSpPr>
        <p:spPr>
          <a:xfrm>
            <a:off x="1059250" y="2859125"/>
            <a:ext cx="4513800" cy="3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None/>
              <a:defRPr sz="1500" i="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None/>
              <a:defRPr sz="1500">
                <a:solidFill>
                  <a:srgbClr val="FFFFFF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None/>
              <a:defRPr sz="1500">
                <a:solidFill>
                  <a:srgbClr val="FFFFFF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None/>
              <a:defRPr sz="1500">
                <a:solidFill>
                  <a:srgbClr val="FFFFFF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None/>
              <a:defRPr sz="1500">
                <a:solidFill>
                  <a:srgbClr val="FFFFFF"/>
                </a:solidFill>
              </a:defRPr>
            </a:lvl5pPr>
            <a:lvl6pPr marL="2743200" lvl="5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Char char="•"/>
              <a:defRPr sz="15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marL="3200400" lvl="6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Char char="•"/>
              <a:defRPr sz="15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marL="3657600" lvl="7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Char char="•"/>
              <a:defRPr sz="15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marL="4114800" lvl="8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Overpass"/>
              <a:buChar char="•"/>
              <a:defRPr sz="15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endParaRPr/>
          </a:p>
        </p:txBody>
      </p:sp>
      <p:pic>
        <p:nvPicPr>
          <p:cNvPr id="282" name="Google Shape;282;p43" title="TMC2026-PIR-Teal-Whit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69701" y="448539"/>
            <a:ext cx="2076600" cy="683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10877" y="6116026"/>
            <a:ext cx="2335425" cy="3036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41915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image" Target="../media/image11.png"/><Relationship Id="rId5" Type="http://schemas.openxmlformats.org/officeDocument/2006/relationships/slideLayout" Target="../slideLayouts/slideLayout31.xml"/><Relationship Id="rId10" Type="http://schemas.openxmlformats.org/officeDocument/2006/relationships/image" Target="../media/image10.png"/><Relationship Id="rId4" Type="http://schemas.openxmlformats.org/officeDocument/2006/relationships/slideLayout" Target="../slideLayouts/slideLayout30.xml"/><Relationship Id="rId9" Type="http://schemas.openxmlformats.org/officeDocument/2006/relationships/image" Target="../media/image9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18" Type="http://schemas.openxmlformats.org/officeDocument/2006/relationships/image" Target="../media/image10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17" Type="http://schemas.openxmlformats.org/officeDocument/2006/relationships/image" Target="../media/image9.png"/><Relationship Id="rId2" Type="http://schemas.openxmlformats.org/officeDocument/2006/relationships/slideLayout" Target="../slideLayouts/slideLayout35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43.xml"/><Relationship Id="rId19" Type="http://schemas.openxmlformats.org/officeDocument/2006/relationships/image" Target="../media/image11.png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pass"/>
              <a:buNone/>
              <a:defRPr sz="4400" b="0" i="0" u="none" strike="noStrike" cap="none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9A9E9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9A9E9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A9E9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A9E9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A9E9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A9E9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A9E9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A9E9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A9E9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A9E9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A9E9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>
            <a:spLocks noGrp="1"/>
          </p:cNvSpPr>
          <p:nvPr>
            <p:ph type="title"/>
          </p:nvPr>
        </p:nvSpPr>
        <p:spPr>
          <a:xfrm>
            <a:off x="838200" y="1203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Overpass"/>
              <a:buNone/>
              <a:defRPr sz="4000" b="1" i="0" u="none" strike="noStrike" cap="none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Overpass"/>
              <a:buNone/>
              <a:defRPr sz="1800" b="1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Overpass"/>
              <a:buNone/>
              <a:defRPr sz="1800" b="1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Overpass"/>
              <a:buNone/>
              <a:defRPr sz="1800" b="1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Overpass"/>
              <a:buNone/>
              <a:defRPr sz="1800" b="1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Overpass"/>
              <a:buNone/>
              <a:defRPr sz="1800" b="1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Overpass"/>
              <a:buNone/>
              <a:defRPr sz="1800" b="1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Overpass"/>
              <a:buNone/>
              <a:defRPr sz="1800" b="1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Overpass"/>
              <a:buNone/>
              <a:defRPr sz="1800" b="1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endParaRPr/>
          </a:p>
        </p:txBody>
      </p:sp>
      <p:sp>
        <p:nvSpPr>
          <p:cNvPr id="161" name="Google Shape;161;p28"/>
          <p:cNvSpPr txBox="1">
            <a:spLocks noGrp="1"/>
          </p:cNvSpPr>
          <p:nvPr>
            <p:ph type="body" idx="1"/>
          </p:nvPr>
        </p:nvSpPr>
        <p:spPr>
          <a:xfrm>
            <a:off x="838200" y="26638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accen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accen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accen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accen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62" name="Google Shape;162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9A9E9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63" name="Google Shape;163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9A9E9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64" name="Google Shape;164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A9E9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A9E9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A9E9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A9E9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A9E9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A9E9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A9E9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A9E9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A9E9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5" name="Google Shape;165;p28" title="TMC-Slide-Logo-Dark.png"/>
          <p:cNvPicPr preferRelativeResize="0"/>
          <p:nvPr/>
        </p:nvPicPr>
        <p:blipFill rotWithShape="1">
          <a:blip r:embed="rId9">
            <a:alphaModFix/>
          </a:blip>
          <a:srcRect r="34611"/>
          <a:stretch/>
        </p:blipFill>
        <p:spPr>
          <a:xfrm>
            <a:off x="9210875" y="6217300"/>
            <a:ext cx="1055665" cy="23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8" title="IriusRisk_Primary_Logo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490660" y="6234677"/>
            <a:ext cx="1055653" cy="200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8" title="TMC2026-PIR-Teal-Dark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469725" y="438234"/>
            <a:ext cx="2076600" cy="683407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80" r:id="rId5"/>
    <p:sldLayoutId id="2147483683" r:id="rId6"/>
    <p:sldLayoutId id="2147483684" r:id="rId7"/>
  </p:sldLayoutIdLst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>
            <a:spLocks noGrp="1"/>
          </p:cNvSpPr>
          <p:nvPr>
            <p:ph type="title"/>
          </p:nvPr>
        </p:nvSpPr>
        <p:spPr>
          <a:xfrm>
            <a:off x="838200" y="1203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Overpass"/>
              <a:buNone/>
              <a:defRPr sz="4000" b="1" i="0" u="none" strike="noStrike" cap="none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Overpass"/>
              <a:buNone/>
              <a:defRPr sz="1800" b="1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Overpass"/>
              <a:buNone/>
              <a:defRPr sz="1800" b="1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Overpass"/>
              <a:buNone/>
              <a:defRPr sz="1800" b="1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Overpass"/>
              <a:buNone/>
              <a:defRPr sz="1800" b="1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Overpass"/>
              <a:buNone/>
              <a:defRPr sz="1800" b="1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Overpass"/>
              <a:buNone/>
              <a:defRPr sz="1800" b="1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Overpass"/>
              <a:buNone/>
              <a:defRPr sz="1800" b="1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Overpass"/>
              <a:buNone/>
              <a:defRPr sz="1800" b="1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endParaRPr/>
          </a:p>
        </p:txBody>
      </p:sp>
      <p:sp>
        <p:nvSpPr>
          <p:cNvPr id="161" name="Google Shape;161;p28"/>
          <p:cNvSpPr txBox="1">
            <a:spLocks noGrp="1"/>
          </p:cNvSpPr>
          <p:nvPr>
            <p:ph type="body" idx="1"/>
          </p:nvPr>
        </p:nvSpPr>
        <p:spPr>
          <a:xfrm>
            <a:off x="838200" y="26638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accent2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accen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accen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accen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accen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62" name="Google Shape;162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9A9E9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63" name="Google Shape;163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9A9E9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64" name="Google Shape;164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A9E9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A9E9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A9E9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A9E9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A9E9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A9E9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A9E9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A9E9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A9E9E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5" name="Google Shape;165;p28" title="TMC-Slide-Logo-Dark.png"/>
          <p:cNvPicPr preferRelativeResize="0"/>
          <p:nvPr/>
        </p:nvPicPr>
        <p:blipFill rotWithShape="1">
          <a:blip r:embed="rId17">
            <a:alphaModFix/>
          </a:blip>
          <a:srcRect r="34611"/>
          <a:stretch/>
        </p:blipFill>
        <p:spPr>
          <a:xfrm>
            <a:off x="9210875" y="6217300"/>
            <a:ext cx="1055665" cy="23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8" title="IriusRisk_Primary_Logo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0490660" y="6234677"/>
            <a:ext cx="1055653" cy="200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8" title="TMC2026-PIR-Teal-Dark.png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9469725" y="438234"/>
            <a:ext cx="2076600" cy="6834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397343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</p:sldLayoutIdLst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atista.com/topics/1680/gaming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2.xml"/><Relationship Id="rId5" Type="http://schemas.openxmlformats.org/officeDocument/2006/relationships/image" Target="../media/image22.png"/><Relationship Id="rId4" Type="http://schemas.openxmlformats.org/officeDocument/2006/relationships/hyperlink" Target="https://investgame.net/wp-content/uploads/2025/09/2025_Newzoo_Free_Global_Games_Market_Report.pdf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BD6B15-F517-5F34-16D3-AFD4F5102FA2}"/>
              </a:ext>
            </a:extLst>
          </p:cNvPr>
          <p:cNvSpPr txBox="1"/>
          <p:nvPr/>
        </p:nvSpPr>
        <p:spPr>
          <a:xfrm>
            <a:off x="457200" y="4551949"/>
            <a:ext cx="11247120" cy="424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 dirty="0">
                <a:solidFill>
                  <a:srgbClr val="08F4D6"/>
                </a:solidFill>
                <a:latin typeface="Overpass"/>
              </a:rPr>
              <a:t>G.H.O.S.T  ·  Threat Modeling for Modern Game Ecosystems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559CAD-39F2-E487-7F67-13E30F0536C0}"/>
              </a:ext>
            </a:extLst>
          </p:cNvPr>
          <p:cNvSpPr txBox="1"/>
          <p:nvPr/>
        </p:nvSpPr>
        <p:spPr>
          <a:xfrm>
            <a:off x="457200" y="5031501"/>
            <a:ext cx="11247120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2000" i="1" dirty="0">
                <a:solidFill>
                  <a:schemeClr val="bg1">
                    <a:lumMod val="10000"/>
                    <a:lumOff val="90000"/>
                  </a:schemeClr>
                </a:solidFill>
                <a:latin typeface="Overpass"/>
              </a:rPr>
              <a:t>“Threats shift constantly. What they target rarely does.”</a:t>
            </a:r>
            <a:endParaRPr sz="2000" b="0" i="1" dirty="0">
              <a:solidFill>
                <a:schemeClr val="bg1">
                  <a:lumMod val="10000"/>
                  <a:lumOff val="90000"/>
                </a:schemeClr>
              </a:solidFill>
              <a:latin typeface="Overpas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08D576-F271-7BEB-B5C8-EC7E7C12EBF5}"/>
              </a:ext>
            </a:extLst>
          </p:cNvPr>
          <p:cNvSpPr txBox="1"/>
          <p:nvPr/>
        </p:nvSpPr>
        <p:spPr>
          <a:xfrm>
            <a:off x="2255032" y="5889214"/>
            <a:ext cx="7681936" cy="5663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1600" dirty="0">
                <a:solidFill>
                  <a:schemeClr val="bg1">
                    <a:lumMod val="10000"/>
                    <a:lumOff val="90000"/>
                  </a:schemeClr>
                </a:solidFill>
                <a:latin typeface="Overpass"/>
              </a:rPr>
              <a:t>Harikrishnan Santhanaraghavan (Hari)</a:t>
            </a:r>
          </a:p>
          <a:p>
            <a:pPr algn="ctr">
              <a:lnSpc>
                <a:spcPct val="115000"/>
              </a:lnSpc>
            </a:pPr>
            <a:r>
              <a:rPr lang="en-US" sz="1600" dirty="0">
                <a:solidFill>
                  <a:schemeClr val="bg1">
                    <a:lumMod val="10000"/>
                    <a:lumOff val="90000"/>
                  </a:schemeClr>
                </a:solidFill>
                <a:latin typeface="Overpass"/>
              </a:rPr>
              <a:t>Mentored by Sebastien Deleersnyder</a:t>
            </a:r>
            <a:endParaRPr sz="1600" b="0" dirty="0">
              <a:solidFill>
                <a:schemeClr val="bg1">
                  <a:lumMod val="10000"/>
                  <a:lumOff val="90000"/>
                </a:schemeClr>
              </a:solidFill>
              <a:latin typeface="Overpas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CC1E450-5A89-C7A1-0A73-8DA4A7F790C2}"/>
              </a:ext>
            </a:extLst>
          </p:cNvPr>
          <p:cNvSpPr/>
          <p:nvPr/>
        </p:nvSpPr>
        <p:spPr>
          <a:xfrm>
            <a:off x="411480" y="22100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G.H.O.S.T  |  THE QUESTION</a:t>
            </a:r>
            <a:endParaRPr lang="en-US" sz="1000" b="1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EABE0F9-AFD8-FE2B-F827-D024947F1457}"/>
              </a:ext>
            </a:extLst>
          </p:cNvPr>
          <p:cNvSpPr/>
          <p:nvPr/>
        </p:nvSpPr>
        <p:spPr>
          <a:xfrm>
            <a:off x="457200" y="1463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i="1" dirty="0">
                <a:solidFill>
                  <a:srgbClr val="FFFFFF"/>
                </a:solidFill>
                <a:latin typeface="Overpass Black" pitchFamily="34" charset="0"/>
              </a:rPr>
              <a:t>what if</a:t>
            </a: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136ABB01-1BAF-4E8D-9FEF-FD412DA9A7CB}"/>
              </a:ext>
            </a:extLst>
          </p:cNvPr>
          <p:cNvSpPr/>
          <p:nvPr/>
        </p:nvSpPr>
        <p:spPr>
          <a:xfrm>
            <a:off x="457200" y="2057400"/>
            <a:ext cx="11247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nothing</a:t>
            </a:r>
            <a:endParaRPr lang="en-US" sz="130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ACF80707-3674-7CEC-09A3-24FDD66E1EFD}"/>
              </a:ext>
            </a:extLst>
          </p:cNvPr>
          <p:cNvSpPr/>
          <p:nvPr/>
        </p:nvSpPr>
        <p:spPr>
          <a:xfrm>
            <a:off x="457200" y="38862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Overpass Black" pitchFamily="34" charset="0"/>
              </a:rPr>
              <a:t>needs to be broken</a:t>
            </a: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819F3660-1BD9-529F-9CB4-806D992CD65F}"/>
              </a:ext>
            </a:extLst>
          </p:cNvPr>
          <p:cNvSpPr/>
          <p:nvPr/>
        </p:nvSpPr>
        <p:spPr>
          <a:xfrm>
            <a:off x="457200" y="47091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for an attack to succeed?</a:t>
            </a:r>
            <a:endParaRPr lang="en-US" sz="4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>
          <a:extLst>
            <a:ext uri="{FF2B5EF4-FFF2-40B4-BE49-F238E27FC236}">
              <a16:creationId xmlns:a16="http://schemas.microsoft.com/office/drawing/2014/main" id="{816E35C2-111A-11DE-29D3-6DFF5F346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5">
            <a:extLst>
              <a:ext uri="{FF2B5EF4-FFF2-40B4-BE49-F238E27FC236}">
                <a16:creationId xmlns:a16="http://schemas.microsoft.com/office/drawing/2014/main" id="{7D2BE265-0D48-30A1-1CF3-C8DD82A47BE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825025" y="1338956"/>
            <a:ext cx="5966800" cy="706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Harikrishnan Santhanaraghavan (Hari)</a:t>
            </a:r>
            <a:endParaRPr dirty="0"/>
          </a:p>
        </p:txBody>
      </p:sp>
      <p:sp>
        <p:nvSpPr>
          <p:cNvPr id="294" name="Google Shape;294;p45">
            <a:extLst>
              <a:ext uri="{FF2B5EF4-FFF2-40B4-BE49-F238E27FC236}">
                <a16:creationId xmlns:a16="http://schemas.microsoft.com/office/drawing/2014/main" id="{B9645764-69AC-34BA-BDFA-31B6E212543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901225" y="4241044"/>
            <a:ext cx="5671525" cy="200735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IT Architect</a:t>
            </a:r>
          </a:p>
          <a:p>
            <a:pPr marL="0" lvl="0" indent="0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Allianz Technology SE</a:t>
            </a:r>
          </a:p>
          <a:p>
            <a:pPr marL="0" lvl="0" indent="0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/>
              <a:t>Munich, Germany</a:t>
            </a:r>
          </a:p>
          <a:p>
            <a:pPr marL="0" lvl="0" indent="0" rtl="0">
              <a:spcBef>
                <a:spcPts val="1000"/>
              </a:spcBef>
              <a:spcAft>
                <a:spcPts val="0"/>
              </a:spcAft>
              <a:buNone/>
            </a:pPr>
            <a:endParaRPr lang="en-US" dirty="0"/>
          </a:p>
        </p:txBody>
      </p:sp>
      <p:pic>
        <p:nvPicPr>
          <p:cNvPr id="4" name="Picture 3" descr="A person with his arms crossed&#10;&#10;AI-generated content may be incorrect.">
            <a:extLst>
              <a:ext uri="{FF2B5EF4-FFF2-40B4-BE49-F238E27FC236}">
                <a16:creationId xmlns:a16="http://schemas.microsoft.com/office/drawing/2014/main" id="{3A16D5D4-E4D1-DA32-9509-3DFCCEBD62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74" y="82799"/>
            <a:ext cx="4461601" cy="6692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562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7"/>
          <p:cNvSpPr txBox="1">
            <a:spLocks noGrp="1"/>
          </p:cNvSpPr>
          <p:nvPr>
            <p:ph type="ctrTitle"/>
          </p:nvPr>
        </p:nvSpPr>
        <p:spPr>
          <a:xfrm>
            <a:off x="271399" y="590500"/>
            <a:ext cx="10176705" cy="304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No Exploit, Still Compromised !</a:t>
            </a:r>
            <a:endParaRPr sz="3200" dirty="0"/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A07F93D8-FCB8-BF2D-6BFC-AD2CD411F8E0}"/>
              </a:ext>
            </a:extLst>
          </p:cNvPr>
          <p:cNvSpPr txBox="1"/>
          <p:nvPr/>
        </p:nvSpPr>
        <p:spPr>
          <a:xfrm>
            <a:off x="375284" y="6063754"/>
            <a:ext cx="11247120" cy="3016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600" b="1" i="1" dirty="0">
                <a:solidFill>
                  <a:srgbClr val="4AB09E"/>
                </a:solidFill>
                <a:latin typeface="Overpass"/>
              </a:rPr>
              <a:t>Attacks that succeed without </a:t>
            </a:r>
            <a:r>
              <a:rPr lang="en-US" sz="1600" b="1" i="1" u="sng" dirty="0">
                <a:solidFill>
                  <a:srgbClr val="4AB09E"/>
                </a:solidFill>
                <a:latin typeface="Overpass"/>
              </a:rPr>
              <a:t>technical exploits</a:t>
            </a:r>
            <a:r>
              <a:rPr lang="en-US" sz="1600" b="1" i="1" dirty="0">
                <a:solidFill>
                  <a:srgbClr val="4AB09E"/>
                </a:solidFill>
                <a:latin typeface="Overpass"/>
              </a:rPr>
              <a:t>, by operating within expected behavior.</a:t>
            </a:r>
            <a:endParaRPr sz="1600" b="1" i="1" dirty="0">
              <a:solidFill>
                <a:srgbClr val="4AB09E"/>
              </a:solidFill>
              <a:latin typeface="Overpass"/>
            </a:endParaRPr>
          </a:p>
        </p:txBody>
      </p:sp>
      <p:sp>
        <p:nvSpPr>
          <p:cNvPr id="293" name="Rounded Rectangle 3">
            <a:extLst>
              <a:ext uri="{FF2B5EF4-FFF2-40B4-BE49-F238E27FC236}">
                <a16:creationId xmlns:a16="http://schemas.microsoft.com/office/drawing/2014/main" id="{FD5E1B4C-0810-F8B7-F079-E056495ACE74}"/>
              </a:ext>
            </a:extLst>
          </p:cNvPr>
          <p:cNvSpPr/>
          <p:nvPr/>
        </p:nvSpPr>
        <p:spPr>
          <a:xfrm>
            <a:off x="411480" y="1485900"/>
            <a:ext cx="3749039" cy="4312408"/>
          </a:xfrm>
          <a:prstGeom prst="roundRect">
            <a:avLst>
              <a:gd name="adj" fmla="val 2000"/>
            </a:avLst>
          </a:prstGeom>
          <a:solidFill>
            <a:srgbClr val="2A2938"/>
          </a:solidFill>
          <a:ln w="5080">
            <a:solidFill>
              <a:srgbClr val="4AB0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6AFE97DC-CEF5-6232-1F72-652ABB987416}"/>
              </a:ext>
            </a:extLst>
          </p:cNvPr>
          <p:cNvSpPr/>
          <p:nvPr/>
        </p:nvSpPr>
        <p:spPr>
          <a:xfrm>
            <a:off x="411480" y="1381125"/>
            <a:ext cx="3749039" cy="45720"/>
          </a:xfrm>
          <a:prstGeom prst="rect">
            <a:avLst/>
          </a:prstGeom>
          <a:solidFill>
            <a:srgbClr val="08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95" name="Rounded Rectangle 5">
            <a:extLst>
              <a:ext uri="{FF2B5EF4-FFF2-40B4-BE49-F238E27FC236}">
                <a16:creationId xmlns:a16="http://schemas.microsoft.com/office/drawing/2014/main" id="{493E772C-FDC0-4DFF-F53C-3CF4BB9F74AD}"/>
              </a:ext>
            </a:extLst>
          </p:cNvPr>
          <p:cNvSpPr/>
          <p:nvPr/>
        </p:nvSpPr>
        <p:spPr>
          <a:xfrm>
            <a:off x="4251959" y="1485900"/>
            <a:ext cx="3749039" cy="4312408"/>
          </a:xfrm>
          <a:prstGeom prst="roundRect">
            <a:avLst>
              <a:gd name="adj" fmla="val 2000"/>
            </a:avLst>
          </a:prstGeom>
          <a:solidFill>
            <a:srgbClr val="2A2938"/>
          </a:solidFill>
          <a:ln w="5080">
            <a:solidFill>
              <a:srgbClr val="4AB0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E7145B23-3AD7-A3D9-D70E-3B3F55D0906A}"/>
              </a:ext>
            </a:extLst>
          </p:cNvPr>
          <p:cNvSpPr/>
          <p:nvPr/>
        </p:nvSpPr>
        <p:spPr>
          <a:xfrm>
            <a:off x="4251959" y="1381125"/>
            <a:ext cx="3749039" cy="45720"/>
          </a:xfrm>
          <a:prstGeom prst="rect">
            <a:avLst/>
          </a:prstGeom>
          <a:solidFill>
            <a:srgbClr val="08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97" name="Rounded Rectangle 7">
            <a:extLst>
              <a:ext uri="{FF2B5EF4-FFF2-40B4-BE49-F238E27FC236}">
                <a16:creationId xmlns:a16="http://schemas.microsoft.com/office/drawing/2014/main" id="{89B85EFE-F168-0020-706E-3A4EAC9DB00B}"/>
              </a:ext>
            </a:extLst>
          </p:cNvPr>
          <p:cNvSpPr/>
          <p:nvPr/>
        </p:nvSpPr>
        <p:spPr>
          <a:xfrm>
            <a:off x="8092439" y="1485900"/>
            <a:ext cx="3749039" cy="4312408"/>
          </a:xfrm>
          <a:prstGeom prst="roundRect">
            <a:avLst>
              <a:gd name="adj" fmla="val 2000"/>
            </a:avLst>
          </a:prstGeom>
          <a:solidFill>
            <a:srgbClr val="2A2938"/>
          </a:solidFill>
          <a:ln w="5080">
            <a:solidFill>
              <a:srgbClr val="4AB0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7441C193-EF28-CDC9-FDFC-D8E73113E0DD}"/>
              </a:ext>
            </a:extLst>
          </p:cNvPr>
          <p:cNvSpPr/>
          <p:nvPr/>
        </p:nvSpPr>
        <p:spPr>
          <a:xfrm>
            <a:off x="8092439" y="1381125"/>
            <a:ext cx="3749039" cy="45720"/>
          </a:xfrm>
          <a:prstGeom prst="rect">
            <a:avLst/>
          </a:prstGeom>
          <a:solidFill>
            <a:srgbClr val="08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cxnSp>
        <p:nvCxnSpPr>
          <p:cNvPr id="299" name="Connector 9">
            <a:extLst>
              <a:ext uri="{FF2B5EF4-FFF2-40B4-BE49-F238E27FC236}">
                <a16:creationId xmlns:a16="http://schemas.microsoft.com/office/drawing/2014/main" id="{A77818B7-A782-F255-6C89-0A0A4165689C}"/>
              </a:ext>
            </a:extLst>
          </p:cNvPr>
          <p:cNvCxnSpPr/>
          <p:nvPr/>
        </p:nvCxnSpPr>
        <p:spPr>
          <a:xfrm>
            <a:off x="640080" y="4503420"/>
            <a:ext cx="3291840" cy="0"/>
          </a:xfrm>
          <a:prstGeom prst="line">
            <a:avLst/>
          </a:prstGeom>
          <a:ln w="5080">
            <a:solidFill>
              <a:srgbClr val="4AB0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10">
            <a:extLst>
              <a:ext uri="{FF2B5EF4-FFF2-40B4-BE49-F238E27FC236}">
                <a16:creationId xmlns:a16="http://schemas.microsoft.com/office/drawing/2014/main" id="{3E08ED3D-C1B2-C6D5-192F-3A6F3DAA34FA}"/>
              </a:ext>
            </a:extLst>
          </p:cNvPr>
          <p:cNvCxnSpPr/>
          <p:nvPr/>
        </p:nvCxnSpPr>
        <p:spPr>
          <a:xfrm>
            <a:off x="4480559" y="4503420"/>
            <a:ext cx="3291841" cy="0"/>
          </a:xfrm>
          <a:prstGeom prst="line">
            <a:avLst/>
          </a:prstGeom>
          <a:ln w="5080">
            <a:solidFill>
              <a:srgbClr val="4AB0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11">
            <a:extLst>
              <a:ext uri="{FF2B5EF4-FFF2-40B4-BE49-F238E27FC236}">
                <a16:creationId xmlns:a16="http://schemas.microsoft.com/office/drawing/2014/main" id="{4A212092-39DC-4895-9DC4-049E7EBE8AE7}"/>
              </a:ext>
            </a:extLst>
          </p:cNvPr>
          <p:cNvCxnSpPr/>
          <p:nvPr/>
        </p:nvCxnSpPr>
        <p:spPr>
          <a:xfrm>
            <a:off x="8321039" y="4503420"/>
            <a:ext cx="3291840" cy="0"/>
          </a:xfrm>
          <a:prstGeom prst="line">
            <a:avLst/>
          </a:prstGeom>
          <a:ln w="5080">
            <a:solidFill>
              <a:srgbClr val="4AB0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2" name="TextBox 301">
            <a:extLst>
              <a:ext uri="{FF2B5EF4-FFF2-40B4-BE49-F238E27FC236}">
                <a16:creationId xmlns:a16="http://schemas.microsoft.com/office/drawing/2014/main" id="{50AECC09-8F0C-4C94-2AD5-4EE0EA4228ED}"/>
              </a:ext>
            </a:extLst>
          </p:cNvPr>
          <p:cNvSpPr txBox="1"/>
          <p:nvPr/>
        </p:nvSpPr>
        <p:spPr>
          <a:xfrm>
            <a:off x="640080" y="1564005"/>
            <a:ext cx="3291839" cy="2831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8F4D6"/>
                </a:solidFill>
                <a:latin typeface="Overpass Black"/>
              </a:rPr>
              <a:t>01  ·  GROOMING</a:t>
            </a:r>
          </a:p>
        </p:txBody>
      </p:sp>
      <p:sp>
        <p:nvSpPr>
          <p:cNvPr id="303" name="Oval 302">
            <a:extLst>
              <a:ext uri="{FF2B5EF4-FFF2-40B4-BE49-F238E27FC236}">
                <a16:creationId xmlns:a16="http://schemas.microsoft.com/office/drawing/2014/main" id="{242E538B-1634-EF65-738E-CDD380A9013D}"/>
              </a:ext>
            </a:extLst>
          </p:cNvPr>
          <p:cNvSpPr/>
          <p:nvPr/>
        </p:nvSpPr>
        <p:spPr>
          <a:xfrm>
            <a:off x="818464" y="1962302"/>
            <a:ext cx="332841" cy="332841"/>
          </a:xfrm>
          <a:prstGeom prst="ellipse">
            <a:avLst/>
          </a:prstGeom>
          <a:solidFill>
            <a:srgbClr val="E8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04" name="Rounded Rectangle 14">
            <a:extLst>
              <a:ext uri="{FF2B5EF4-FFF2-40B4-BE49-F238E27FC236}">
                <a16:creationId xmlns:a16="http://schemas.microsoft.com/office/drawing/2014/main" id="{7B67C0E6-C8A0-9D70-F1F4-21EB986650F4}"/>
              </a:ext>
            </a:extLst>
          </p:cNvPr>
          <p:cNvSpPr/>
          <p:nvPr/>
        </p:nvSpPr>
        <p:spPr>
          <a:xfrm>
            <a:off x="754456" y="2295144"/>
            <a:ext cx="460857" cy="576072"/>
          </a:xfrm>
          <a:prstGeom prst="roundRect">
            <a:avLst>
              <a:gd name="adj" fmla="val 40000"/>
            </a:avLst>
          </a:prstGeom>
          <a:solidFill>
            <a:srgbClr val="E8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40C3419A-7698-8865-A033-45D8F20D7E8A}"/>
              </a:ext>
            </a:extLst>
          </p:cNvPr>
          <p:cNvSpPr/>
          <p:nvPr/>
        </p:nvSpPr>
        <p:spPr>
          <a:xfrm>
            <a:off x="866013" y="2281428"/>
            <a:ext cx="237744" cy="54864"/>
          </a:xfrm>
          <a:prstGeom prst="rect">
            <a:avLst/>
          </a:prstGeom>
          <a:solidFill>
            <a:srgbClr val="1D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E307490C-B8EA-E052-1D96-5A95CE64A80C}"/>
              </a:ext>
            </a:extLst>
          </p:cNvPr>
          <p:cNvSpPr txBox="1"/>
          <p:nvPr/>
        </p:nvSpPr>
        <p:spPr>
          <a:xfrm>
            <a:off x="470535" y="2952750"/>
            <a:ext cx="914400" cy="1946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dirty="0">
                <a:solidFill>
                  <a:srgbClr val="E86B6B"/>
                </a:solidFill>
                <a:latin typeface="Overpass Black"/>
              </a:rPr>
              <a:t>ADULT</a:t>
            </a:r>
          </a:p>
        </p:txBody>
      </p:sp>
      <p:sp>
        <p:nvSpPr>
          <p:cNvPr id="307" name="Oval 306">
            <a:extLst>
              <a:ext uri="{FF2B5EF4-FFF2-40B4-BE49-F238E27FC236}">
                <a16:creationId xmlns:a16="http://schemas.microsoft.com/office/drawing/2014/main" id="{65353C1B-ECA5-5E3F-FE14-0DE8334AEB09}"/>
              </a:ext>
            </a:extLst>
          </p:cNvPr>
          <p:cNvSpPr/>
          <p:nvPr/>
        </p:nvSpPr>
        <p:spPr>
          <a:xfrm>
            <a:off x="3386937" y="2111349"/>
            <a:ext cx="358444" cy="35844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08" name="Rounded Rectangle 18">
            <a:extLst>
              <a:ext uri="{FF2B5EF4-FFF2-40B4-BE49-F238E27FC236}">
                <a16:creationId xmlns:a16="http://schemas.microsoft.com/office/drawing/2014/main" id="{540BB060-2BEC-1A04-FCED-6C3B486FDB17}"/>
              </a:ext>
            </a:extLst>
          </p:cNvPr>
          <p:cNvSpPr/>
          <p:nvPr/>
        </p:nvSpPr>
        <p:spPr>
          <a:xfrm>
            <a:off x="3386937" y="2469794"/>
            <a:ext cx="358444" cy="409651"/>
          </a:xfrm>
          <a:prstGeom prst="roundRect">
            <a:avLst>
              <a:gd name="adj" fmla="val 4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8F011336-2286-D995-608D-DDFF4B4498B4}"/>
              </a:ext>
            </a:extLst>
          </p:cNvPr>
          <p:cNvSpPr txBox="1"/>
          <p:nvPr/>
        </p:nvSpPr>
        <p:spPr>
          <a:xfrm>
            <a:off x="3108960" y="2952750"/>
            <a:ext cx="914400" cy="1946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dirty="0">
                <a:solidFill>
                  <a:srgbClr val="FFFFFF"/>
                </a:solidFill>
                <a:latin typeface="Overpass Black"/>
              </a:rPr>
              <a:t>MINOR</a:t>
            </a:r>
          </a:p>
        </p:txBody>
      </p:sp>
      <p:sp>
        <p:nvSpPr>
          <p:cNvPr id="310" name="Rounded Rectangle 20">
            <a:extLst>
              <a:ext uri="{FF2B5EF4-FFF2-40B4-BE49-F238E27FC236}">
                <a16:creationId xmlns:a16="http://schemas.microsoft.com/office/drawing/2014/main" id="{03440962-2104-1843-7EF5-63CD494F6C3E}"/>
              </a:ext>
            </a:extLst>
          </p:cNvPr>
          <p:cNvSpPr/>
          <p:nvPr/>
        </p:nvSpPr>
        <p:spPr>
          <a:xfrm>
            <a:off x="1580388" y="2049779"/>
            <a:ext cx="1357884" cy="274320"/>
          </a:xfrm>
          <a:prstGeom prst="roundRect">
            <a:avLst>
              <a:gd name="adj" fmla="val 40000"/>
            </a:avLst>
          </a:prstGeom>
          <a:solidFill>
            <a:srgbClr val="363546"/>
          </a:solidFill>
          <a:ln w="5080">
            <a:solidFill>
              <a:srgbClr val="9A9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50E0A004-3510-2DEF-5488-0CF52841880E}"/>
              </a:ext>
            </a:extLst>
          </p:cNvPr>
          <p:cNvSpPr txBox="1"/>
          <p:nvPr/>
        </p:nvSpPr>
        <p:spPr>
          <a:xfrm>
            <a:off x="1559517" y="2116889"/>
            <a:ext cx="1399627" cy="1858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1">
                <a:solidFill>
                  <a:srgbClr val="E8E8EE"/>
                </a:solidFill>
                <a:latin typeface="Overpass"/>
              </a:rPr>
              <a:t>"hi! whats your age?"</a:t>
            </a:r>
          </a:p>
        </p:txBody>
      </p:sp>
      <p:sp>
        <p:nvSpPr>
          <p:cNvPr id="312" name="Rounded Rectangle 22">
            <a:extLst>
              <a:ext uri="{FF2B5EF4-FFF2-40B4-BE49-F238E27FC236}">
                <a16:creationId xmlns:a16="http://schemas.microsoft.com/office/drawing/2014/main" id="{D00E2634-AB20-311E-74BA-16DA7B3FB5E0}"/>
              </a:ext>
            </a:extLst>
          </p:cNvPr>
          <p:cNvSpPr/>
          <p:nvPr/>
        </p:nvSpPr>
        <p:spPr>
          <a:xfrm>
            <a:off x="1479804" y="2415540"/>
            <a:ext cx="1559052" cy="274320"/>
          </a:xfrm>
          <a:prstGeom prst="roundRect">
            <a:avLst>
              <a:gd name="adj" fmla="val 40000"/>
            </a:avLst>
          </a:prstGeom>
          <a:solidFill>
            <a:srgbClr val="363546"/>
          </a:solidFill>
          <a:ln w="5080">
            <a:solidFill>
              <a:srgbClr val="9A9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13" name="TextBox 312">
            <a:extLst>
              <a:ext uri="{FF2B5EF4-FFF2-40B4-BE49-F238E27FC236}">
                <a16:creationId xmlns:a16="http://schemas.microsoft.com/office/drawing/2014/main" id="{C986D158-0721-DC18-AAB1-73EE7D7425FC}"/>
              </a:ext>
            </a:extLst>
          </p:cNvPr>
          <p:cNvSpPr txBox="1"/>
          <p:nvPr/>
        </p:nvSpPr>
        <p:spPr>
          <a:xfrm>
            <a:off x="1437811" y="2482650"/>
            <a:ext cx="1643039" cy="1858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1">
                <a:solidFill>
                  <a:srgbClr val="E8E8EE"/>
                </a:solidFill>
                <a:latin typeface="Overpass"/>
              </a:rPr>
              <a:t>"i play too — be friends?"</a:t>
            </a:r>
          </a:p>
        </p:txBody>
      </p:sp>
      <p:sp>
        <p:nvSpPr>
          <p:cNvPr id="314" name="Rounded Rectangle 24">
            <a:extLst>
              <a:ext uri="{FF2B5EF4-FFF2-40B4-BE49-F238E27FC236}">
                <a16:creationId xmlns:a16="http://schemas.microsoft.com/office/drawing/2014/main" id="{28331053-4DC5-8377-14DB-D287F6AD9730}"/>
              </a:ext>
            </a:extLst>
          </p:cNvPr>
          <p:cNvSpPr/>
          <p:nvPr/>
        </p:nvSpPr>
        <p:spPr>
          <a:xfrm>
            <a:off x="1379220" y="2781300"/>
            <a:ext cx="1760220" cy="292608"/>
          </a:xfrm>
          <a:prstGeom prst="roundRect">
            <a:avLst>
              <a:gd name="adj" fmla="val 40000"/>
            </a:avLst>
          </a:prstGeom>
          <a:solidFill>
            <a:srgbClr val="363546"/>
          </a:solidFill>
          <a:ln w="5080">
            <a:solidFill>
              <a:srgbClr val="9A9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4D41DEF8-54D3-8A21-C57B-DAB59486952E}"/>
              </a:ext>
            </a:extLst>
          </p:cNvPr>
          <p:cNvSpPr txBox="1"/>
          <p:nvPr/>
        </p:nvSpPr>
        <p:spPr>
          <a:xfrm>
            <a:off x="1479804" y="2857554"/>
            <a:ext cx="1559052" cy="1858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1">
                <a:solidFill>
                  <a:srgbClr val="E8E8EE"/>
                </a:solidFill>
                <a:latin typeface="Overpass"/>
              </a:rPr>
              <a:t>"dont tell ur parents"</a:t>
            </a:r>
          </a:p>
        </p:txBody>
      </p:sp>
      <p:sp>
        <p:nvSpPr>
          <p:cNvPr id="318" name="Rounded Rectangle 26">
            <a:extLst>
              <a:ext uri="{FF2B5EF4-FFF2-40B4-BE49-F238E27FC236}">
                <a16:creationId xmlns:a16="http://schemas.microsoft.com/office/drawing/2014/main" id="{7C7FD9E5-CE0D-24D7-7C6C-1C31329334B4}"/>
              </a:ext>
            </a:extLst>
          </p:cNvPr>
          <p:cNvSpPr/>
          <p:nvPr/>
        </p:nvSpPr>
        <p:spPr>
          <a:xfrm>
            <a:off x="1326642" y="3192780"/>
            <a:ext cx="1911096" cy="310896"/>
          </a:xfrm>
          <a:prstGeom prst="roundRect">
            <a:avLst>
              <a:gd name="adj" fmla="val 40000"/>
            </a:avLst>
          </a:prstGeom>
          <a:solidFill>
            <a:srgbClr val="363546"/>
          </a:solidFill>
          <a:ln w="5080">
            <a:solidFill>
              <a:srgbClr val="9A9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E4C5461A-27DE-9EE1-F903-50C90F45E6E4}"/>
              </a:ext>
            </a:extLst>
          </p:cNvPr>
          <p:cNvSpPr txBox="1"/>
          <p:nvPr/>
        </p:nvSpPr>
        <p:spPr>
          <a:xfrm>
            <a:off x="1427226" y="3278178"/>
            <a:ext cx="1709928" cy="1858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1">
                <a:solidFill>
                  <a:srgbClr val="E8E8EE"/>
                </a:solidFill>
                <a:latin typeface="Overpass"/>
              </a:rPr>
              <a:t>"send a pic, just us"</a:t>
            </a:r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48856D00-36CC-786C-6372-C2DDF655F2DA}"/>
              </a:ext>
            </a:extLst>
          </p:cNvPr>
          <p:cNvSpPr txBox="1"/>
          <p:nvPr/>
        </p:nvSpPr>
        <p:spPr>
          <a:xfrm>
            <a:off x="525780" y="3680460"/>
            <a:ext cx="3291839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 dirty="0">
                <a:solidFill>
                  <a:srgbClr val="F0B04A"/>
                </a:solidFill>
                <a:latin typeface="Overpass"/>
              </a:rPr>
              <a:t>escalating over days / weeks</a:t>
            </a:r>
          </a:p>
        </p:txBody>
      </p:sp>
      <p:sp>
        <p:nvSpPr>
          <p:cNvPr id="321" name="Rounded Rectangle 29">
            <a:extLst>
              <a:ext uri="{FF2B5EF4-FFF2-40B4-BE49-F238E27FC236}">
                <a16:creationId xmlns:a16="http://schemas.microsoft.com/office/drawing/2014/main" id="{0FD729AB-44B0-D31E-0208-867179A9C089}"/>
              </a:ext>
            </a:extLst>
          </p:cNvPr>
          <p:cNvSpPr/>
          <p:nvPr/>
        </p:nvSpPr>
        <p:spPr>
          <a:xfrm>
            <a:off x="594360" y="4046220"/>
            <a:ext cx="1554480" cy="292608"/>
          </a:xfrm>
          <a:prstGeom prst="roundRect">
            <a:avLst>
              <a:gd name="adj" fmla="val 40000"/>
            </a:avLst>
          </a:prstGeom>
          <a:solidFill>
            <a:srgbClr val="363546"/>
          </a:solidFill>
          <a:ln w="8890">
            <a:solidFill>
              <a:srgbClr val="6BCB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824BC4E3-E917-B520-1575-A6CC50F41074}"/>
              </a:ext>
            </a:extLst>
          </p:cNvPr>
          <p:cNvSpPr txBox="1"/>
          <p:nvPr/>
        </p:nvSpPr>
        <p:spPr>
          <a:xfrm>
            <a:off x="594360" y="4091940"/>
            <a:ext cx="1554480" cy="1797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6BCB9E"/>
                </a:solidFill>
                <a:latin typeface="Overpass Black"/>
              </a:rPr>
              <a:t>✓  messages allowed</a:t>
            </a:r>
          </a:p>
        </p:txBody>
      </p:sp>
      <p:sp>
        <p:nvSpPr>
          <p:cNvPr id="323" name="Rounded Rectangle 31">
            <a:extLst>
              <a:ext uri="{FF2B5EF4-FFF2-40B4-BE49-F238E27FC236}">
                <a16:creationId xmlns:a16="http://schemas.microsoft.com/office/drawing/2014/main" id="{3E877D08-3891-C11A-15D0-98C41262046E}"/>
              </a:ext>
            </a:extLst>
          </p:cNvPr>
          <p:cNvSpPr/>
          <p:nvPr/>
        </p:nvSpPr>
        <p:spPr>
          <a:xfrm>
            <a:off x="2423159" y="4046220"/>
            <a:ext cx="1554480" cy="292608"/>
          </a:xfrm>
          <a:prstGeom prst="roundRect">
            <a:avLst>
              <a:gd name="adj" fmla="val 40000"/>
            </a:avLst>
          </a:prstGeom>
          <a:solidFill>
            <a:srgbClr val="363546"/>
          </a:solidFill>
          <a:ln w="8890">
            <a:solidFill>
              <a:srgbClr val="E8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75F0EFB5-341E-3784-43C2-B02DEEDDD6AF}"/>
              </a:ext>
            </a:extLst>
          </p:cNvPr>
          <p:cNvSpPr txBox="1"/>
          <p:nvPr/>
        </p:nvSpPr>
        <p:spPr>
          <a:xfrm>
            <a:off x="2423159" y="4091940"/>
            <a:ext cx="1554480" cy="1797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E86B6B"/>
                </a:solidFill>
                <a:latin typeface="Overpass Black"/>
              </a:rPr>
              <a:t>✗  context harmful</a:t>
            </a: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0C65F447-4DC4-F27C-E266-CDEBADA22F2E}"/>
              </a:ext>
            </a:extLst>
          </p:cNvPr>
          <p:cNvSpPr txBox="1"/>
          <p:nvPr/>
        </p:nvSpPr>
        <p:spPr>
          <a:xfrm>
            <a:off x="640080" y="4640580"/>
            <a:ext cx="3291839" cy="543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b="0" i="0">
                <a:solidFill>
                  <a:srgbClr val="FFFFFF"/>
                </a:solidFill>
                <a:latin typeface="Overpass"/>
              </a:rPr>
              <a:t>An adult builds trust with a minor over time. No single message is harmful.</a:t>
            </a:r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id="{B9D78BEA-25E8-7D67-D4FC-0A3227168EA6}"/>
              </a:ext>
            </a:extLst>
          </p:cNvPr>
          <p:cNvSpPr txBox="1"/>
          <p:nvPr/>
        </p:nvSpPr>
        <p:spPr>
          <a:xfrm>
            <a:off x="640080" y="5326380"/>
            <a:ext cx="3291839" cy="247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1" i="1">
                <a:solidFill>
                  <a:srgbClr val="08F4D6"/>
                </a:solidFill>
                <a:latin typeface="Overpass"/>
              </a:rPr>
              <a:t>No policy keyword fires.</a:t>
            </a:r>
          </a:p>
        </p:txBody>
      </p:sp>
      <p:sp>
        <p:nvSpPr>
          <p:cNvPr id="327" name="TextBox 326">
            <a:extLst>
              <a:ext uri="{FF2B5EF4-FFF2-40B4-BE49-F238E27FC236}">
                <a16:creationId xmlns:a16="http://schemas.microsoft.com/office/drawing/2014/main" id="{8EBF2FA7-686C-0399-D04E-3FA317EE7FBA}"/>
              </a:ext>
            </a:extLst>
          </p:cNvPr>
          <p:cNvSpPr txBox="1"/>
          <p:nvPr/>
        </p:nvSpPr>
        <p:spPr>
          <a:xfrm>
            <a:off x="4480559" y="1564005"/>
            <a:ext cx="3291839" cy="2831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8F4D6"/>
                </a:solidFill>
                <a:latin typeface="Overpass Black"/>
              </a:rPr>
              <a:t>02  ·  COORDINATED LOAD</a:t>
            </a:r>
          </a:p>
        </p:txBody>
      </p:sp>
      <p:sp>
        <p:nvSpPr>
          <p:cNvPr id="328" name="Oval 327">
            <a:extLst>
              <a:ext uri="{FF2B5EF4-FFF2-40B4-BE49-F238E27FC236}">
                <a16:creationId xmlns:a16="http://schemas.microsoft.com/office/drawing/2014/main" id="{8537252F-F437-C379-9DE1-99C687ACE943}"/>
              </a:ext>
            </a:extLst>
          </p:cNvPr>
          <p:cNvSpPr/>
          <p:nvPr/>
        </p:nvSpPr>
        <p:spPr>
          <a:xfrm>
            <a:off x="4570628" y="2247823"/>
            <a:ext cx="130759" cy="130759"/>
          </a:xfrm>
          <a:prstGeom prst="ellipse">
            <a:avLst/>
          </a:prstGeom>
          <a:solidFill>
            <a:srgbClr val="F0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29" name="Rounded Rectangle 37">
            <a:extLst>
              <a:ext uri="{FF2B5EF4-FFF2-40B4-BE49-F238E27FC236}">
                <a16:creationId xmlns:a16="http://schemas.microsoft.com/office/drawing/2014/main" id="{E04708B5-A7C9-FF3A-8035-FC110B55CCD7}"/>
              </a:ext>
            </a:extLst>
          </p:cNvPr>
          <p:cNvSpPr/>
          <p:nvPr/>
        </p:nvSpPr>
        <p:spPr>
          <a:xfrm>
            <a:off x="4545482" y="2378583"/>
            <a:ext cx="181051" cy="226314"/>
          </a:xfrm>
          <a:prstGeom prst="roundRect">
            <a:avLst>
              <a:gd name="adj" fmla="val 40000"/>
            </a:avLst>
          </a:prstGeom>
          <a:solidFill>
            <a:srgbClr val="F0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30" name="Oval 329">
            <a:extLst>
              <a:ext uri="{FF2B5EF4-FFF2-40B4-BE49-F238E27FC236}">
                <a16:creationId xmlns:a16="http://schemas.microsoft.com/office/drawing/2014/main" id="{B1224229-A143-EC9F-A6ED-ECB08AB17B6D}"/>
              </a:ext>
            </a:extLst>
          </p:cNvPr>
          <p:cNvSpPr/>
          <p:nvPr/>
        </p:nvSpPr>
        <p:spPr>
          <a:xfrm>
            <a:off x="4863236" y="2247823"/>
            <a:ext cx="130759" cy="130759"/>
          </a:xfrm>
          <a:prstGeom prst="ellipse">
            <a:avLst/>
          </a:prstGeom>
          <a:solidFill>
            <a:srgbClr val="F0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31" name="Rounded Rectangle 39">
            <a:extLst>
              <a:ext uri="{FF2B5EF4-FFF2-40B4-BE49-F238E27FC236}">
                <a16:creationId xmlns:a16="http://schemas.microsoft.com/office/drawing/2014/main" id="{838891D2-2C07-EEEC-1D98-BE294263F767}"/>
              </a:ext>
            </a:extLst>
          </p:cNvPr>
          <p:cNvSpPr/>
          <p:nvPr/>
        </p:nvSpPr>
        <p:spPr>
          <a:xfrm>
            <a:off x="4838090" y="2378583"/>
            <a:ext cx="181051" cy="226314"/>
          </a:xfrm>
          <a:prstGeom prst="roundRect">
            <a:avLst>
              <a:gd name="adj" fmla="val 40000"/>
            </a:avLst>
          </a:prstGeom>
          <a:solidFill>
            <a:srgbClr val="F0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32" name="Oval 331">
            <a:extLst>
              <a:ext uri="{FF2B5EF4-FFF2-40B4-BE49-F238E27FC236}">
                <a16:creationId xmlns:a16="http://schemas.microsoft.com/office/drawing/2014/main" id="{3F06821A-5FC2-9C45-5268-D4F97FB709DB}"/>
              </a:ext>
            </a:extLst>
          </p:cNvPr>
          <p:cNvSpPr/>
          <p:nvPr/>
        </p:nvSpPr>
        <p:spPr>
          <a:xfrm>
            <a:off x="5155844" y="2247823"/>
            <a:ext cx="130759" cy="130759"/>
          </a:xfrm>
          <a:prstGeom prst="ellipse">
            <a:avLst/>
          </a:prstGeom>
          <a:solidFill>
            <a:srgbClr val="F0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33" name="Rounded Rectangle 41">
            <a:extLst>
              <a:ext uri="{FF2B5EF4-FFF2-40B4-BE49-F238E27FC236}">
                <a16:creationId xmlns:a16="http://schemas.microsoft.com/office/drawing/2014/main" id="{7C2D4809-F4B5-AAC6-4511-DADA4B5161D8}"/>
              </a:ext>
            </a:extLst>
          </p:cNvPr>
          <p:cNvSpPr/>
          <p:nvPr/>
        </p:nvSpPr>
        <p:spPr>
          <a:xfrm>
            <a:off x="5130698" y="2378583"/>
            <a:ext cx="181051" cy="226314"/>
          </a:xfrm>
          <a:prstGeom prst="roundRect">
            <a:avLst>
              <a:gd name="adj" fmla="val 40000"/>
            </a:avLst>
          </a:prstGeom>
          <a:solidFill>
            <a:srgbClr val="F0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34" name="Oval 333">
            <a:extLst>
              <a:ext uri="{FF2B5EF4-FFF2-40B4-BE49-F238E27FC236}">
                <a16:creationId xmlns:a16="http://schemas.microsoft.com/office/drawing/2014/main" id="{107A5E76-42CC-3C4E-08E7-121B4B703490}"/>
              </a:ext>
            </a:extLst>
          </p:cNvPr>
          <p:cNvSpPr/>
          <p:nvPr/>
        </p:nvSpPr>
        <p:spPr>
          <a:xfrm>
            <a:off x="4570628" y="2595295"/>
            <a:ext cx="130759" cy="130759"/>
          </a:xfrm>
          <a:prstGeom prst="ellipse">
            <a:avLst/>
          </a:prstGeom>
          <a:solidFill>
            <a:srgbClr val="F0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35" name="Rounded Rectangle 43">
            <a:extLst>
              <a:ext uri="{FF2B5EF4-FFF2-40B4-BE49-F238E27FC236}">
                <a16:creationId xmlns:a16="http://schemas.microsoft.com/office/drawing/2014/main" id="{1D8AF763-FA4B-8922-62C6-2B327E078CE1}"/>
              </a:ext>
            </a:extLst>
          </p:cNvPr>
          <p:cNvSpPr/>
          <p:nvPr/>
        </p:nvSpPr>
        <p:spPr>
          <a:xfrm>
            <a:off x="4545482" y="2726055"/>
            <a:ext cx="181051" cy="226314"/>
          </a:xfrm>
          <a:prstGeom prst="roundRect">
            <a:avLst>
              <a:gd name="adj" fmla="val 40000"/>
            </a:avLst>
          </a:prstGeom>
          <a:solidFill>
            <a:srgbClr val="F0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36" name="Oval 335">
            <a:extLst>
              <a:ext uri="{FF2B5EF4-FFF2-40B4-BE49-F238E27FC236}">
                <a16:creationId xmlns:a16="http://schemas.microsoft.com/office/drawing/2014/main" id="{B02F6536-3405-428A-B878-51DE57640913}"/>
              </a:ext>
            </a:extLst>
          </p:cNvPr>
          <p:cNvSpPr/>
          <p:nvPr/>
        </p:nvSpPr>
        <p:spPr>
          <a:xfrm>
            <a:off x="4863236" y="2595295"/>
            <a:ext cx="130759" cy="130759"/>
          </a:xfrm>
          <a:prstGeom prst="ellipse">
            <a:avLst/>
          </a:prstGeom>
          <a:solidFill>
            <a:srgbClr val="F0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37" name="Rounded Rectangle 45">
            <a:extLst>
              <a:ext uri="{FF2B5EF4-FFF2-40B4-BE49-F238E27FC236}">
                <a16:creationId xmlns:a16="http://schemas.microsoft.com/office/drawing/2014/main" id="{A908AE6C-CFBA-36DB-8DD6-28022F5AE24F}"/>
              </a:ext>
            </a:extLst>
          </p:cNvPr>
          <p:cNvSpPr/>
          <p:nvPr/>
        </p:nvSpPr>
        <p:spPr>
          <a:xfrm>
            <a:off x="4838090" y="2726055"/>
            <a:ext cx="181051" cy="226314"/>
          </a:xfrm>
          <a:prstGeom prst="roundRect">
            <a:avLst>
              <a:gd name="adj" fmla="val 40000"/>
            </a:avLst>
          </a:prstGeom>
          <a:solidFill>
            <a:srgbClr val="F0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38" name="Oval 337">
            <a:extLst>
              <a:ext uri="{FF2B5EF4-FFF2-40B4-BE49-F238E27FC236}">
                <a16:creationId xmlns:a16="http://schemas.microsoft.com/office/drawing/2014/main" id="{7BC17726-FD5B-592B-B974-D89D8842EFF7}"/>
              </a:ext>
            </a:extLst>
          </p:cNvPr>
          <p:cNvSpPr/>
          <p:nvPr/>
        </p:nvSpPr>
        <p:spPr>
          <a:xfrm>
            <a:off x="5155844" y="2595295"/>
            <a:ext cx="130759" cy="130759"/>
          </a:xfrm>
          <a:prstGeom prst="ellipse">
            <a:avLst/>
          </a:prstGeom>
          <a:solidFill>
            <a:srgbClr val="F0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39" name="Rounded Rectangle 47">
            <a:extLst>
              <a:ext uri="{FF2B5EF4-FFF2-40B4-BE49-F238E27FC236}">
                <a16:creationId xmlns:a16="http://schemas.microsoft.com/office/drawing/2014/main" id="{E6232206-8A10-3E23-B2B4-85E3EE058268}"/>
              </a:ext>
            </a:extLst>
          </p:cNvPr>
          <p:cNvSpPr/>
          <p:nvPr/>
        </p:nvSpPr>
        <p:spPr>
          <a:xfrm>
            <a:off x="5130698" y="2726055"/>
            <a:ext cx="181051" cy="226314"/>
          </a:xfrm>
          <a:prstGeom prst="roundRect">
            <a:avLst>
              <a:gd name="adj" fmla="val 40000"/>
            </a:avLst>
          </a:prstGeom>
          <a:solidFill>
            <a:srgbClr val="F0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40" name="Oval 339">
            <a:extLst>
              <a:ext uri="{FF2B5EF4-FFF2-40B4-BE49-F238E27FC236}">
                <a16:creationId xmlns:a16="http://schemas.microsoft.com/office/drawing/2014/main" id="{CBFBCC7E-CD23-99FB-5914-B5216701302F}"/>
              </a:ext>
            </a:extLst>
          </p:cNvPr>
          <p:cNvSpPr/>
          <p:nvPr/>
        </p:nvSpPr>
        <p:spPr>
          <a:xfrm>
            <a:off x="4570628" y="2942767"/>
            <a:ext cx="130759" cy="130759"/>
          </a:xfrm>
          <a:prstGeom prst="ellipse">
            <a:avLst/>
          </a:prstGeom>
          <a:solidFill>
            <a:srgbClr val="F0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41" name="Rounded Rectangle 49">
            <a:extLst>
              <a:ext uri="{FF2B5EF4-FFF2-40B4-BE49-F238E27FC236}">
                <a16:creationId xmlns:a16="http://schemas.microsoft.com/office/drawing/2014/main" id="{2BB2908D-8BBA-CFDA-CAF0-3FC3FF1A0313}"/>
              </a:ext>
            </a:extLst>
          </p:cNvPr>
          <p:cNvSpPr/>
          <p:nvPr/>
        </p:nvSpPr>
        <p:spPr>
          <a:xfrm>
            <a:off x="4545482" y="3073527"/>
            <a:ext cx="181051" cy="226314"/>
          </a:xfrm>
          <a:prstGeom prst="roundRect">
            <a:avLst>
              <a:gd name="adj" fmla="val 40000"/>
            </a:avLst>
          </a:prstGeom>
          <a:solidFill>
            <a:srgbClr val="F0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42" name="Oval 341">
            <a:extLst>
              <a:ext uri="{FF2B5EF4-FFF2-40B4-BE49-F238E27FC236}">
                <a16:creationId xmlns:a16="http://schemas.microsoft.com/office/drawing/2014/main" id="{245A0467-DF87-ADF0-7E4D-CF37574227AE}"/>
              </a:ext>
            </a:extLst>
          </p:cNvPr>
          <p:cNvSpPr/>
          <p:nvPr/>
        </p:nvSpPr>
        <p:spPr>
          <a:xfrm>
            <a:off x="4863236" y="2942767"/>
            <a:ext cx="130759" cy="130759"/>
          </a:xfrm>
          <a:prstGeom prst="ellipse">
            <a:avLst/>
          </a:prstGeom>
          <a:solidFill>
            <a:srgbClr val="F0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43" name="Rounded Rectangle 51">
            <a:extLst>
              <a:ext uri="{FF2B5EF4-FFF2-40B4-BE49-F238E27FC236}">
                <a16:creationId xmlns:a16="http://schemas.microsoft.com/office/drawing/2014/main" id="{194148AC-48C1-E725-3DFE-44AFFD18283E}"/>
              </a:ext>
            </a:extLst>
          </p:cNvPr>
          <p:cNvSpPr/>
          <p:nvPr/>
        </p:nvSpPr>
        <p:spPr>
          <a:xfrm>
            <a:off x="4838090" y="3073527"/>
            <a:ext cx="181051" cy="226314"/>
          </a:xfrm>
          <a:prstGeom prst="roundRect">
            <a:avLst>
              <a:gd name="adj" fmla="val 40000"/>
            </a:avLst>
          </a:prstGeom>
          <a:solidFill>
            <a:srgbClr val="F0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44" name="Oval 343">
            <a:extLst>
              <a:ext uri="{FF2B5EF4-FFF2-40B4-BE49-F238E27FC236}">
                <a16:creationId xmlns:a16="http://schemas.microsoft.com/office/drawing/2014/main" id="{D1697035-CCE1-AE66-39A2-0E349C292762}"/>
              </a:ext>
            </a:extLst>
          </p:cNvPr>
          <p:cNvSpPr/>
          <p:nvPr/>
        </p:nvSpPr>
        <p:spPr>
          <a:xfrm>
            <a:off x="5155844" y="2942767"/>
            <a:ext cx="130759" cy="130759"/>
          </a:xfrm>
          <a:prstGeom prst="ellipse">
            <a:avLst/>
          </a:prstGeom>
          <a:solidFill>
            <a:srgbClr val="F0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45" name="Rounded Rectangle 53">
            <a:extLst>
              <a:ext uri="{FF2B5EF4-FFF2-40B4-BE49-F238E27FC236}">
                <a16:creationId xmlns:a16="http://schemas.microsoft.com/office/drawing/2014/main" id="{92DD576F-20B8-ED85-44F9-C9FB564E3A46}"/>
              </a:ext>
            </a:extLst>
          </p:cNvPr>
          <p:cNvSpPr/>
          <p:nvPr/>
        </p:nvSpPr>
        <p:spPr>
          <a:xfrm>
            <a:off x="5130698" y="3073527"/>
            <a:ext cx="181051" cy="226314"/>
          </a:xfrm>
          <a:prstGeom prst="roundRect">
            <a:avLst>
              <a:gd name="adj" fmla="val 40000"/>
            </a:avLst>
          </a:prstGeom>
          <a:solidFill>
            <a:srgbClr val="F0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46" name="Rounded Rectangle 54">
            <a:extLst>
              <a:ext uri="{FF2B5EF4-FFF2-40B4-BE49-F238E27FC236}">
                <a16:creationId xmlns:a16="http://schemas.microsoft.com/office/drawing/2014/main" id="{30A1A8C3-2BED-3314-7874-4E695FFC0EBF}"/>
              </a:ext>
            </a:extLst>
          </p:cNvPr>
          <p:cNvSpPr/>
          <p:nvPr/>
        </p:nvSpPr>
        <p:spPr>
          <a:xfrm>
            <a:off x="5760719" y="2628900"/>
            <a:ext cx="731520" cy="228600"/>
          </a:xfrm>
          <a:prstGeom prst="roundRect">
            <a:avLst>
              <a:gd name="adj" fmla="val 15000"/>
            </a:avLst>
          </a:prstGeom>
          <a:solidFill>
            <a:srgbClr val="363546"/>
          </a:solidFill>
          <a:ln w="5080">
            <a:solidFill>
              <a:srgbClr val="4AB0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47" name="Oval 346">
            <a:extLst>
              <a:ext uri="{FF2B5EF4-FFF2-40B4-BE49-F238E27FC236}">
                <a16:creationId xmlns:a16="http://schemas.microsoft.com/office/drawing/2014/main" id="{8BCD25C1-5324-A85E-9A48-F1FBA290E58B}"/>
              </a:ext>
            </a:extLst>
          </p:cNvPr>
          <p:cNvSpPr/>
          <p:nvPr/>
        </p:nvSpPr>
        <p:spPr>
          <a:xfrm>
            <a:off x="6327647" y="2702052"/>
            <a:ext cx="91440" cy="91440"/>
          </a:xfrm>
          <a:prstGeom prst="ellipse">
            <a:avLst/>
          </a:prstGeom>
          <a:solidFill>
            <a:srgbClr val="1D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48" name="Rounded Rectangle 56">
            <a:extLst>
              <a:ext uri="{FF2B5EF4-FFF2-40B4-BE49-F238E27FC236}">
                <a16:creationId xmlns:a16="http://schemas.microsoft.com/office/drawing/2014/main" id="{2ADCAB25-8434-80B0-FABD-04D4182CC227}"/>
              </a:ext>
            </a:extLst>
          </p:cNvPr>
          <p:cNvSpPr/>
          <p:nvPr/>
        </p:nvSpPr>
        <p:spPr>
          <a:xfrm>
            <a:off x="5760719" y="2921508"/>
            <a:ext cx="731520" cy="228600"/>
          </a:xfrm>
          <a:prstGeom prst="roundRect">
            <a:avLst>
              <a:gd name="adj" fmla="val 15000"/>
            </a:avLst>
          </a:prstGeom>
          <a:solidFill>
            <a:srgbClr val="F0B04A"/>
          </a:solidFill>
          <a:ln w="5080">
            <a:solidFill>
              <a:srgbClr val="4AB0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49" name="Oval 348">
            <a:extLst>
              <a:ext uri="{FF2B5EF4-FFF2-40B4-BE49-F238E27FC236}">
                <a16:creationId xmlns:a16="http://schemas.microsoft.com/office/drawing/2014/main" id="{E95F4634-493D-3F32-98E7-E84776106583}"/>
              </a:ext>
            </a:extLst>
          </p:cNvPr>
          <p:cNvSpPr/>
          <p:nvPr/>
        </p:nvSpPr>
        <p:spPr>
          <a:xfrm>
            <a:off x="6327647" y="2994660"/>
            <a:ext cx="91440" cy="91440"/>
          </a:xfrm>
          <a:prstGeom prst="ellipse">
            <a:avLst/>
          </a:prstGeom>
          <a:solidFill>
            <a:srgbClr val="1D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50" name="Rounded Rectangle 58">
            <a:extLst>
              <a:ext uri="{FF2B5EF4-FFF2-40B4-BE49-F238E27FC236}">
                <a16:creationId xmlns:a16="http://schemas.microsoft.com/office/drawing/2014/main" id="{3522F4D4-E4A6-DFB2-FCB1-5EE0FB608E5E}"/>
              </a:ext>
            </a:extLst>
          </p:cNvPr>
          <p:cNvSpPr/>
          <p:nvPr/>
        </p:nvSpPr>
        <p:spPr>
          <a:xfrm>
            <a:off x="5760719" y="3214116"/>
            <a:ext cx="731520" cy="228600"/>
          </a:xfrm>
          <a:prstGeom prst="roundRect">
            <a:avLst>
              <a:gd name="adj" fmla="val 15000"/>
            </a:avLst>
          </a:prstGeom>
          <a:solidFill>
            <a:srgbClr val="E86B6B"/>
          </a:solidFill>
          <a:ln w="5080">
            <a:solidFill>
              <a:srgbClr val="4AB0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51" name="Oval 350">
            <a:extLst>
              <a:ext uri="{FF2B5EF4-FFF2-40B4-BE49-F238E27FC236}">
                <a16:creationId xmlns:a16="http://schemas.microsoft.com/office/drawing/2014/main" id="{6FF7FA02-90CE-290E-3D18-B0B8CA986668}"/>
              </a:ext>
            </a:extLst>
          </p:cNvPr>
          <p:cNvSpPr/>
          <p:nvPr/>
        </p:nvSpPr>
        <p:spPr>
          <a:xfrm>
            <a:off x="6327647" y="3287268"/>
            <a:ext cx="91440" cy="91440"/>
          </a:xfrm>
          <a:prstGeom prst="ellipse">
            <a:avLst/>
          </a:prstGeom>
          <a:solidFill>
            <a:srgbClr val="1D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cxnSp>
        <p:nvCxnSpPr>
          <p:cNvPr id="352" name="Connector 60">
            <a:extLst>
              <a:ext uri="{FF2B5EF4-FFF2-40B4-BE49-F238E27FC236}">
                <a16:creationId xmlns:a16="http://schemas.microsoft.com/office/drawing/2014/main" id="{002E17B0-3A73-3358-236B-658B555EF148}"/>
              </a:ext>
            </a:extLst>
          </p:cNvPr>
          <p:cNvCxnSpPr/>
          <p:nvPr/>
        </p:nvCxnSpPr>
        <p:spPr>
          <a:xfrm>
            <a:off x="4892040" y="2446020"/>
            <a:ext cx="868679" cy="274320"/>
          </a:xfrm>
          <a:prstGeom prst="line">
            <a:avLst/>
          </a:prstGeom>
          <a:ln w="15240">
            <a:solidFill>
              <a:srgbClr val="F0B0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61">
            <a:extLst>
              <a:ext uri="{FF2B5EF4-FFF2-40B4-BE49-F238E27FC236}">
                <a16:creationId xmlns:a16="http://schemas.microsoft.com/office/drawing/2014/main" id="{D2A3C306-C190-7C7C-69F9-E7477E63FB09}"/>
              </a:ext>
            </a:extLst>
          </p:cNvPr>
          <p:cNvCxnSpPr/>
          <p:nvPr/>
        </p:nvCxnSpPr>
        <p:spPr>
          <a:xfrm>
            <a:off x="4892040" y="2793492"/>
            <a:ext cx="868679" cy="201168"/>
          </a:xfrm>
          <a:prstGeom prst="line">
            <a:avLst/>
          </a:prstGeom>
          <a:ln w="15240">
            <a:solidFill>
              <a:srgbClr val="F0B0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62">
            <a:extLst>
              <a:ext uri="{FF2B5EF4-FFF2-40B4-BE49-F238E27FC236}">
                <a16:creationId xmlns:a16="http://schemas.microsoft.com/office/drawing/2014/main" id="{E06FCFE1-5DD4-5ECC-318F-84F2DD96BEA7}"/>
              </a:ext>
            </a:extLst>
          </p:cNvPr>
          <p:cNvCxnSpPr/>
          <p:nvPr/>
        </p:nvCxnSpPr>
        <p:spPr>
          <a:xfrm>
            <a:off x="4892040" y="3140964"/>
            <a:ext cx="868679" cy="146304"/>
          </a:xfrm>
          <a:prstGeom prst="line">
            <a:avLst/>
          </a:prstGeom>
          <a:ln w="15240">
            <a:solidFill>
              <a:srgbClr val="F0B0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5" name="Rounded Rectangle 63">
            <a:extLst>
              <a:ext uri="{FF2B5EF4-FFF2-40B4-BE49-F238E27FC236}">
                <a16:creationId xmlns:a16="http://schemas.microsoft.com/office/drawing/2014/main" id="{3E626FF2-0203-9090-40FD-899F13F54B09}"/>
              </a:ext>
            </a:extLst>
          </p:cNvPr>
          <p:cNvSpPr/>
          <p:nvPr/>
        </p:nvSpPr>
        <p:spPr>
          <a:xfrm>
            <a:off x="5234940" y="2464308"/>
            <a:ext cx="201168" cy="182880"/>
          </a:xfrm>
          <a:prstGeom prst="roundRect">
            <a:avLst>
              <a:gd name="adj" fmla="val 35000"/>
            </a:avLst>
          </a:prstGeom>
          <a:solidFill>
            <a:srgbClr val="363546"/>
          </a:solidFill>
          <a:ln w="5080">
            <a:solidFill>
              <a:srgbClr val="6BCB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4F79E5D6-EFBF-0668-0D3D-16F9FE7C9D15}"/>
              </a:ext>
            </a:extLst>
          </p:cNvPr>
          <p:cNvSpPr txBox="1"/>
          <p:nvPr/>
        </p:nvSpPr>
        <p:spPr>
          <a:xfrm>
            <a:off x="5234940" y="2455164"/>
            <a:ext cx="201168" cy="1712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BCB9E"/>
                </a:solidFill>
                <a:latin typeface="Overpass Black"/>
              </a:rPr>
              <a:t>✓</a:t>
            </a:r>
          </a:p>
        </p:txBody>
      </p:sp>
      <p:sp>
        <p:nvSpPr>
          <p:cNvPr id="357" name="Rounded Rectangle 65">
            <a:extLst>
              <a:ext uri="{FF2B5EF4-FFF2-40B4-BE49-F238E27FC236}">
                <a16:creationId xmlns:a16="http://schemas.microsoft.com/office/drawing/2014/main" id="{3863EDAA-60C7-72C5-248C-73FFCB6F4173}"/>
              </a:ext>
            </a:extLst>
          </p:cNvPr>
          <p:cNvSpPr/>
          <p:nvPr/>
        </p:nvSpPr>
        <p:spPr>
          <a:xfrm>
            <a:off x="5234940" y="2775204"/>
            <a:ext cx="201168" cy="182880"/>
          </a:xfrm>
          <a:prstGeom prst="roundRect">
            <a:avLst>
              <a:gd name="adj" fmla="val 35000"/>
            </a:avLst>
          </a:prstGeom>
          <a:solidFill>
            <a:srgbClr val="363546"/>
          </a:solidFill>
          <a:ln w="5080">
            <a:solidFill>
              <a:srgbClr val="6BCB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58" name="TextBox 357">
            <a:extLst>
              <a:ext uri="{FF2B5EF4-FFF2-40B4-BE49-F238E27FC236}">
                <a16:creationId xmlns:a16="http://schemas.microsoft.com/office/drawing/2014/main" id="{E7CBB414-C194-EF55-B311-7AD153B240E5}"/>
              </a:ext>
            </a:extLst>
          </p:cNvPr>
          <p:cNvSpPr txBox="1"/>
          <p:nvPr/>
        </p:nvSpPr>
        <p:spPr>
          <a:xfrm>
            <a:off x="5234940" y="2766060"/>
            <a:ext cx="201168" cy="1712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BCB9E"/>
                </a:solidFill>
                <a:latin typeface="Overpass Black"/>
              </a:rPr>
              <a:t>✓</a:t>
            </a:r>
          </a:p>
        </p:txBody>
      </p:sp>
      <p:sp>
        <p:nvSpPr>
          <p:cNvPr id="359" name="Rounded Rectangle 67">
            <a:extLst>
              <a:ext uri="{FF2B5EF4-FFF2-40B4-BE49-F238E27FC236}">
                <a16:creationId xmlns:a16="http://schemas.microsoft.com/office/drawing/2014/main" id="{FCBE012C-5492-7CA5-78B4-4703FAA964DA}"/>
              </a:ext>
            </a:extLst>
          </p:cNvPr>
          <p:cNvSpPr/>
          <p:nvPr/>
        </p:nvSpPr>
        <p:spPr>
          <a:xfrm>
            <a:off x="5234940" y="3095244"/>
            <a:ext cx="201168" cy="182880"/>
          </a:xfrm>
          <a:prstGeom prst="roundRect">
            <a:avLst>
              <a:gd name="adj" fmla="val 35000"/>
            </a:avLst>
          </a:prstGeom>
          <a:solidFill>
            <a:srgbClr val="363546"/>
          </a:solidFill>
          <a:ln w="5080">
            <a:solidFill>
              <a:srgbClr val="6BCB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60" name="TextBox 359">
            <a:extLst>
              <a:ext uri="{FF2B5EF4-FFF2-40B4-BE49-F238E27FC236}">
                <a16:creationId xmlns:a16="http://schemas.microsoft.com/office/drawing/2014/main" id="{4D5934E2-EE8E-0F72-037F-21D749617CAB}"/>
              </a:ext>
            </a:extLst>
          </p:cNvPr>
          <p:cNvSpPr txBox="1"/>
          <p:nvPr/>
        </p:nvSpPr>
        <p:spPr>
          <a:xfrm>
            <a:off x="5234940" y="3086100"/>
            <a:ext cx="201168" cy="1712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BCB9E"/>
                </a:solidFill>
                <a:latin typeface="Overpass Black"/>
              </a:rPr>
              <a:t>✓</a:t>
            </a:r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494D8F46-3265-F25B-A105-DE461B0CE9F6}"/>
              </a:ext>
            </a:extLst>
          </p:cNvPr>
          <p:cNvSpPr/>
          <p:nvPr/>
        </p:nvSpPr>
        <p:spPr>
          <a:xfrm>
            <a:off x="6995160" y="2491740"/>
            <a:ext cx="274320" cy="1371600"/>
          </a:xfrm>
          <a:prstGeom prst="rect">
            <a:avLst/>
          </a:prstGeom>
          <a:solidFill>
            <a:srgbClr val="363546"/>
          </a:solidFill>
          <a:ln w="6350">
            <a:solidFill>
              <a:srgbClr val="9A9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62" name="Rectangle 361">
            <a:extLst>
              <a:ext uri="{FF2B5EF4-FFF2-40B4-BE49-F238E27FC236}">
                <a16:creationId xmlns:a16="http://schemas.microsoft.com/office/drawing/2014/main" id="{DEFDA849-D6A2-690D-F008-18CC3AB8935A}"/>
              </a:ext>
            </a:extLst>
          </p:cNvPr>
          <p:cNvSpPr/>
          <p:nvPr/>
        </p:nvSpPr>
        <p:spPr>
          <a:xfrm>
            <a:off x="6995160" y="3497580"/>
            <a:ext cx="274320" cy="365760"/>
          </a:xfrm>
          <a:prstGeom prst="rect">
            <a:avLst/>
          </a:prstGeom>
          <a:solidFill>
            <a:srgbClr val="6BC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C045DE30-44AC-F048-1CB6-DCFB885646B0}"/>
              </a:ext>
            </a:extLst>
          </p:cNvPr>
          <p:cNvSpPr/>
          <p:nvPr/>
        </p:nvSpPr>
        <p:spPr>
          <a:xfrm>
            <a:off x="6995160" y="2948940"/>
            <a:ext cx="274320" cy="548640"/>
          </a:xfrm>
          <a:prstGeom prst="rect">
            <a:avLst/>
          </a:prstGeom>
          <a:solidFill>
            <a:srgbClr val="F0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64E6324C-9C21-F23A-8D93-6AC7EFCCE726}"/>
              </a:ext>
            </a:extLst>
          </p:cNvPr>
          <p:cNvSpPr/>
          <p:nvPr/>
        </p:nvSpPr>
        <p:spPr>
          <a:xfrm>
            <a:off x="6995160" y="2491740"/>
            <a:ext cx="274320" cy="457200"/>
          </a:xfrm>
          <a:prstGeom prst="rect">
            <a:avLst/>
          </a:prstGeom>
          <a:solidFill>
            <a:srgbClr val="E8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9544F976-BC5F-FCF1-2F4E-D4FD4D71A269}"/>
              </a:ext>
            </a:extLst>
          </p:cNvPr>
          <p:cNvSpPr txBox="1"/>
          <p:nvPr/>
        </p:nvSpPr>
        <p:spPr>
          <a:xfrm>
            <a:off x="7315200" y="2473452"/>
            <a:ext cx="640080" cy="1592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86B6B"/>
                </a:solidFill>
                <a:latin typeface="Overpass Black"/>
              </a:rPr>
              <a:t>100%</a:t>
            </a:r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C2A67E35-9737-0EF7-8069-2F661EB06A18}"/>
              </a:ext>
            </a:extLst>
          </p:cNvPr>
          <p:cNvSpPr txBox="1"/>
          <p:nvPr/>
        </p:nvSpPr>
        <p:spPr>
          <a:xfrm>
            <a:off x="7315200" y="3726180"/>
            <a:ext cx="640080" cy="1592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BCB9E"/>
                </a:solidFill>
                <a:latin typeface="Overpass Black"/>
              </a:rPr>
              <a:t>0%</a:t>
            </a:r>
          </a:p>
        </p:txBody>
      </p:sp>
      <p:sp>
        <p:nvSpPr>
          <p:cNvPr id="367" name="TextBox 366">
            <a:extLst>
              <a:ext uri="{FF2B5EF4-FFF2-40B4-BE49-F238E27FC236}">
                <a16:creationId xmlns:a16="http://schemas.microsoft.com/office/drawing/2014/main" id="{766C5200-EADF-DA0E-B676-23FFA529DA86}"/>
              </a:ext>
            </a:extLst>
          </p:cNvPr>
          <p:cNvSpPr txBox="1"/>
          <p:nvPr/>
        </p:nvSpPr>
        <p:spPr>
          <a:xfrm>
            <a:off x="6903720" y="2199132"/>
            <a:ext cx="73152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D0D0D8"/>
                </a:solidFill>
                <a:latin typeface="Overpass Black"/>
              </a:rPr>
              <a:t>LOAD</a:t>
            </a:r>
          </a:p>
        </p:txBody>
      </p:sp>
      <p:sp>
        <p:nvSpPr>
          <p:cNvPr id="368" name="Rounded Rectangle 76">
            <a:extLst>
              <a:ext uri="{FF2B5EF4-FFF2-40B4-BE49-F238E27FC236}">
                <a16:creationId xmlns:a16="http://schemas.microsoft.com/office/drawing/2014/main" id="{C3656874-34F7-0168-6491-4258F0741D9E}"/>
              </a:ext>
            </a:extLst>
          </p:cNvPr>
          <p:cNvSpPr/>
          <p:nvPr/>
        </p:nvSpPr>
        <p:spPr>
          <a:xfrm>
            <a:off x="4434840" y="4046220"/>
            <a:ext cx="1554480" cy="292608"/>
          </a:xfrm>
          <a:prstGeom prst="roundRect">
            <a:avLst>
              <a:gd name="adj" fmla="val 40000"/>
            </a:avLst>
          </a:prstGeom>
          <a:solidFill>
            <a:srgbClr val="363546"/>
          </a:solidFill>
          <a:ln w="8890">
            <a:solidFill>
              <a:srgbClr val="6BCB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DE7AD265-48B2-CC07-BEED-E7BE42CF3C93}"/>
              </a:ext>
            </a:extLst>
          </p:cNvPr>
          <p:cNvSpPr txBox="1"/>
          <p:nvPr/>
        </p:nvSpPr>
        <p:spPr>
          <a:xfrm>
            <a:off x="4434840" y="4091940"/>
            <a:ext cx="1554480" cy="1797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6BCB9E"/>
                </a:solidFill>
                <a:latin typeface="Overpass Black"/>
              </a:rPr>
              <a:t>✓  each request valid</a:t>
            </a:r>
          </a:p>
        </p:txBody>
      </p:sp>
      <p:sp>
        <p:nvSpPr>
          <p:cNvPr id="370" name="Rounded Rectangle 78">
            <a:extLst>
              <a:ext uri="{FF2B5EF4-FFF2-40B4-BE49-F238E27FC236}">
                <a16:creationId xmlns:a16="http://schemas.microsoft.com/office/drawing/2014/main" id="{4E22D794-A658-BB30-1D67-1F2840779DF6}"/>
              </a:ext>
            </a:extLst>
          </p:cNvPr>
          <p:cNvSpPr/>
          <p:nvPr/>
        </p:nvSpPr>
        <p:spPr>
          <a:xfrm>
            <a:off x="6263640" y="4046220"/>
            <a:ext cx="1554480" cy="292608"/>
          </a:xfrm>
          <a:prstGeom prst="roundRect">
            <a:avLst>
              <a:gd name="adj" fmla="val 40000"/>
            </a:avLst>
          </a:prstGeom>
          <a:solidFill>
            <a:srgbClr val="363546"/>
          </a:solidFill>
          <a:ln w="8890">
            <a:solidFill>
              <a:srgbClr val="E8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71" name="TextBox 370">
            <a:extLst>
              <a:ext uri="{FF2B5EF4-FFF2-40B4-BE49-F238E27FC236}">
                <a16:creationId xmlns:a16="http://schemas.microsoft.com/office/drawing/2014/main" id="{32769CDB-D119-229B-998F-CD0B9666690F}"/>
              </a:ext>
            </a:extLst>
          </p:cNvPr>
          <p:cNvSpPr txBox="1"/>
          <p:nvPr/>
        </p:nvSpPr>
        <p:spPr>
          <a:xfrm>
            <a:off x="6263640" y="4091940"/>
            <a:ext cx="1554480" cy="1797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E86B6B"/>
                </a:solidFill>
                <a:latin typeface="Overpass Black"/>
              </a:rPr>
              <a:t>✗  pattern fails</a:t>
            </a:r>
          </a:p>
        </p:txBody>
      </p:sp>
      <p:sp>
        <p:nvSpPr>
          <p:cNvPr id="372" name="TextBox 371">
            <a:extLst>
              <a:ext uri="{FF2B5EF4-FFF2-40B4-BE49-F238E27FC236}">
                <a16:creationId xmlns:a16="http://schemas.microsoft.com/office/drawing/2014/main" id="{B8FCC5DF-C3E4-9E99-03BB-513C94A63D7B}"/>
              </a:ext>
            </a:extLst>
          </p:cNvPr>
          <p:cNvSpPr txBox="1"/>
          <p:nvPr/>
        </p:nvSpPr>
        <p:spPr>
          <a:xfrm>
            <a:off x="4480559" y="4640580"/>
            <a:ext cx="3291839" cy="543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b="0" i="0">
                <a:solidFill>
                  <a:srgbClr val="FFFFFF"/>
                </a:solidFill>
                <a:latin typeface="Overpass"/>
              </a:rPr>
              <a:t>A coordinated group floods a platform with legitimate-looking requests.</a:t>
            </a:r>
          </a:p>
        </p:txBody>
      </p:sp>
      <p:sp>
        <p:nvSpPr>
          <p:cNvPr id="373" name="TextBox 372">
            <a:extLst>
              <a:ext uri="{FF2B5EF4-FFF2-40B4-BE49-F238E27FC236}">
                <a16:creationId xmlns:a16="http://schemas.microsoft.com/office/drawing/2014/main" id="{072779F6-70D7-BFE4-21A0-DAE6F390563C}"/>
              </a:ext>
            </a:extLst>
          </p:cNvPr>
          <p:cNvSpPr txBox="1"/>
          <p:nvPr/>
        </p:nvSpPr>
        <p:spPr>
          <a:xfrm>
            <a:off x="4480559" y="5326380"/>
            <a:ext cx="3291839" cy="247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1" i="1">
                <a:solidFill>
                  <a:srgbClr val="08F4D6"/>
                </a:solidFill>
                <a:latin typeface="Overpass"/>
              </a:rPr>
              <a:t>No exploit was used.</a:t>
            </a:r>
          </a:p>
        </p:txBody>
      </p:sp>
      <p:sp>
        <p:nvSpPr>
          <p:cNvPr id="374" name="TextBox 373">
            <a:extLst>
              <a:ext uri="{FF2B5EF4-FFF2-40B4-BE49-F238E27FC236}">
                <a16:creationId xmlns:a16="http://schemas.microsoft.com/office/drawing/2014/main" id="{70BCBD85-DFDE-4C4B-92DA-CA2BB715CD34}"/>
              </a:ext>
            </a:extLst>
          </p:cNvPr>
          <p:cNvSpPr txBox="1"/>
          <p:nvPr/>
        </p:nvSpPr>
        <p:spPr>
          <a:xfrm>
            <a:off x="8321039" y="1564005"/>
            <a:ext cx="3291839" cy="2831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8F4D6"/>
                </a:solidFill>
                <a:latin typeface="Overpass Black"/>
              </a:rPr>
              <a:t>03  ·  IMPERSONATION</a:t>
            </a:r>
          </a:p>
        </p:txBody>
      </p:sp>
      <p:sp>
        <p:nvSpPr>
          <p:cNvPr id="375" name="Rounded Rectangle 83">
            <a:extLst>
              <a:ext uri="{FF2B5EF4-FFF2-40B4-BE49-F238E27FC236}">
                <a16:creationId xmlns:a16="http://schemas.microsoft.com/office/drawing/2014/main" id="{91001C00-ECC4-AD42-E458-F29A6F2AA848}"/>
              </a:ext>
            </a:extLst>
          </p:cNvPr>
          <p:cNvSpPr/>
          <p:nvPr/>
        </p:nvSpPr>
        <p:spPr>
          <a:xfrm>
            <a:off x="8458199" y="2217420"/>
            <a:ext cx="3017520" cy="685800"/>
          </a:xfrm>
          <a:prstGeom prst="roundRect">
            <a:avLst>
              <a:gd name="adj" fmla="val 10000"/>
            </a:avLst>
          </a:prstGeom>
          <a:solidFill>
            <a:srgbClr val="363546"/>
          </a:solidFill>
          <a:ln w="10160">
            <a:solidFill>
              <a:srgbClr val="6BCB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76" name="Oval 375">
            <a:extLst>
              <a:ext uri="{FF2B5EF4-FFF2-40B4-BE49-F238E27FC236}">
                <a16:creationId xmlns:a16="http://schemas.microsoft.com/office/drawing/2014/main" id="{3C000949-7709-5C38-90CB-6B5C2ABF78F2}"/>
              </a:ext>
            </a:extLst>
          </p:cNvPr>
          <p:cNvSpPr/>
          <p:nvPr/>
        </p:nvSpPr>
        <p:spPr>
          <a:xfrm>
            <a:off x="8595359" y="2400300"/>
            <a:ext cx="320040" cy="320040"/>
          </a:xfrm>
          <a:prstGeom prst="ellipse">
            <a:avLst/>
          </a:prstGeom>
          <a:solidFill>
            <a:srgbClr val="6BC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DA21B5E0-EAFC-B2E4-565B-E6A4BDF25549}"/>
              </a:ext>
            </a:extLst>
          </p:cNvPr>
          <p:cNvSpPr txBox="1"/>
          <p:nvPr/>
        </p:nvSpPr>
        <p:spPr>
          <a:xfrm>
            <a:off x="8595359" y="2418588"/>
            <a:ext cx="320040" cy="273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D1C28"/>
                </a:solidFill>
                <a:latin typeface="Overpass Black"/>
              </a:rPr>
              <a:t>✓</a:t>
            </a:r>
          </a:p>
        </p:txBody>
      </p:sp>
      <p:sp>
        <p:nvSpPr>
          <p:cNvPr id="378" name="TextBox 377">
            <a:extLst>
              <a:ext uri="{FF2B5EF4-FFF2-40B4-BE49-F238E27FC236}">
                <a16:creationId xmlns:a16="http://schemas.microsoft.com/office/drawing/2014/main" id="{E1C7DADB-3822-864F-BDDC-479936CB9BE0}"/>
              </a:ext>
            </a:extLst>
          </p:cNvPr>
          <p:cNvSpPr txBox="1"/>
          <p:nvPr/>
        </p:nvSpPr>
        <p:spPr>
          <a:xfrm>
            <a:off x="9006839" y="2308860"/>
            <a:ext cx="20116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BCB9E"/>
                </a:solidFill>
                <a:latin typeface="Overpass Black"/>
              </a:rPr>
              <a:t>REAL  ·  trusted</a:t>
            </a:r>
          </a:p>
        </p:txBody>
      </p:sp>
      <p:sp>
        <p:nvSpPr>
          <p:cNvPr id="379" name="TextBox 378">
            <a:extLst>
              <a:ext uri="{FF2B5EF4-FFF2-40B4-BE49-F238E27FC236}">
                <a16:creationId xmlns:a16="http://schemas.microsoft.com/office/drawing/2014/main" id="{E55FB189-325A-C696-DEBE-22C3B6B7453D}"/>
              </a:ext>
            </a:extLst>
          </p:cNvPr>
          <p:cNvSpPr txBox="1"/>
          <p:nvPr/>
        </p:nvSpPr>
        <p:spPr>
          <a:xfrm>
            <a:off x="9006839" y="2546604"/>
            <a:ext cx="2011680" cy="298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onsolas"/>
              </a:rPr>
              <a:t>@john_doe</a:t>
            </a:r>
          </a:p>
        </p:txBody>
      </p:sp>
      <p:sp>
        <p:nvSpPr>
          <p:cNvPr id="380" name="TextBox 379">
            <a:extLst>
              <a:ext uri="{FF2B5EF4-FFF2-40B4-BE49-F238E27FC236}">
                <a16:creationId xmlns:a16="http://schemas.microsoft.com/office/drawing/2014/main" id="{2A850DF6-79BD-9998-3866-C586DFE36328}"/>
              </a:ext>
            </a:extLst>
          </p:cNvPr>
          <p:cNvSpPr txBox="1"/>
          <p:nvPr/>
        </p:nvSpPr>
        <p:spPr>
          <a:xfrm>
            <a:off x="9404906" y="2976372"/>
            <a:ext cx="2267107" cy="247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b="0" i="1" dirty="0">
                <a:solidFill>
                  <a:srgbClr val="F0B04A"/>
                </a:solidFill>
                <a:latin typeface="Overpass"/>
              </a:rPr>
              <a:t>↓  one-char</a:t>
            </a:r>
            <a:r>
              <a:rPr lang="en-US" b="0" i="1" dirty="0">
                <a:solidFill>
                  <a:srgbClr val="F0B04A"/>
                </a:solidFill>
                <a:latin typeface="Overpass"/>
              </a:rPr>
              <a:t>acter</a:t>
            </a:r>
            <a:r>
              <a:rPr b="0" i="1" dirty="0">
                <a:solidFill>
                  <a:srgbClr val="F0B04A"/>
                </a:solidFill>
                <a:latin typeface="Overpass"/>
              </a:rPr>
              <a:t> swap</a:t>
            </a:r>
          </a:p>
        </p:txBody>
      </p:sp>
      <p:sp>
        <p:nvSpPr>
          <p:cNvPr id="381" name="Rounded Rectangle 89">
            <a:extLst>
              <a:ext uri="{FF2B5EF4-FFF2-40B4-BE49-F238E27FC236}">
                <a16:creationId xmlns:a16="http://schemas.microsoft.com/office/drawing/2014/main" id="{0A8D21D8-9123-0282-621C-C81AD286DB1B}"/>
              </a:ext>
            </a:extLst>
          </p:cNvPr>
          <p:cNvSpPr/>
          <p:nvPr/>
        </p:nvSpPr>
        <p:spPr>
          <a:xfrm>
            <a:off x="8458199" y="3268980"/>
            <a:ext cx="3017520" cy="685800"/>
          </a:xfrm>
          <a:prstGeom prst="roundRect">
            <a:avLst>
              <a:gd name="adj" fmla="val 10000"/>
            </a:avLst>
          </a:prstGeom>
          <a:solidFill>
            <a:srgbClr val="363546"/>
          </a:solidFill>
          <a:ln w="10160">
            <a:solidFill>
              <a:srgbClr val="E8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82" name="Oval 381">
            <a:extLst>
              <a:ext uri="{FF2B5EF4-FFF2-40B4-BE49-F238E27FC236}">
                <a16:creationId xmlns:a16="http://schemas.microsoft.com/office/drawing/2014/main" id="{1380447F-2C1F-4330-BD27-224DC0340519}"/>
              </a:ext>
            </a:extLst>
          </p:cNvPr>
          <p:cNvSpPr/>
          <p:nvPr/>
        </p:nvSpPr>
        <p:spPr>
          <a:xfrm>
            <a:off x="8595359" y="3451860"/>
            <a:ext cx="320040" cy="320040"/>
          </a:xfrm>
          <a:prstGeom prst="ellipse">
            <a:avLst/>
          </a:prstGeom>
          <a:solidFill>
            <a:srgbClr val="E8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83" name="Oval 382">
            <a:extLst>
              <a:ext uri="{FF2B5EF4-FFF2-40B4-BE49-F238E27FC236}">
                <a16:creationId xmlns:a16="http://schemas.microsoft.com/office/drawing/2014/main" id="{01A55B20-B2A0-1534-CFB9-F8088AEFC7B7}"/>
              </a:ext>
            </a:extLst>
          </p:cNvPr>
          <p:cNvSpPr/>
          <p:nvPr/>
        </p:nvSpPr>
        <p:spPr>
          <a:xfrm>
            <a:off x="8631935" y="3488436"/>
            <a:ext cx="246888" cy="246888"/>
          </a:xfrm>
          <a:prstGeom prst="ellipse">
            <a:avLst/>
          </a:prstGeom>
          <a:solidFill>
            <a:srgbClr val="1D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84" name="TextBox 383">
            <a:extLst>
              <a:ext uri="{FF2B5EF4-FFF2-40B4-BE49-F238E27FC236}">
                <a16:creationId xmlns:a16="http://schemas.microsoft.com/office/drawing/2014/main" id="{2257CBB5-373E-BE55-B678-4523E7CAE2EF}"/>
              </a:ext>
            </a:extLst>
          </p:cNvPr>
          <p:cNvSpPr txBox="1"/>
          <p:nvPr/>
        </p:nvSpPr>
        <p:spPr>
          <a:xfrm>
            <a:off x="9006839" y="3360420"/>
            <a:ext cx="20116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86B6B"/>
                </a:solidFill>
                <a:latin typeface="Overpass Black"/>
              </a:rPr>
              <a:t>IMPOSTER  ·  unverified</a:t>
            </a:r>
          </a:p>
        </p:txBody>
      </p:sp>
      <p:sp>
        <p:nvSpPr>
          <p:cNvPr id="385" name="TextBox 384">
            <a:extLst>
              <a:ext uri="{FF2B5EF4-FFF2-40B4-BE49-F238E27FC236}">
                <a16:creationId xmlns:a16="http://schemas.microsoft.com/office/drawing/2014/main" id="{99DA626F-D933-5B5E-FE11-366428F0F98F}"/>
              </a:ext>
            </a:extLst>
          </p:cNvPr>
          <p:cNvSpPr txBox="1"/>
          <p:nvPr/>
        </p:nvSpPr>
        <p:spPr>
          <a:xfrm>
            <a:off x="9006839" y="3598164"/>
            <a:ext cx="1139736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onsolas"/>
              </a:rPr>
              <a:t>@john_d</a:t>
            </a:r>
            <a:r>
              <a:rPr sz="1800" b="1">
                <a:solidFill>
                  <a:srgbClr val="E86B6B"/>
                </a:solidFill>
                <a:latin typeface="Consolas"/>
              </a:rPr>
              <a:t>0</a:t>
            </a:r>
            <a:r>
              <a:rPr sz="1800" b="1">
                <a:solidFill>
                  <a:srgbClr val="FFFFFF"/>
                </a:solidFill>
                <a:latin typeface="Consolas"/>
              </a:rPr>
              <a:t>e</a:t>
            </a:r>
          </a:p>
        </p:txBody>
      </p:sp>
      <p:sp>
        <p:nvSpPr>
          <p:cNvPr id="386" name="Rounded Rectangle 94">
            <a:extLst>
              <a:ext uri="{FF2B5EF4-FFF2-40B4-BE49-F238E27FC236}">
                <a16:creationId xmlns:a16="http://schemas.microsoft.com/office/drawing/2014/main" id="{E379AA5E-D27D-8C20-B38C-2069F038D232}"/>
              </a:ext>
            </a:extLst>
          </p:cNvPr>
          <p:cNvSpPr/>
          <p:nvPr/>
        </p:nvSpPr>
        <p:spPr>
          <a:xfrm>
            <a:off x="8341994" y="4046220"/>
            <a:ext cx="1554480" cy="292608"/>
          </a:xfrm>
          <a:prstGeom prst="roundRect">
            <a:avLst>
              <a:gd name="adj" fmla="val 40000"/>
            </a:avLst>
          </a:prstGeom>
          <a:solidFill>
            <a:srgbClr val="363546"/>
          </a:solidFill>
          <a:ln w="8890">
            <a:solidFill>
              <a:srgbClr val="6BCB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87" name="TextBox 386">
            <a:extLst>
              <a:ext uri="{FF2B5EF4-FFF2-40B4-BE49-F238E27FC236}">
                <a16:creationId xmlns:a16="http://schemas.microsoft.com/office/drawing/2014/main" id="{38CB1358-8920-1984-C412-064DFC8C56B8}"/>
              </a:ext>
            </a:extLst>
          </p:cNvPr>
          <p:cNvSpPr txBox="1"/>
          <p:nvPr/>
        </p:nvSpPr>
        <p:spPr>
          <a:xfrm>
            <a:off x="8341994" y="4091940"/>
            <a:ext cx="1554480" cy="1797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6BCB9E"/>
                </a:solidFill>
                <a:latin typeface="Overpass Black"/>
              </a:rPr>
              <a:t>✓  trust granted</a:t>
            </a:r>
          </a:p>
        </p:txBody>
      </p:sp>
      <p:sp>
        <p:nvSpPr>
          <p:cNvPr id="388" name="Rounded Rectangle 96">
            <a:extLst>
              <a:ext uri="{FF2B5EF4-FFF2-40B4-BE49-F238E27FC236}">
                <a16:creationId xmlns:a16="http://schemas.microsoft.com/office/drawing/2014/main" id="{9A46224D-D367-0767-E318-BCE6E64B8F4C}"/>
              </a:ext>
            </a:extLst>
          </p:cNvPr>
          <p:cNvSpPr/>
          <p:nvPr/>
        </p:nvSpPr>
        <p:spPr>
          <a:xfrm>
            <a:off x="10056494" y="4046220"/>
            <a:ext cx="1554480" cy="292608"/>
          </a:xfrm>
          <a:prstGeom prst="roundRect">
            <a:avLst>
              <a:gd name="adj" fmla="val 40000"/>
            </a:avLst>
          </a:prstGeom>
          <a:solidFill>
            <a:srgbClr val="363546"/>
          </a:solidFill>
          <a:ln w="8890">
            <a:solidFill>
              <a:srgbClr val="E8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389" name="TextBox 388">
            <a:extLst>
              <a:ext uri="{FF2B5EF4-FFF2-40B4-BE49-F238E27FC236}">
                <a16:creationId xmlns:a16="http://schemas.microsoft.com/office/drawing/2014/main" id="{EE125664-88B1-C4B5-2DA8-71457B672322}"/>
              </a:ext>
            </a:extLst>
          </p:cNvPr>
          <p:cNvSpPr txBox="1"/>
          <p:nvPr/>
        </p:nvSpPr>
        <p:spPr>
          <a:xfrm>
            <a:off x="10056494" y="4091940"/>
            <a:ext cx="1554480" cy="1797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E86B6B"/>
                </a:solidFill>
                <a:latin typeface="Overpass Black"/>
              </a:rPr>
              <a:t>✗  identity false</a:t>
            </a:r>
          </a:p>
        </p:txBody>
      </p:sp>
      <p:sp>
        <p:nvSpPr>
          <p:cNvPr id="390" name="TextBox 389">
            <a:extLst>
              <a:ext uri="{FF2B5EF4-FFF2-40B4-BE49-F238E27FC236}">
                <a16:creationId xmlns:a16="http://schemas.microsoft.com/office/drawing/2014/main" id="{E59DD467-20B5-5C6F-481E-7D3B2AFACB96}"/>
              </a:ext>
            </a:extLst>
          </p:cNvPr>
          <p:cNvSpPr txBox="1"/>
          <p:nvPr/>
        </p:nvSpPr>
        <p:spPr>
          <a:xfrm>
            <a:off x="8321039" y="4640580"/>
            <a:ext cx="3291839" cy="543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b="0" i="0">
                <a:solidFill>
                  <a:srgbClr val="FFFFFF"/>
                </a:solidFill>
                <a:latin typeface="Overpass"/>
              </a:rPr>
              <a:t>A trusted identity is impersonated through a one-character name variation.</a:t>
            </a:r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EAC50DFA-BAF7-9A9F-7703-D4A989964696}"/>
              </a:ext>
            </a:extLst>
          </p:cNvPr>
          <p:cNvSpPr txBox="1"/>
          <p:nvPr/>
        </p:nvSpPr>
        <p:spPr>
          <a:xfrm>
            <a:off x="8321039" y="5326380"/>
            <a:ext cx="3291839" cy="247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1" i="1">
                <a:solidFill>
                  <a:srgbClr val="08F4D6"/>
                </a:solidFill>
                <a:latin typeface="Overpass"/>
              </a:rPr>
              <a:t>No authentication failed.</a:t>
            </a: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0FEFA0B1-82AD-C358-C364-D3ECDABDB538}"/>
              </a:ext>
            </a:extLst>
          </p:cNvPr>
          <p:cNvSpPr/>
          <p:nvPr/>
        </p:nvSpPr>
        <p:spPr>
          <a:xfrm>
            <a:off x="411480" y="22100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G.H.O.S.T  |  INTRO</a:t>
            </a:r>
            <a:endParaRPr lang="en-US" sz="1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2" grpId="0"/>
      <p:bldP spid="293" grpId="0" animBg="1"/>
      <p:bldP spid="294" grpId="0" animBg="1"/>
      <p:bldP spid="295" grpId="0" animBg="1"/>
      <p:bldP spid="296" grpId="0" animBg="1"/>
      <p:bldP spid="297" grpId="0" animBg="1"/>
      <p:bldP spid="298" grpId="0" animBg="1"/>
      <p:bldP spid="302" grpId="0"/>
      <p:bldP spid="303" grpId="0" animBg="1"/>
      <p:bldP spid="304" grpId="0" animBg="1"/>
      <p:bldP spid="305" grpId="0" animBg="1"/>
      <p:bldP spid="306" grpId="0"/>
      <p:bldP spid="307" grpId="0" animBg="1"/>
      <p:bldP spid="308" grpId="0" animBg="1"/>
      <p:bldP spid="309" grpId="0"/>
      <p:bldP spid="310" grpId="0" animBg="1"/>
      <p:bldP spid="311" grpId="0"/>
      <p:bldP spid="312" grpId="0" animBg="1"/>
      <p:bldP spid="313" grpId="0"/>
      <p:bldP spid="314" grpId="0" animBg="1"/>
      <p:bldP spid="317" grpId="0"/>
      <p:bldP spid="318" grpId="0" animBg="1"/>
      <p:bldP spid="319" grpId="0"/>
      <p:bldP spid="320" grpId="0"/>
      <p:bldP spid="321" grpId="0" animBg="1"/>
      <p:bldP spid="322" grpId="0"/>
      <p:bldP spid="323" grpId="0" animBg="1"/>
      <p:bldP spid="324" grpId="0"/>
      <p:bldP spid="325" grpId="0"/>
      <p:bldP spid="326" grpId="0"/>
      <p:bldP spid="327" grpId="0"/>
      <p:bldP spid="328" grpId="0" animBg="1"/>
      <p:bldP spid="329" grpId="0" animBg="1"/>
      <p:bldP spid="330" grpId="0" animBg="1"/>
      <p:bldP spid="331" grpId="0" animBg="1"/>
      <p:bldP spid="332" grpId="0" animBg="1"/>
      <p:bldP spid="333" grpId="0" animBg="1"/>
      <p:bldP spid="334" grpId="0" animBg="1"/>
      <p:bldP spid="335" grpId="0" animBg="1"/>
      <p:bldP spid="336" grpId="0" animBg="1"/>
      <p:bldP spid="337" grpId="0" animBg="1"/>
      <p:bldP spid="338" grpId="0" animBg="1"/>
      <p:bldP spid="339" grpId="0" animBg="1"/>
      <p:bldP spid="340" grpId="0" animBg="1"/>
      <p:bldP spid="341" grpId="0" animBg="1"/>
      <p:bldP spid="342" grpId="0" animBg="1"/>
      <p:bldP spid="343" grpId="0" animBg="1"/>
      <p:bldP spid="344" grpId="0" animBg="1"/>
      <p:bldP spid="345" grpId="0" animBg="1"/>
      <p:bldP spid="346" grpId="0" animBg="1"/>
      <p:bldP spid="347" grpId="0" animBg="1"/>
      <p:bldP spid="348" grpId="0" animBg="1"/>
      <p:bldP spid="349" grpId="0" animBg="1"/>
      <p:bldP spid="350" grpId="0" animBg="1"/>
      <p:bldP spid="351" grpId="0" animBg="1"/>
      <p:bldP spid="355" grpId="0" animBg="1"/>
      <p:bldP spid="356" grpId="0"/>
      <p:bldP spid="357" grpId="0" animBg="1"/>
      <p:bldP spid="358" grpId="0"/>
      <p:bldP spid="359" grpId="0" animBg="1"/>
      <p:bldP spid="360" grpId="0"/>
      <p:bldP spid="361" grpId="0" animBg="1"/>
      <p:bldP spid="362" grpId="0" animBg="1"/>
      <p:bldP spid="363" grpId="0" animBg="1"/>
      <p:bldP spid="364" grpId="0" animBg="1"/>
      <p:bldP spid="365" grpId="0"/>
      <p:bldP spid="366" grpId="0"/>
      <p:bldP spid="367" grpId="0"/>
      <p:bldP spid="368" grpId="0" animBg="1"/>
      <p:bldP spid="369" grpId="0"/>
      <p:bldP spid="370" grpId="0" animBg="1"/>
      <p:bldP spid="371" grpId="0"/>
      <p:bldP spid="372" grpId="0"/>
      <p:bldP spid="373" grpId="0"/>
      <p:bldP spid="374" grpId="0"/>
      <p:bldP spid="375" grpId="0" animBg="1"/>
      <p:bldP spid="376" grpId="0" animBg="1"/>
      <p:bldP spid="377" grpId="0"/>
      <p:bldP spid="378" grpId="0"/>
      <p:bldP spid="379" grpId="0"/>
      <p:bldP spid="380" grpId="0"/>
      <p:bldP spid="381" grpId="0" animBg="1"/>
      <p:bldP spid="382" grpId="0" animBg="1"/>
      <p:bldP spid="383" grpId="0" animBg="1"/>
      <p:bldP spid="384" grpId="0"/>
      <p:bldP spid="385" grpId="0"/>
      <p:bldP spid="386" grpId="0" animBg="1"/>
      <p:bldP spid="387" grpId="0"/>
      <p:bldP spid="388" grpId="0" animBg="1"/>
      <p:bldP spid="389" grpId="0"/>
      <p:bldP spid="390" grpId="0"/>
      <p:bldP spid="39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>
          <a:extLst>
            <a:ext uri="{FF2B5EF4-FFF2-40B4-BE49-F238E27FC236}">
              <a16:creationId xmlns:a16="http://schemas.microsoft.com/office/drawing/2014/main" id="{CA985FE5-A840-FB2E-1E12-2D1099AC5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0">
            <a:extLst>
              <a:ext uri="{FF2B5EF4-FFF2-40B4-BE49-F238E27FC236}">
                <a16:creationId xmlns:a16="http://schemas.microsoft.com/office/drawing/2014/main" id="{7F81CEA6-B076-6117-884D-A77BBB019526}"/>
              </a:ext>
            </a:extLst>
          </p:cNvPr>
          <p:cNvSpPr/>
          <p:nvPr/>
        </p:nvSpPr>
        <p:spPr>
          <a:xfrm>
            <a:off x="411480" y="22100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G.H.O.S.T  |  </a:t>
            </a:r>
            <a:r>
              <a:rPr lang="en-US" sz="1000" b="1" spc="6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EXISTING RESEARCH REFERENCES</a:t>
            </a:r>
            <a:endParaRPr lang="en-US" sz="1000" b="1" dirty="0"/>
          </a:p>
        </p:txBody>
      </p:sp>
      <p:sp>
        <p:nvSpPr>
          <p:cNvPr id="2" name="Google Shape;315;p47">
            <a:extLst>
              <a:ext uri="{FF2B5EF4-FFF2-40B4-BE49-F238E27FC236}">
                <a16:creationId xmlns:a16="http://schemas.microsoft.com/office/drawing/2014/main" id="{3FFE4186-0504-A917-0CC7-5D16E44C351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71399" y="590500"/>
            <a:ext cx="10176705" cy="304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Existing knowledge on socio-technical risks</a:t>
            </a:r>
            <a:endParaRPr sz="3200" dirty="0"/>
          </a:p>
        </p:txBody>
      </p:sp>
      <p:sp>
        <p:nvSpPr>
          <p:cNvPr id="42" name="Shape 3">
            <a:extLst>
              <a:ext uri="{FF2B5EF4-FFF2-40B4-BE49-F238E27FC236}">
                <a16:creationId xmlns:a16="http://schemas.microsoft.com/office/drawing/2014/main" id="{963764EF-917F-B84C-7C0A-2BE9DACFD43C}"/>
              </a:ext>
            </a:extLst>
          </p:cNvPr>
          <p:cNvSpPr/>
          <p:nvPr/>
        </p:nvSpPr>
        <p:spPr>
          <a:xfrm>
            <a:off x="457200" y="1682115"/>
            <a:ext cx="3749040" cy="502920"/>
          </a:xfrm>
          <a:prstGeom prst="rect">
            <a:avLst/>
          </a:prstGeom>
          <a:solidFill>
            <a:srgbClr val="243049"/>
          </a:solidFill>
          <a:ln w="15875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">
            <a:extLst>
              <a:ext uri="{FF2B5EF4-FFF2-40B4-BE49-F238E27FC236}">
                <a16:creationId xmlns:a16="http://schemas.microsoft.com/office/drawing/2014/main" id="{927BD23D-D323-0A1E-217B-B8660BFBCD64}"/>
              </a:ext>
            </a:extLst>
          </p:cNvPr>
          <p:cNvSpPr/>
          <p:nvPr/>
        </p:nvSpPr>
        <p:spPr>
          <a:xfrm>
            <a:off x="621792" y="1682115"/>
            <a:ext cx="3419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ACADEMIC</a:t>
            </a:r>
            <a:endParaRPr lang="en-US" sz="1300" dirty="0"/>
          </a:p>
        </p:txBody>
      </p:sp>
      <p:sp>
        <p:nvSpPr>
          <p:cNvPr id="44" name="Text 5">
            <a:extLst>
              <a:ext uri="{FF2B5EF4-FFF2-40B4-BE49-F238E27FC236}">
                <a16:creationId xmlns:a16="http://schemas.microsoft.com/office/drawing/2014/main" id="{C93600DE-F835-0654-096D-A383C9171634}"/>
              </a:ext>
            </a:extLst>
          </p:cNvPr>
          <p:cNvSpPr/>
          <p:nvPr/>
        </p:nvSpPr>
        <p:spPr>
          <a:xfrm>
            <a:off x="502920" y="2249043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9AA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Formal threat models for user-to-user harm</a:t>
            </a:r>
            <a:endParaRPr lang="en-US" sz="1100" dirty="0"/>
          </a:p>
        </p:txBody>
      </p:sp>
      <p:sp>
        <p:nvSpPr>
          <p:cNvPr id="45" name="Shape 6">
            <a:extLst>
              <a:ext uri="{FF2B5EF4-FFF2-40B4-BE49-F238E27FC236}">
                <a16:creationId xmlns:a16="http://schemas.microsoft.com/office/drawing/2014/main" id="{3D3C50FA-257E-081E-E0F8-FFD12E85D128}"/>
              </a:ext>
            </a:extLst>
          </p:cNvPr>
          <p:cNvSpPr/>
          <p:nvPr/>
        </p:nvSpPr>
        <p:spPr>
          <a:xfrm>
            <a:off x="457200" y="2687955"/>
            <a:ext cx="45720" cy="853440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7">
            <a:extLst>
              <a:ext uri="{FF2B5EF4-FFF2-40B4-BE49-F238E27FC236}">
                <a16:creationId xmlns:a16="http://schemas.microsoft.com/office/drawing/2014/main" id="{156605A7-1AFD-6871-5416-C7DD7E457102}"/>
              </a:ext>
            </a:extLst>
          </p:cNvPr>
          <p:cNvSpPr/>
          <p:nvPr/>
        </p:nvSpPr>
        <p:spPr>
          <a:xfrm>
            <a:off x="621792" y="2660523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Abusability Analysis</a:t>
            </a:r>
            <a:endParaRPr lang="en-US" sz="1300" dirty="0"/>
          </a:p>
        </p:txBody>
      </p:sp>
      <p:sp>
        <p:nvSpPr>
          <p:cNvPr id="47" name="Text 8">
            <a:extLst>
              <a:ext uri="{FF2B5EF4-FFF2-40B4-BE49-F238E27FC236}">
                <a16:creationId xmlns:a16="http://schemas.microsoft.com/office/drawing/2014/main" id="{E936E374-C725-6F1A-A014-DF84EA806835}"/>
              </a:ext>
            </a:extLst>
          </p:cNvPr>
          <p:cNvSpPr/>
          <p:nvPr/>
        </p:nvSpPr>
        <p:spPr>
          <a:xfrm>
            <a:off x="621792" y="3026283"/>
            <a:ext cx="352044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USENIX 2025 — generalised framework for at-risk users (IPV, trafficking, elder abuse).</a:t>
            </a:r>
            <a:endParaRPr lang="en-US" sz="1050" dirty="0"/>
          </a:p>
        </p:txBody>
      </p:sp>
      <p:sp>
        <p:nvSpPr>
          <p:cNvPr id="48" name="Shape 9">
            <a:extLst>
              <a:ext uri="{FF2B5EF4-FFF2-40B4-BE49-F238E27FC236}">
                <a16:creationId xmlns:a16="http://schemas.microsoft.com/office/drawing/2014/main" id="{433B7590-919C-5C43-93FC-5C7278B8E596}"/>
              </a:ext>
            </a:extLst>
          </p:cNvPr>
          <p:cNvSpPr/>
          <p:nvPr/>
        </p:nvSpPr>
        <p:spPr>
          <a:xfrm>
            <a:off x="457200" y="3769995"/>
            <a:ext cx="45720" cy="853440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10">
            <a:extLst>
              <a:ext uri="{FF2B5EF4-FFF2-40B4-BE49-F238E27FC236}">
                <a16:creationId xmlns:a16="http://schemas.microsoft.com/office/drawing/2014/main" id="{4EBDED90-E367-E931-E371-05E1252539F0}"/>
              </a:ext>
            </a:extLst>
          </p:cNvPr>
          <p:cNvSpPr/>
          <p:nvPr/>
        </p:nvSpPr>
        <p:spPr>
          <a:xfrm>
            <a:off x="621792" y="3742563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IPV Threat Model</a:t>
            </a:r>
            <a:endParaRPr lang="en-US" sz="1300" dirty="0"/>
          </a:p>
        </p:txBody>
      </p:sp>
      <p:sp>
        <p:nvSpPr>
          <p:cNvPr id="50" name="Text 11">
            <a:extLst>
              <a:ext uri="{FF2B5EF4-FFF2-40B4-BE49-F238E27FC236}">
                <a16:creationId xmlns:a16="http://schemas.microsoft.com/office/drawing/2014/main" id="{58A218FF-6AAB-D444-75A8-34673C71C79F}"/>
              </a:ext>
            </a:extLst>
          </p:cNvPr>
          <p:cNvSpPr/>
          <p:nvPr/>
        </p:nvSpPr>
        <p:spPr>
          <a:xfrm>
            <a:off x="621792" y="4108323"/>
            <a:ext cx="352044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Slupska et al. — dedicated threat model for technology-facilitated abuse.</a:t>
            </a:r>
            <a:endParaRPr lang="en-US" sz="105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E091AE5F-D280-6EA7-BE7F-35E467676050}"/>
              </a:ext>
            </a:extLst>
          </p:cNvPr>
          <p:cNvSpPr/>
          <p:nvPr/>
        </p:nvSpPr>
        <p:spPr>
          <a:xfrm>
            <a:off x="457200" y="4852035"/>
            <a:ext cx="45720" cy="853440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13">
            <a:extLst>
              <a:ext uri="{FF2B5EF4-FFF2-40B4-BE49-F238E27FC236}">
                <a16:creationId xmlns:a16="http://schemas.microsoft.com/office/drawing/2014/main" id="{CAC98351-89F5-CB0E-8474-8BFD054786C5}"/>
              </a:ext>
            </a:extLst>
          </p:cNvPr>
          <p:cNvSpPr/>
          <p:nvPr/>
        </p:nvSpPr>
        <p:spPr>
          <a:xfrm>
            <a:off x="621792" y="4824603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LINDDUN</a:t>
            </a:r>
            <a:endParaRPr lang="en-US" sz="1300" dirty="0"/>
          </a:p>
        </p:txBody>
      </p:sp>
      <p:sp>
        <p:nvSpPr>
          <p:cNvPr id="53" name="Text 14">
            <a:extLst>
              <a:ext uri="{FF2B5EF4-FFF2-40B4-BE49-F238E27FC236}">
                <a16:creationId xmlns:a16="http://schemas.microsoft.com/office/drawing/2014/main" id="{723E62F5-1583-FE65-1D55-5E116F6746E2}"/>
              </a:ext>
            </a:extLst>
          </p:cNvPr>
          <p:cNvSpPr/>
          <p:nvPr/>
        </p:nvSpPr>
        <p:spPr>
          <a:xfrm>
            <a:off x="621792" y="5190363"/>
            <a:ext cx="352044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STRIDE-modelled privacy framework: identifiability, linkability, unawareness.</a:t>
            </a:r>
            <a:endParaRPr lang="en-US" sz="1050" dirty="0"/>
          </a:p>
        </p:txBody>
      </p:sp>
      <p:sp>
        <p:nvSpPr>
          <p:cNvPr id="54" name="Shape 15">
            <a:extLst>
              <a:ext uri="{FF2B5EF4-FFF2-40B4-BE49-F238E27FC236}">
                <a16:creationId xmlns:a16="http://schemas.microsoft.com/office/drawing/2014/main" id="{A9D35AD5-B7C1-34F9-8F63-51992204E589}"/>
              </a:ext>
            </a:extLst>
          </p:cNvPr>
          <p:cNvSpPr/>
          <p:nvPr/>
        </p:nvSpPr>
        <p:spPr>
          <a:xfrm>
            <a:off x="4370832" y="1682115"/>
            <a:ext cx="3749040" cy="502920"/>
          </a:xfrm>
          <a:prstGeom prst="rect">
            <a:avLst/>
          </a:prstGeom>
          <a:solidFill>
            <a:srgbClr val="243049"/>
          </a:solidFill>
          <a:ln w="15875">
            <a:solidFill>
              <a:srgbClr val="F0B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16">
            <a:extLst>
              <a:ext uri="{FF2B5EF4-FFF2-40B4-BE49-F238E27FC236}">
                <a16:creationId xmlns:a16="http://schemas.microsoft.com/office/drawing/2014/main" id="{5BC3DE83-E1E2-B001-5CD4-4E8954671346}"/>
              </a:ext>
            </a:extLst>
          </p:cNvPr>
          <p:cNvSpPr/>
          <p:nvPr/>
        </p:nvSpPr>
        <p:spPr>
          <a:xfrm>
            <a:off x="4535424" y="1682115"/>
            <a:ext cx="3419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0B04A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INDUSTRY  /  OPS</a:t>
            </a:r>
            <a:endParaRPr lang="en-US" sz="1300" dirty="0"/>
          </a:p>
        </p:txBody>
      </p:sp>
      <p:sp>
        <p:nvSpPr>
          <p:cNvPr id="56" name="Text 17">
            <a:extLst>
              <a:ext uri="{FF2B5EF4-FFF2-40B4-BE49-F238E27FC236}">
                <a16:creationId xmlns:a16="http://schemas.microsoft.com/office/drawing/2014/main" id="{F5160F95-5D3F-F6E1-5CCC-E9C35F971D5E}"/>
              </a:ext>
            </a:extLst>
          </p:cNvPr>
          <p:cNvSpPr/>
          <p:nvPr/>
        </p:nvSpPr>
        <p:spPr>
          <a:xfrm>
            <a:off x="4416552" y="2249043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9AA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Operational frameworks from T&amp;S practice</a:t>
            </a:r>
            <a:endParaRPr lang="en-US" sz="1100" dirty="0"/>
          </a:p>
        </p:txBody>
      </p:sp>
      <p:sp>
        <p:nvSpPr>
          <p:cNvPr id="57" name="Shape 18">
            <a:extLst>
              <a:ext uri="{FF2B5EF4-FFF2-40B4-BE49-F238E27FC236}">
                <a16:creationId xmlns:a16="http://schemas.microsoft.com/office/drawing/2014/main" id="{2535F482-BCB7-924A-F774-DB50A87FDC2A}"/>
              </a:ext>
            </a:extLst>
          </p:cNvPr>
          <p:cNvSpPr/>
          <p:nvPr/>
        </p:nvSpPr>
        <p:spPr>
          <a:xfrm>
            <a:off x="4370832" y="2687955"/>
            <a:ext cx="45720" cy="853440"/>
          </a:xfrm>
          <a:prstGeom prst="rect">
            <a:avLst/>
          </a:prstGeom>
          <a:solidFill>
            <a:srgbClr val="F0B04A"/>
          </a:solidFill>
          <a:ln w="12700">
            <a:solidFill>
              <a:srgbClr val="F0B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EBBB57F8-86A3-E7C2-2429-9BE1EE0EE52F}"/>
              </a:ext>
            </a:extLst>
          </p:cNvPr>
          <p:cNvSpPr/>
          <p:nvPr/>
        </p:nvSpPr>
        <p:spPr>
          <a:xfrm>
            <a:off x="4535424" y="2660523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DISARM (ex-AMITT)</a:t>
            </a:r>
            <a:endParaRPr lang="en-US" sz="1300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C6DEAC94-CF5E-81F9-1BD8-00DA558A0583}"/>
              </a:ext>
            </a:extLst>
          </p:cNvPr>
          <p:cNvSpPr/>
          <p:nvPr/>
        </p:nvSpPr>
        <p:spPr>
          <a:xfrm>
            <a:off x="4535424" y="3026283"/>
            <a:ext cx="352044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MITRE-style framework for influence ops and coordinated inauthentic behaviour.</a:t>
            </a:r>
            <a:endParaRPr lang="en-US" sz="1050" dirty="0"/>
          </a:p>
        </p:txBody>
      </p:sp>
      <p:sp>
        <p:nvSpPr>
          <p:cNvPr id="60" name="Shape 21">
            <a:extLst>
              <a:ext uri="{FF2B5EF4-FFF2-40B4-BE49-F238E27FC236}">
                <a16:creationId xmlns:a16="http://schemas.microsoft.com/office/drawing/2014/main" id="{CFCFCB1A-F63E-BD36-E561-3CE4967A13F8}"/>
              </a:ext>
            </a:extLst>
          </p:cNvPr>
          <p:cNvSpPr/>
          <p:nvPr/>
        </p:nvSpPr>
        <p:spPr>
          <a:xfrm>
            <a:off x="4370832" y="3769995"/>
            <a:ext cx="45720" cy="853440"/>
          </a:xfrm>
          <a:prstGeom prst="rect">
            <a:avLst/>
          </a:prstGeom>
          <a:solidFill>
            <a:srgbClr val="F0B04A"/>
          </a:solidFill>
          <a:ln w="12700">
            <a:solidFill>
              <a:srgbClr val="F0B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22">
            <a:extLst>
              <a:ext uri="{FF2B5EF4-FFF2-40B4-BE49-F238E27FC236}">
                <a16:creationId xmlns:a16="http://schemas.microsoft.com/office/drawing/2014/main" id="{34D8468C-CE19-209B-721A-4B8C7FF252CA}"/>
              </a:ext>
            </a:extLst>
          </p:cNvPr>
          <p:cNvSpPr/>
          <p:nvPr/>
        </p:nvSpPr>
        <p:spPr>
          <a:xfrm>
            <a:off x="4535424" y="3742563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FIST (June 2025)</a:t>
            </a:r>
            <a:endParaRPr lang="en-US" sz="1300" dirty="0"/>
          </a:p>
        </p:txBody>
      </p:sp>
      <p:sp>
        <p:nvSpPr>
          <p:cNvPr id="62" name="Text 23">
            <a:extLst>
              <a:ext uri="{FF2B5EF4-FFF2-40B4-BE49-F238E27FC236}">
                <a16:creationId xmlns:a16="http://schemas.microsoft.com/office/drawing/2014/main" id="{633A5930-1342-484F-BC2F-D18BE16D62E6}"/>
              </a:ext>
            </a:extLst>
          </p:cNvPr>
          <p:cNvSpPr/>
          <p:nvPr/>
        </p:nvSpPr>
        <p:spPr>
          <a:xfrm>
            <a:off x="4535424" y="4108323"/>
            <a:ext cx="352044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Fraud Incident Structured Threat — psychological + technical fraud modeling.</a:t>
            </a:r>
            <a:endParaRPr lang="en-US" sz="1050" dirty="0"/>
          </a:p>
        </p:txBody>
      </p:sp>
      <p:sp>
        <p:nvSpPr>
          <p:cNvPr id="63" name="Shape 24">
            <a:extLst>
              <a:ext uri="{FF2B5EF4-FFF2-40B4-BE49-F238E27FC236}">
                <a16:creationId xmlns:a16="http://schemas.microsoft.com/office/drawing/2014/main" id="{1E0C9A93-9394-EC42-BA75-3E47DDB57065}"/>
              </a:ext>
            </a:extLst>
          </p:cNvPr>
          <p:cNvSpPr/>
          <p:nvPr/>
        </p:nvSpPr>
        <p:spPr>
          <a:xfrm>
            <a:off x="4370832" y="4852035"/>
            <a:ext cx="45720" cy="853440"/>
          </a:xfrm>
          <a:prstGeom prst="rect">
            <a:avLst/>
          </a:prstGeom>
          <a:solidFill>
            <a:srgbClr val="F0B04A"/>
          </a:solidFill>
          <a:ln w="12700">
            <a:solidFill>
              <a:srgbClr val="F0B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8" name="Text 25">
            <a:extLst>
              <a:ext uri="{FF2B5EF4-FFF2-40B4-BE49-F238E27FC236}">
                <a16:creationId xmlns:a16="http://schemas.microsoft.com/office/drawing/2014/main" id="{A6E33B86-A0DB-371F-9906-EDA5941F2DDA}"/>
              </a:ext>
            </a:extLst>
          </p:cNvPr>
          <p:cNvSpPr/>
          <p:nvPr/>
        </p:nvSpPr>
        <p:spPr>
          <a:xfrm>
            <a:off x="4535424" y="4824603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Trust &amp; Safety bodies</a:t>
            </a:r>
            <a:endParaRPr lang="en-US" sz="1300" dirty="0"/>
          </a:p>
        </p:txBody>
      </p:sp>
      <p:sp>
        <p:nvSpPr>
          <p:cNvPr id="449" name="Text 26">
            <a:extLst>
              <a:ext uri="{FF2B5EF4-FFF2-40B4-BE49-F238E27FC236}">
                <a16:creationId xmlns:a16="http://schemas.microsoft.com/office/drawing/2014/main" id="{E2DDFE05-154C-F5E2-A176-EB887A28668C}"/>
              </a:ext>
            </a:extLst>
          </p:cNvPr>
          <p:cNvSpPr/>
          <p:nvPr/>
        </p:nvSpPr>
        <p:spPr>
          <a:xfrm>
            <a:off x="4535424" y="5190363"/>
            <a:ext cx="352044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DTSP Safe Framework (now ISO/IEC 25389), ActiveFence (incl. Spectrum Labs) — established T&amp;S methodology.</a:t>
            </a:r>
            <a:endParaRPr lang="en-US" sz="1050" dirty="0"/>
          </a:p>
        </p:txBody>
      </p:sp>
      <p:sp>
        <p:nvSpPr>
          <p:cNvPr id="450" name="Shape 27">
            <a:extLst>
              <a:ext uri="{FF2B5EF4-FFF2-40B4-BE49-F238E27FC236}">
                <a16:creationId xmlns:a16="http://schemas.microsoft.com/office/drawing/2014/main" id="{1910D091-4903-0AD9-5612-5C0DDB35F5AE}"/>
              </a:ext>
            </a:extLst>
          </p:cNvPr>
          <p:cNvSpPr/>
          <p:nvPr/>
        </p:nvSpPr>
        <p:spPr>
          <a:xfrm>
            <a:off x="8284464" y="1682115"/>
            <a:ext cx="3749040" cy="502920"/>
          </a:xfrm>
          <a:prstGeom prst="rect">
            <a:avLst/>
          </a:prstGeom>
          <a:solidFill>
            <a:srgbClr val="243049"/>
          </a:solidFill>
          <a:ln w="15875">
            <a:solidFill>
              <a:srgbClr val="E8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1" name="Text 28">
            <a:extLst>
              <a:ext uri="{FF2B5EF4-FFF2-40B4-BE49-F238E27FC236}">
                <a16:creationId xmlns:a16="http://schemas.microsoft.com/office/drawing/2014/main" id="{9AC8DF67-20E4-CCFF-DB4B-BBC7F1421C56}"/>
              </a:ext>
            </a:extLst>
          </p:cNvPr>
          <p:cNvSpPr/>
          <p:nvPr/>
        </p:nvSpPr>
        <p:spPr>
          <a:xfrm>
            <a:off x="8449056" y="1682115"/>
            <a:ext cx="3419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86B6B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REGULATORY</a:t>
            </a:r>
            <a:endParaRPr lang="en-US" sz="1300" dirty="0"/>
          </a:p>
        </p:txBody>
      </p:sp>
      <p:sp>
        <p:nvSpPr>
          <p:cNvPr id="452" name="Text 29">
            <a:extLst>
              <a:ext uri="{FF2B5EF4-FFF2-40B4-BE49-F238E27FC236}">
                <a16:creationId xmlns:a16="http://schemas.microsoft.com/office/drawing/2014/main" id="{78991F53-1642-F252-3696-392996C3A152}"/>
              </a:ext>
            </a:extLst>
          </p:cNvPr>
          <p:cNvSpPr/>
          <p:nvPr/>
        </p:nvSpPr>
        <p:spPr>
          <a:xfrm>
            <a:off x="8330184" y="2249043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9AA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Statutory duties driving systemic risk assessment</a:t>
            </a:r>
            <a:endParaRPr lang="en-US" sz="1100" dirty="0"/>
          </a:p>
        </p:txBody>
      </p:sp>
      <p:sp>
        <p:nvSpPr>
          <p:cNvPr id="453" name="Shape 30">
            <a:extLst>
              <a:ext uri="{FF2B5EF4-FFF2-40B4-BE49-F238E27FC236}">
                <a16:creationId xmlns:a16="http://schemas.microsoft.com/office/drawing/2014/main" id="{268F9E81-CC29-406B-A9A1-6A243230A874}"/>
              </a:ext>
            </a:extLst>
          </p:cNvPr>
          <p:cNvSpPr/>
          <p:nvPr/>
        </p:nvSpPr>
        <p:spPr>
          <a:xfrm>
            <a:off x="8284464" y="2687955"/>
            <a:ext cx="45720" cy="853440"/>
          </a:xfrm>
          <a:prstGeom prst="rect">
            <a:avLst/>
          </a:prstGeom>
          <a:solidFill>
            <a:srgbClr val="E86B6B"/>
          </a:solidFill>
          <a:ln w="12700">
            <a:solidFill>
              <a:srgbClr val="E8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4" name="Text 31">
            <a:extLst>
              <a:ext uri="{FF2B5EF4-FFF2-40B4-BE49-F238E27FC236}">
                <a16:creationId xmlns:a16="http://schemas.microsoft.com/office/drawing/2014/main" id="{77C3DD80-7456-9668-0593-DFDA3CE9F810}"/>
              </a:ext>
            </a:extLst>
          </p:cNvPr>
          <p:cNvSpPr/>
          <p:nvPr/>
        </p:nvSpPr>
        <p:spPr>
          <a:xfrm>
            <a:off x="8449056" y="2660523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DSA Art. 34 / 35</a:t>
            </a:r>
            <a:endParaRPr lang="en-US" sz="1300" dirty="0"/>
          </a:p>
        </p:txBody>
      </p:sp>
      <p:sp>
        <p:nvSpPr>
          <p:cNvPr id="455" name="Text 32">
            <a:extLst>
              <a:ext uri="{FF2B5EF4-FFF2-40B4-BE49-F238E27FC236}">
                <a16:creationId xmlns:a16="http://schemas.microsoft.com/office/drawing/2014/main" id="{F6599359-E24D-802C-0A67-87D23798CA63}"/>
              </a:ext>
            </a:extLst>
          </p:cNvPr>
          <p:cNvSpPr/>
          <p:nvPr/>
        </p:nvSpPr>
        <p:spPr>
          <a:xfrm>
            <a:off x="8449056" y="3026283"/>
            <a:ext cx="352044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VLOPs must assess systemic risk: minors, mental health, civic discourse, fundamental rights.</a:t>
            </a:r>
            <a:endParaRPr lang="en-US" sz="1050" dirty="0"/>
          </a:p>
        </p:txBody>
      </p:sp>
      <p:sp>
        <p:nvSpPr>
          <p:cNvPr id="456" name="Shape 33">
            <a:extLst>
              <a:ext uri="{FF2B5EF4-FFF2-40B4-BE49-F238E27FC236}">
                <a16:creationId xmlns:a16="http://schemas.microsoft.com/office/drawing/2014/main" id="{08CAFCE2-CABF-B9FB-1F90-214AC45A4474}"/>
              </a:ext>
            </a:extLst>
          </p:cNvPr>
          <p:cNvSpPr/>
          <p:nvPr/>
        </p:nvSpPr>
        <p:spPr>
          <a:xfrm>
            <a:off x="8284464" y="3769995"/>
            <a:ext cx="45720" cy="853440"/>
          </a:xfrm>
          <a:prstGeom prst="rect">
            <a:avLst/>
          </a:prstGeom>
          <a:solidFill>
            <a:srgbClr val="E86B6B"/>
          </a:solidFill>
          <a:ln w="12700">
            <a:solidFill>
              <a:srgbClr val="E8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7" name="Text 34">
            <a:extLst>
              <a:ext uri="{FF2B5EF4-FFF2-40B4-BE49-F238E27FC236}">
                <a16:creationId xmlns:a16="http://schemas.microsoft.com/office/drawing/2014/main" id="{B35244A1-FDD4-0124-2A34-A91CA7C668BA}"/>
              </a:ext>
            </a:extLst>
          </p:cNvPr>
          <p:cNvSpPr/>
          <p:nvPr/>
        </p:nvSpPr>
        <p:spPr>
          <a:xfrm>
            <a:off x="8449056" y="3742563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Ofcom abusability testing</a:t>
            </a:r>
            <a:endParaRPr lang="en-US" sz="1300" dirty="0"/>
          </a:p>
        </p:txBody>
      </p:sp>
      <p:sp>
        <p:nvSpPr>
          <p:cNvPr id="458" name="Text 35">
            <a:extLst>
              <a:ext uri="{FF2B5EF4-FFF2-40B4-BE49-F238E27FC236}">
                <a16:creationId xmlns:a16="http://schemas.microsoft.com/office/drawing/2014/main" id="{3C1E75CD-8D69-F139-E639-422762BA017C}"/>
              </a:ext>
            </a:extLst>
          </p:cNvPr>
          <p:cNvSpPr/>
          <p:nvPr/>
        </p:nvSpPr>
        <p:spPr>
          <a:xfrm>
            <a:off x="8449056" y="4108323"/>
            <a:ext cx="352044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UK Online Safety Act — platforms must test how features enable malicious users.</a:t>
            </a:r>
            <a:endParaRPr lang="en-US" sz="1050" dirty="0"/>
          </a:p>
        </p:txBody>
      </p:sp>
      <p:sp>
        <p:nvSpPr>
          <p:cNvPr id="459" name="Shape 36">
            <a:extLst>
              <a:ext uri="{FF2B5EF4-FFF2-40B4-BE49-F238E27FC236}">
                <a16:creationId xmlns:a16="http://schemas.microsoft.com/office/drawing/2014/main" id="{4D331989-48F8-A3E2-17CF-F2F3872E566C}"/>
              </a:ext>
            </a:extLst>
          </p:cNvPr>
          <p:cNvSpPr/>
          <p:nvPr/>
        </p:nvSpPr>
        <p:spPr>
          <a:xfrm>
            <a:off x="8284464" y="4852035"/>
            <a:ext cx="45720" cy="853440"/>
          </a:xfrm>
          <a:prstGeom prst="rect">
            <a:avLst/>
          </a:prstGeom>
          <a:solidFill>
            <a:srgbClr val="E86B6B"/>
          </a:solidFill>
          <a:ln w="12700">
            <a:solidFill>
              <a:srgbClr val="E8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0" name="Text 37">
            <a:extLst>
              <a:ext uri="{FF2B5EF4-FFF2-40B4-BE49-F238E27FC236}">
                <a16:creationId xmlns:a16="http://schemas.microsoft.com/office/drawing/2014/main" id="{EA0E861C-71EB-7D38-BD98-C4D9A0C9F2D8}"/>
              </a:ext>
            </a:extLst>
          </p:cNvPr>
          <p:cNvSpPr/>
          <p:nvPr/>
        </p:nvSpPr>
        <p:spPr>
          <a:xfrm>
            <a:off x="8449056" y="4824603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Roblox Sentinel (OSS)</a:t>
            </a:r>
            <a:endParaRPr lang="en-US" sz="1300" dirty="0"/>
          </a:p>
        </p:txBody>
      </p:sp>
      <p:sp>
        <p:nvSpPr>
          <p:cNvPr id="461" name="Text 38">
            <a:extLst>
              <a:ext uri="{FF2B5EF4-FFF2-40B4-BE49-F238E27FC236}">
                <a16:creationId xmlns:a16="http://schemas.microsoft.com/office/drawing/2014/main" id="{9C2D3185-CC04-F3A3-B564-F305CAC15972}"/>
              </a:ext>
            </a:extLst>
          </p:cNvPr>
          <p:cNvSpPr/>
          <p:nvPr/>
        </p:nvSpPr>
        <p:spPr>
          <a:xfrm>
            <a:off x="8449056" y="5190363"/>
            <a:ext cx="352044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Production grooming-detection system, open-sourced for industry use.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889994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>
          <a:extLst>
            <a:ext uri="{FF2B5EF4-FFF2-40B4-BE49-F238E27FC236}">
              <a16:creationId xmlns:a16="http://schemas.microsoft.com/office/drawing/2014/main" id="{E0D4E5D0-D6FD-667D-3720-31D69E9F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2EE6D5C-BDDD-55D1-0807-2C901AE38AFD}"/>
              </a:ext>
            </a:extLst>
          </p:cNvPr>
          <p:cNvSpPr/>
          <p:nvPr/>
        </p:nvSpPr>
        <p:spPr>
          <a:xfrm>
            <a:off x="411480" y="22100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G.H.O.S.T  |  THE FRAMEWORK</a:t>
            </a:r>
            <a:endParaRPr lang="en-US" sz="1000" b="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750E15A-F709-495B-861D-DC05F93AB9BC}"/>
              </a:ext>
            </a:extLst>
          </p:cNvPr>
          <p:cNvSpPr/>
          <p:nvPr/>
        </p:nvSpPr>
        <p:spPr>
          <a:xfrm>
            <a:off x="457200" y="1737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A multiplayer game isn't just software.</a:t>
            </a:r>
            <a:endParaRPr lang="en-US" sz="3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5C435CA-1AF2-BD5D-1711-B5C7AE504CEB}"/>
              </a:ext>
            </a:extLst>
          </p:cNvPr>
          <p:cNvSpPr/>
          <p:nvPr/>
        </p:nvSpPr>
        <p:spPr>
          <a:xfrm>
            <a:off x="457200" y="2606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800" b="1" dirty="0">
                <a:solidFill>
                  <a:srgbClr val="FFFFFF"/>
                </a:solidFill>
                <a:latin typeface="Overpass Black" pitchFamily="34" charset="0"/>
              </a:rPr>
              <a:t>It's a living social ecosystem.</a:t>
            </a: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EC59B77D-A698-8490-BCA4-438B85061DF7}"/>
              </a:ext>
            </a:extLst>
          </p:cNvPr>
          <p:cNvSpPr/>
          <p:nvPr/>
        </p:nvSpPr>
        <p:spPr>
          <a:xfrm>
            <a:off x="457200" y="3931920"/>
            <a:ext cx="548640" cy="36576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E9A9BF49-82FA-3F4A-DF1A-DB9B9C2BCAEB}"/>
              </a:ext>
            </a:extLst>
          </p:cNvPr>
          <p:cNvSpPr/>
          <p:nvPr/>
        </p:nvSpPr>
        <p:spPr>
          <a:xfrm>
            <a:off x="457200" y="41605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So, we built a framework that treats it that way:</a:t>
            </a:r>
            <a:endParaRPr lang="en-US" sz="22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8DB521C2-6A14-5522-71E2-85B2201B0481}"/>
              </a:ext>
            </a:extLst>
          </p:cNvPr>
          <p:cNvSpPr/>
          <p:nvPr/>
        </p:nvSpPr>
        <p:spPr>
          <a:xfrm>
            <a:off x="457200" y="470916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0" b="1" kern="0" spc="400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G.H.O.S.T</a:t>
            </a:r>
            <a:endParaRPr lang="en-US" sz="10000" dirty="0"/>
          </a:p>
        </p:txBody>
      </p:sp>
    </p:spTree>
    <p:extLst>
      <p:ext uri="{BB962C8B-B14F-4D97-AF65-F5344CB8AC3E}">
        <p14:creationId xmlns:p14="http://schemas.microsoft.com/office/powerpoint/2010/main" val="170146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>
          <a:extLst>
            <a:ext uri="{FF2B5EF4-FFF2-40B4-BE49-F238E27FC236}">
              <a16:creationId xmlns:a16="http://schemas.microsoft.com/office/drawing/2014/main" id="{6B28F6B9-B620-53D0-26A3-2DF968BF6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7">
            <a:extLst>
              <a:ext uri="{FF2B5EF4-FFF2-40B4-BE49-F238E27FC236}">
                <a16:creationId xmlns:a16="http://schemas.microsoft.com/office/drawing/2014/main" id="{80444693-68B8-5C12-47B2-FC8F99EE4A5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71399" y="590500"/>
            <a:ext cx="10176705" cy="304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3200" dirty="0"/>
              <a:t>The Five Domains of G.H.O.S.T </a:t>
            </a:r>
            <a:endParaRPr sz="32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57E35A77-81BF-4620-06D7-74B57BCD33D1}"/>
              </a:ext>
            </a:extLst>
          </p:cNvPr>
          <p:cNvSpPr/>
          <p:nvPr/>
        </p:nvSpPr>
        <p:spPr>
          <a:xfrm>
            <a:off x="411480" y="22100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G.H.O.S.T  |  THE FRAMEWORK</a:t>
            </a:r>
            <a:endParaRPr lang="en-US" sz="1000" b="1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54E1BC0C-941D-E8CF-1E65-E41230E047CD}"/>
              </a:ext>
            </a:extLst>
          </p:cNvPr>
          <p:cNvSpPr/>
          <p:nvPr/>
        </p:nvSpPr>
        <p:spPr>
          <a:xfrm>
            <a:off x="365760" y="1078992"/>
            <a:ext cx="11521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 threat modeling framework built from first principles for player-driven systems.</a:t>
            </a:r>
            <a:endParaRPr lang="en-US" sz="1400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A56094E0-F376-C51F-36F5-BF55F099B1B8}"/>
              </a:ext>
            </a:extLst>
          </p:cNvPr>
          <p:cNvSpPr/>
          <p:nvPr/>
        </p:nvSpPr>
        <p:spPr>
          <a:xfrm>
            <a:off x="4863694" y="2669134"/>
            <a:ext cx="2434133" cy="2434133"/>
          </a:xfrm>
          <a:prstGeom prst="ellipse">
            <a:avLst/>
          </a:prstGeom>
          <a:solidFill>
            <a:srgbClr val="1A2540"/>
          </a:solidFill>
          <a:ln w="254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45A725F3-62C4-B4A1-C247-86CB5D3362A1}"/>
              </a:ext>
            </a:extLst>
          </p:cNvPr>
          <p:cNvSpPr/>
          <p:nvPr/>
        </p:nvSpPr>
        <p:spPr>
          <a:xfrm>
            <a:off x="5131449" y="2936889"/>
            <a:ext cx="1898623" cy="1898623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C157B4BD-FCD9-F77F-9721-6FAEDD175C49}"/>
              </a:ext>
            </a:extLst>
          </p:cNvPr>
          <p:cNvSpPr/>
          <p:nvPr/>
        </p:nvSpPr>
        <p:spPr>
          <a:xfrm>
            <a:off x="5166360" y="3566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spc="200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G.H.O.S.T</a:t>
            </a:r>
            <a:endParaRPr lang="en-US" sz="220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06E83405-859D-130D-A3BF-2F5C1FF1F2F7}"/>
              </a:ext>
            </a:extLst>
          </p:cNvPr>
          <p:cNvSpPr/>
          <p:nvPr/>
        </p:nvSpPr>
        <p:spPr>
          <a:xfrm>
            <a:off x="5166360" y="39319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Multiplayer game</a:t>
            </a:r>
            <a:endParaRPr lang="en-US" sz="1200" dirty="0"/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ECB8D6BE-4C7B-49FF-16DC-8F3F6F614E51}"/>
              </a:ext>
            </a:extLst>
          </p:cNvPr>
          <p:cNvSpPr/>
          <p:nvPr/>
        </p:nvSpPr>
        <p:spPr>
          <a:xfrm>
            <a:off x="5166360" y="40873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threat modeling</a:t>
            </a:r>
            <a:endParaRPr lang="en-US" sz="1200" dirty="0"/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406D873A-4FFD-AD25-FFB2-5C5AA32FBCB6}"/>
              </a:ext>
            </a:extLst>
          </p:cNvPr>
          <p:cNvSpPr/>
          <p:nvPr/>
        </p:nvSpPr>
        <p:spPr>
          <a:xfrm flipV="1">
            <a:off x="6080760" y="2514600"/>
            <a:ext cx="0" cy="457200"/>
          </a:xfrm>
          <a:prstGeom prst="line">
            <a:avLst/>
          </a:prstGeom>
          <a:noFill/>
          <a:ln w="19050">
            <a:solidFill>
              <a:srgbClr val="24304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11">
            <a:extLst>
              <a:ext uri="{FF2B5EF4-FFF2-40B4-BE49-F238E27FC236}">
                <a16:creationId xmlns:a16="http://schemas.microsoft.com/office/drawing/2014/main" id="{9D7806C2-C72E-CF0A-4245-BDE0266807AF}"/>
              </a:ext>
            </a:extLst>
          </p:cNvPr>
          <p:cNvSpPr/>
          <p:nvPr/>
        </p:nvSpPr>
        <p:spPr>
          <a:xfrm>
            <a:off x="5577840" y="1508760"/>
            <a:ext cx="1005840" cy="1005840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79FDCD81-9712-8A16-DEF2-46E2B5038F16}"/>
              </a:ext>
            </a:extLst>
          </p:cNvPr>
          <p:cNvSpPr/>
          <p:nvPr/>
        </p:nvSpPr>
        <p:spPr>
          <a:xfrm>
            <a:off x="5577840" y="15087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B1220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G</a:t>
            </a:r>
            <a:endParaRPr lang="en-US" sz="3200" dirty="0"/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2E11739C-4A16-D4AE-E0DD-185558CC60B7}"/>
              </a:ext>
            </a:extLst>
          </p:cNvPr>
          <p:cNvSpPr/>
          <p:nvPr/>
        </p:nvSpPr>
        <p:spPr>
          <a:xfrm>
            <a:off x="6766560" y="16459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GAMEPLAY</a:t>
            </a:r>
            <a:endParaRPr lang="en-US" sz="1600" dirty="0"/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2F65A29D-72EE-EA83-0A3F-825635EC32D4}"/>
              </a:ext>
            </a:extLst>
          </p:cNvPr>
          <p:cNvSpPr/>
          <p:nvPr/>
        </p:nvSpPr>
        <p:spPr>
          <a:xfrm>
            <a:off x="6766560" y="195681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Integrity of the platform's own rules and mechanics</a:t>
            </a:r>
            <a:endParaRPr lang="en-US" sz="1050" dirty="0"/>
          </a:p>
        </p:txBody>
      </p:sp>
      <p:sp>
        <p:nvSpPr>
          <p:cNvPr id="14" name="Shape 15">
            <a:extLst>
              <a:ext uri="{FF2B5EF4-FFF2-40B4-BE49-F238E27FC236}">
                <a16:creationId xmlns:a16="http://schemas.microsoft.com/office/drawing/2014/main" id="{E4764464-C24C-941E-3468-62FC5CC87FAC}"/>
              </a:ext>
            </a:extLst>
          </p:cNvPr>
          <p:cNvSpPr/>
          <p:nvPr/>
        </p:nvSpPr>
        <p:spPr>
          <a:xfrm flipV="1">
            <a:off x="6950406" y="3462352"/>
            <a:ext cx="434823" cy="141283"/>
          </a:xfrm>
          <a:prstGeom prst="line">
            <a:avLst/>
          </a:prstGeom>
          <a:noFill/>
          <a:ln w="19050">
            <a:solidFill>
              <a:srgbClr val="24304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6">
            <a:extLst>
              <a:ext uri="{FF2B5EF4-FFF2-40B4-BE49-F238E27FC236}">
                <a16:creationId xmlns:a16="http://schemas.microsoft.com/office/drawing/2014/main" id="{C39682A6-A1F3-3827-7B72-EFEB42D60042}"/>
              </a:ext>
            </a:extLst>
          </p:cNvPr>
          <p:cNvSpPr/>
          <p:nvPr/>
        </p:nvSpPr>
        <p:spPr>
          <a:xfrm>
            <a:off x="7360614" y="2804021"/>
            <a:ext cx="1005840" cy="1005840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FABF8574-C31E-38AA-F1AB-3501C6A4A9BF}"/>
              </a:ext>
            </a:extLst>
          </p:cNvPr>
          <p:cNvSpPr/>
          <p:nvPr/>
        </p:nvSpPr>
        <p:spPr>
          <a:xfrm>
            <a:off x="7360614" y="2804021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B1220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H</a:t>
            </a:r>
            <a:endParaRPr lang="en-US" sz="3200" dirty="0"/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F93B8EC7-42C6-CE62-84E1-0C2FE19044F6}"/>
              </a:ext>
            </a:extLst>
          </p:cNvPr>
          <p:cNvSpPr/>
          <p:nvPr/>
        </p:nvSpPr>
        <p:spPr>
          <a:xfrm>
            <a:off x="8472287" y="3017701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HARM</a:t>
            </a:r>
            <a:endParaRPr lang="en-US" sz="1600" dirty="0"/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C6F8FE39-7AF2-4BB1-D3E5-7EB884C3CC93}"/>
              </a:ext>
            </a:extLst>
          </p:cNvPr>
          <p:cNvSpPr/>
          <p:nvPr/>
        </p:nvSpPr>
        <p:spPr>
          <a:xfrm>
            <a:off x="8472287" y="3328597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Safety of users from harmful intent by other users</a:t>
            </a:r>
            <a:endParaRPr lang="en-US" sz="1050" dirty="0"/>
          </a:p>
        </p:txBody>
      </p:sp>
      <p:sp>
        <p:nvSpPr>
          <p:cNvPr id="19" name="Shape 20">
            <a:extLst>
              <a:ext uri="{FF2B5EF4-FFF2-40B4-BE49-F238E27FC236}">
                <a16:creationId xmlns:a16="http://schemas.microsoft.com/office/drawing/2014/main" id="{71AB5E23-C770-9045-594A-2643BB92431F}"/>
              </a:ext>
            </a:extLst>
          </p:cNvPr>
          <p:cNvSpPr/>
          <p:nvPr/>
        </p:nvSpPr>
        <p:spPr>
          <a:xfrm>
            <a:off x="6618231" y="4625965"/>
            <a:ext cx="268735" cy="369883"/>
          </a:xfrm>
          <a:prstGeom prst="line">
            <a:avLst/>
          </a:prstGeom>
          <a:noFill/>
          <a:ln w="19050">
            <a:solidFill>
              <a:srgbClr val="24304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21">
            <a:extLst>
              <a:ext uri="{FF2B5EF4-FFF2-40B4-BE49-F238E27FC236}">
                <a16:creationId xmlns:a16="http://schemas.microsoft.com/office/drawing/2014/main" id="{A0703A50-1978-45EA-0B48-63496B08B6C7}"/>
              </a:ext>
            </a:extLst>
          </p:cNvPr>
          <p:cNvSpPr/>
          <p:nvPr/>
        </p:nvSpPr>
        <p:spPr>
          <a:xfrm>
            <a:off x="6679655" y="4899799"/>
            <a:ext cx="1005840" cy="1005840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22">
            <a:extLst>
              <a:ext uri="{FF2B5EF4-FFF2-40B4-BE49-F238E27FC236}">
                <a16:creationId xmlns:a16="http://schemas.microsoft.com/office/drawing/2014/main" id="{17936C7A-9891-7A60-47EF-EE872EB92902}"/>
              </a:ext>
            </a:extLst>
          </p:cNvPr>
          <p:cNvSpPr/>
          <p:nvPr/>
        </p:nvSpPr>
        <p:spPr>
          <a:xfrm>
            <a:off x="6679655" y="4899799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B1220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O</a:t>
            </a:r>
            <a:endParaRPr lang="en-US" sz="3200" dirty="0"/>
          </a:p>
        </p:txBody>
      </p:sp>
      <p:sp>
        <p:nvSpPr>
          <p:cNvPr id="22" name="Text 23">
            <a:extLst>
              <a:ext uri="{FF2B5EF4-FFF2-40B4-BE49-F238E27FC236}">
                <a16:creationId xmlns:a16="http://schemas.microsoft.com/office/drawing/2014/main" id="{77335E3D-9174-0BFC-CD03-EBD809449D90}"/>
              </a:ext>
            </a:extLst>
          </p:cNvPr>
          <p:cNvSpPr/>
          <p:nvPr/>
        </p:nvSpPr>
        <p:spPr>
          <a:xfrm>
            <a:off x="7750940" y="5116845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OPERATIONS</a:t>
            </a:r>
            <a:endParaRPr lang="en-US" sz="1600" dirty="0"/>
          </a:p>
        </p:txBody>
      </p:sp>
      <p:sp>
        <p:nvSpPr>
          <p:cNvPr id="23" name="Text 24">
            <a:extLst>
              <a:ext uri="{FF2B5EF4-FFF2-40B4-BE49-F238E27FC236}">
                <a16:creationId xmlns:a16="http://schemas.microsoft.com/office/drawing/2014/main" id="{4CA1B298-C429-63BF-4C18-532E55A95F83}"/>
              </a:ext>
            </a:extLst>
          </p:cNvPr>
          <p:cNvSpPr/>
          <p:nvPr/>
        </p:nvSpPr>
        <p:spPr>
          <a:xfrm>
            <a:off x="7750940" y="5427741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Availability and consistency under adversarial conditions</a:t>
            </a:r>
            <a:endParaRPr lang="en-US" sz="1050" dirty="0"/>
          </a:p>
        </p:txBody>
      </p:sp>
      <p:sp>
        <p:nvSpPr>
          <p:cNvPr id="24" name="Shape 25">
            <a:extLst>
              <a:ext uri="{FF2B5EF4-FFF2-40B4-BE49-F238E27FC236}">
                <a16:creationId xmlns:a16="http://schemas.microsoft.com/office/drawing/2014/main" id="{F0905A8A-4538-DC13-63EF-1FF893134827}"/>
              </a:ext>
            </a:extLst>
          </p:cNvPr>
          <p:cNvSpPr/>
          <p:nvPr/>
        </p:nvSpPr>
        <p:spPr>
          <a:xfrm flipH="1">
            <a:off x="5274554" y="4625965"/>
            <a:ext cx="268735" cy="369883"/>
          </a:xfrm>
          <a:prstGeom prst="line">
            <a:avLst/>
          </a:prstGeom>
          <a:noFill/>
          <a:ln w="19050">
            <a:solidFill>
              <a:srgbClr val="24304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6">
            <a:extLst>
              <a:ext uri="{FF2B5EF4-FFF2-40B4-BE49-F238E27FC236}">
                <a16:creationId xmlns:a16="http://schemas.microsoft.com/office/drawing/2014/main" id="{D0679EA9-C90E-E398-628A-C49C95906039}"/>
              </a:ext>
            </a:extLst>
          </p:cNvPr>
          <p:cNvSpPr/>
          <p:nvPr/>
        </p:nvSpPr>
        <p:spPr>
          <a:xfrm>
            <a:off x="4476025" y="4899799"/>
            <a:ext cx="1005840" cy="1005840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7">
            <a:extLst>
              <a:ext uri="{FF2B5EF4-FFF2-40B4-BE49-F238E27FC236}">
                <a16:creationId xmlns:a16="http://schemas.microsoft.com/office/drawing/2014/main" id="{91A3AF07-501E-2D8B-B72B-3FF170C02173}"/>
              </a:ext>
            </a:extLst>
          </p:cNvPr>
          <p:cNvSpPr/>
          <p:nvPr/>
        </p:nvSpPr>
        <p:spPr>
          <a:xfrm>
            <a:off x="4476025" y="4899799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B1220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S</a:t>
            </a:r>
            <a:endParaRPr lang="en-US" sz="3200" dirty="0"/>
          </a:p>
        </p:txBody>
      </p:sp>
      <p:sp>
        <p:nvSpPr>
          <p:cNvPr id="27" name="Text 28">
            <a:extLst>
              <a:ext uri="{FF2B5EF4-FFF2-40B4-BE49-F238E27FC236}">
                <a16:creationId xmlns:a16="http://schemas.microsoft.com/office/drawing/2014/main" id="{C8A63253-CE7F-9C37-B08F-ADA993AE3C85}"/>
              </a:ext>
            </a:extLst>
          </p:cNvPr>
          <p:cNvSpPr/>
          <p:nvPr/>
        </p:nvSpPr>
        <p:spPr>
          <a:xfrm>
            <a:off x="1951325" y="5116845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SOCIAL</a:t>
            </a:r>
            <a:endParaRPr lang="en-US" sz="1600" dirty="0"/>
          </a:p>
        </p:txBody>
      </p:sp>
      <p:sp>
        <p:nvSpPr>
          <p:cNvPr id="28" name="Text 29">
            <a:extLst>
              <a:ext uri="{FF2B5EF4-FFF2-40B4-BE49-F238E27FC236}">
                <a16:creationId xmlns:a16="http://schemas.microsoft.com/office/drawing/2014/main" id="{3F3CD134-DC18-5A33-9E86-C916882C083F}"/>
              </a:ext>
            </a:extLst>
          </p:cNvPr>
          <p:cNvSpPr/>
          <p:nvPr/>
        </p:nvSpPr>
        <p:spPr>
          <a:xfrm>
            <a:off x="1951325" y="5427741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Authenticity of identity, attribution, and relationships</a:t>
            </a:r>
            <a:endParaRPr lang="en-US" sz="1050" dirty="0"/>
          </a:p>
        </p:txBody>
      </p:sp>
      <p:sp>
        <p:nvSpPr>
          <p:cNvPr id="29" name="Shape 30">
            <a:extLst>
              <a:ext uri="{FF2B5EF4-FFF2-40B4-BE49-F238E27FC236}">
                <a16:creationId xmlns:a16="http://schemas.microsoft.com/office/drawing/2014/main" id="{AAFF8D3D-7538-2591-4428-1CE0D008C3F7}"/>
              </a:ext>
            </a:extLst>
          </p:cNvPr>
          <p:cNvSpPr/>
          <p:nvPr/>
        </p:nvSpPr>
        <p:spPr>
          <a:xfrm flipH="1" flipV="1">
            <a:off x="4776291" y="3462352"/>
            <a:ext cx="434823" cy="141283"/>
          </a:xfrm>
          <a:prstGeom prst="line">
            <a:avLst/>
          </a:prstGeom>
          <a:noFill/>
          <a:ln w="19050">
            <a:solidFill>
              <a:srgbClr val="24304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31">
            <a:extLst>
              <a:ext uri="{FF2B5EF4-FFF2-40B4-BE49-F238E27FC236}">
                <a16:creationId xmlns:a16="http://schemas.microsoft.com/office/drawing/2014/main" id="{17324D50-699D-1729-A605-787601F5E742}"/>
              </a:ext>
            </a:extLst>
          </p:cNvPr>
          <p:cNvSpPr/>
          <p:nvPr/>
        </p:nvSpPr>
        <p:spPr>
          <a:xfrm>
            <a:off x="3795066" y="2804021"/>
            <a:ext cx="1005840" cy="1005840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6F6A48A9-5B33-18E2-EEE9-95C28F38251C}"/>
              </a:ext>
            </a:extLst>
          </p:cNvPr>
          <p:cNvSpPr/>
          <p:nvPr/>
        </p:nvSpPr>
        <p:spPr>
          <a:xfrm>
            <a:off x="3795066" y="2804021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B1220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T</a:t>
            </a:r>
            <a:endParaRPr lang="en-US" sz="3200" dirty="0"/>
          </a:p>
        </p:txBody>
      </p:sp>
      <p:sp>
        <p:nvSpPr>
          <p:cNvPr id="32" name="Text 33">
            <a:extLst>
              <a:ext uri="{FF2B5EF4-FFF2-40B4-BE49-F238E27FC236}">
                <a16:creationId xmlns:a16="http://schemas.microsoft.com/office/drawing/2014/main" id="{DF7D29AC-2F53-4576-8A50-93DA9D29FA22}"/>
              </a:ext>
            </a:extLst>
          </p:cNvPr>
          <p:cNvSpPr/>
          <p:nvPr/>
        </p:nvSpPr>
        <p:spPr>
          <a:xfrm>
            <a:off x="1220353" y="3017701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TRADE</a:t>
            </a:r>
            <a:endParaRPr lang="en-US" sz="1600" dirty="0"/>
          </a:p>
        </p:txBody>
      </p:sp>
      <p:sp>
        <p:nvSpPr>
          <p:cNvPr id="33" name="Text 34">
            <a:extLst>
              <a:ext uri="{FF2B5EF4-FFF2-40B4-BE49-F238E27FC236}">
                <a16:creationId xmlns:a16="http://schemas.microsoft.com/office/drawing/2014/main" id="{8B5B0781-D8F0-3E8B-BA71-58A9A6E08F38}"/>
              </a:ext>
            </a:extLst>
          </p:cNvPr>
          <p:cNvSpPr/>
          <p:nvPr/>
        </p:nvSpPr>
        <p:spPr>
          <a:xfrm>
            <a:off x="1220353" y="3328597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Legitimacy of value exchange and economic activity</a:t>
            </a:r>
            <a:endParaRPr lang="en-US" sz="1050" dirty="0"/>
          </a:p>
        </p:txBody>
      </p:sp>
      <p:sp>
        <p:nvSpPr>
          <p:cNvPr id="34" name="Text 35">
            <a:extLst>
              <a:ext uri="{FF2B5EF4-FFF2-40B4-BE49-F238E27FC236}">
                <a16:creationId xmlns:a16="http://schemas.microsoft.com/office/drawing/2014/main" id="{58843B69-A2CC-CFA1-7C23-C47C311CEE0B}"/>
              </a:ext>
            </a:extLst>
          </p:cNvPr>
          <p:cNvSpPr/>
          <p:nvPr/>
        </p:nvSpPr>
        <p:spPr>
          <a:xfrm>
            <a:off x="365760" y="6537960"/>
            <a:ext cx="11475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Five concerns. One platform. Threat modeling built for player-driven systems.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848704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>
          <a:extLst>
            <a:ext uri="{FF2B5EF4-FFF2-40B4-BE49-F238E27FC236}">
              <a16:creationId xmlns:a16="http://schemas.microsoft.com/office/drawing/2014/main" id="{97EE275F-1B43-6413-A2C0-0B7CA07C0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7">
            <a:extLst>
              <a:ext uri="{FF2B5EF4-FFF2-40B4-BE49-F238E27FC236}">
                <a16:creationId xmlns:a16="http://schemas.microsoft.com/office/drawing/2014/main" id="{E1609135-2E46-127B-FE19-1C652909036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71399" y="590500"/>
            <a:ext cx="10176705" cy="304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Why Focus on Gaming ?</a:t>
            </a:r>
            <a:endParaRPr sz="3200" dirty="0"/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FA3E46AE-410A-ABBE-829E-A42992814F5A}"/>
              </a:ext>
            </a:extLst>
          </p:cNvPr>
          <p:cNvSpPr txBox="1"/>
          <p:nvPr/>
        </p:nvSpPr>
        <p:spPr>
          <a:xfrm>
            <a:off x="389381" y="5965879"/>
            <a:ext cx="11247120" cy="3016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>
              <a:lnSpc>
                <a:spcPct val="130000"/>
              </a:lnSpc>
            </a:pPr>
            <a:r>
              <a:rPr lang="en-US" sz="1600" b="1" i="1" dirty="0">
                <a:solidFill>
                  <a:srgbClr val="4AB09E"/>
                </a:solidFill>
                <a:latin typeface="Overpass"/>
                <a:hlinkClick r:id="rId3"/>
              </a:rPr>
              <a:t>Statista</a:t>
            </a:r>
            <a:r>
              <a:rPr lang="en-US" sz="1600" b="1" i="1" dirty="0">
                <a:solidFill>
                  <a:srgbClr val="4AB09E"/>
                </a:solidFill>
                <a:latin typeface="Overpass"/>
              </a:rPr>
              <a:t> |  </a:t>
            </a:r>
            <a:r>
              <a:rPr lang="en-US" sz="1600" b="1" i="1" dirty="0">
                <a:solidFill>
                  <a:srgbClr val="4AB09E"/>
                </a:solidFill>
                <a:latin typeface="Overpass"/>
                <a:hlinkClick r:id="rId4"/>
              </a:rPr>
              <a:t>Newzoo</a:t>
            </a:r>
            <a:endParaRPr kumimoji="0" sz="1600" i="1" u="none" strike="noStrike" kern="0" cap="none" spc="0" normalizeH="0" baseline="0" noProof="0" dirty="0">
              <a:ln>
                <a:noFill/>
              </a:ln>
              <a:solidFill>
                <a:srgbClr val="4AB09E"/>
              </a:solidFill>
              <a:effectLst/>
              <a:uLnTx/>
              <a:uFillTx/>
              <a:latin typeface="Overpass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E1D2B5-5C3C-DDD8-6B1E-4CEAB02B03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704" y="1426376"/>
            <a:ext cx="11246797" cy="4086539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9B3B93EC-5AF9-0EBC-40E5-F86CA07DAAE8}"/>
              </a:ext>
            </a:extLst>
          </p:cNvPr>
          <p:cNvSpPr/>
          <p:nvPr/>
        </p:nvSpPr>
        <p:spPr>
          <a:xfrm>
            <a:off x="411480" y="22100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G.H.O.S.T  |  CONTEXT</a:t>
            </a:r>
            <a:endParaRPr 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1311268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>
          <a:extLst>
            <a:ext uri="{FF2B5EF4-FFF2-40B4-BE49-F238E27FC236}">
              <a16:creationId xmlns:a16="http://schemas.microsoft.com/office/drawing/2014/main" id="{BD0CAA06-FD77-3E8C-2D2E-207A7E788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0">
            <a:extLst>
              <a:ext uri="{FF2B5EF4-FFF2-40B4-BE49-F238E27FC236}">
                <a16:creationId xmlns:a16="http://schemas.microsoft.com/office/drawing/2014/main" id="{40133896-558E-80AA-2CCE-BC1CEBECE05B}"/>
              </a:ext>
            </a:extLst>
          </p:cNvPr>
          <p:cNvSpPr/>
          <p:nvPr/>
        </p:nvSpPr>
        <p:spPr>
          <a:xfrm>
            <a:off x="411480" y="22100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G.H.O.S.T  |  OUR APPROACH</a:t>
            </a:r>
            <a:endParaRPr lang="en-US" sz="1000" b="1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C2D03722-1B3D-052D-8F05-66C0F54175E7}"/>
              </a:ext>
            </a:extLst>
          </p:cNvPr>
          <p:cNvSpPr/>
          <p:nvPr/>
        </p:nvSpPr>
        <p:spPr>
          <a:xfrm>
            <a:off x="457200" y="1737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Every multiplayer game has the</a:t>
            </a:r>
            <a:endParaRPr lang="en-US" sz="4200" dirty="0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DC099CA5-767E-C236-D61B-3081C3BC0220}"/>
              </a:ext>
            </a:extLst>
          </p:cNvPr>
          <p:cNvSpPr/>
          <p:nvPr/>
        </p:nvSpPr>
        <p:spPr>
          <a:xfrm>
            <a:off x="457200" y="2606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00" b="1" dirty="0">
                <a:solidFill>
                  <a:srgbClr val="FFFFFF"/>
                </a:solidFill>
                <a:latin typeface="Overpass Black" pitchFamily="34" charset="0"/>
              </a:rPr>
              <a:t>same things worth defending.</a:t>
            </a: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8904C117-5ABA-2C3E-E9C6-6FA6F3D981F8}"/>
              </a:ext>
            </a:extLst>
          </p:cNvPr>
          <p:cNvSpPr/>
          <p:nvPr/>
        </p:nvSpPr>
        <p:spPr>
          <a:xfrm>
            <a:off x="457200" y="3931920"/>
            <a:ext cx="548640" cy="36576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304229BD-A8AE-E4C5-92F6-6000DE99E7D1}"/>
              </a:ext>
            </a:extLst>
          </p:cNvPr>
          <p:cNvSpPr/>
          <p:nvPr/>
        </p:nvSpPr>
        <p:spPr>
          <a:xfrm>
            <a:off x="457200" y="41605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We organize them into:</a:t>
            </a:r>
            <a:endParaRPr lang="en-US" sz="240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889B44BB-C977-A1FD-1950-C28F64BA248B}"/>
              </a:ext>
            </a:extLst>
          </p:cNvPr>
          <p:cNvSpPr/>
          <p:nvPr/>
        </p:nvSpPr>
        <p:spPr>
          <a:xfrm>
            <a:off x="457200" y="470916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Six Surfaces.</a:t>
            </a:r>
            <a:endParaRPr lang="en-US" sz="8800" dirty="0"/>
          </a:p>
        </p:txBody>
      </p:sp>
    </p:spTree>
    <p:extLst>
      <p:ext uri="{BB962C8B-B14F-4D97-AF65-F5344CB8AC3E}">
        <p14:creationId xmlns:p14="http://schemas.microsoft.com/office/powerpoint/2010/main" val="1356635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>
          <a:extLst>
            <a:ext uri="{FF2B5EF4-FFF2-40B4-BE49-F238E27FC236}">
              <a16:creationId xmlns:a16="http://schemas.microsoft.com/office/drawing/2014/main" id="{93502CB4-EF1C-668E-FFB9-836D814C5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0">
            <a:extLst>
              <a:ext uri="{FF2B5EF4-FFF2-40B4-BE49-F238E27FC236}">
                <a16:creationId xmlns:a16="http://schemas.microsoft.com/office/drawing/2014/main" id="{9495DDF6-F3F9-3C46-DC14-C436D92EFBEF}"/>
              </a:ext>
            </a:extLst>
          </p:cNvPr>
          <p:cNvSpPr/>
          <p:nvPr/>
        </p:nvSpPr>
        <p:spPr>
          <a:xfrm>
            <a:off x="411480" y="22100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G.H.O.S.T  |  THE ARCHITECTURAL LAYER</a:t>
            </a:r>
            <a:endParaRPr lang="en-US" sz="1000" b="1" dirty="0"/>
          </a:p>
        </p:txBody>
      </p:sp>
      <p:sp>
        <p:nvSpPr>
          <p:cNvPr id="2" name="Google Shape;315;p47">
            <a:extLst>
              <a:ext uri="{FF2B5EF4-FFF2-40B4-BE49-F238E27FC236}">
                <a16:creationId xmlns:a16="http://schemas.microsoft.com/office/drawing/2014/main" id="{138397D4-4251-8427-603F-16D005CACE5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71399" y="590500"/>
            <a:ext cx="10176705" cy="304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Threats Land where Players Play !</a:t>
            </a:r>
            <a:endParaRPr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6425C70-D1DF-971A-2AA4-928400F15C45}"/>
              </a:ext>
            </a:extLst>
          </p:cNvPr>
          <p:cNvSpPr/>
          <p:nvPr/>
        </p:nvSpPr>
        <p:spPr>
          <a:xfrm>
            <a:off x="365760" y="1078992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Five surfaces where players experience the game. One where the system runs. </a:t>
            </a:r>
            <a:endParaRPr lang="en-US" dirty="0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007FECEF-4C4B-7E06-7CED-8659A7C2842D}"/>
              </a:ext>
            </a:extLst>
          </p:cNvPr>
          <p:cNvSpPr/>
          <p:nvPr/>
        </p:nvSpPr>
        <p:spPr>
          <a:xfrm>
            <a:off x="3728085" y="1527048"/>
            <a:ext cx="5066156" cy="713232"/>
          </a:xfrm>
          <a:prstGeom prst="rect">
            <a:avLst/>
          </a:prstGeom>
          <a:solidFill>
            <a:srgbClr val="121C2E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8E41AC0E-68E5-FBAE-D1A0-00ED95B1B5B6}"/>
              </a:ext>
            </a:extLst>
          </p:cNvPr>
          <p:cNvSpPr/>
          <p:nvPr/>
        </p:nvSpPr>
        <p:spPr>
          <a:xfrm>
            <a:off x="3728085" y="1527048"/>
            <a:ext cx="64008" cy="713232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61ADCCD9-2792-E485-9D83-CA1F4ABF051A}"/>
              </a:ext>
            </a:extLst>
          </p:cNvPr>
          <p:cNvSpPr/>
          <p:nvPr/>
        </p:nvSpPr>
        <p:spPr>
          <a:xfrm>
            <a:off x="3892677" y="163677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C411A89A-3AA7-CC3A-ECD7-C6A22F4FBB21}"/>
              </a:ext>
            </a:extLst>
          </p:cNvPr>
          <p:cNvSpPr/>
          <p:nvPr/>
        </p:nvSpPr>
        <p:spPr>
          <a:xfrm>
            <a:off x="4368165" y="160020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USER</a:t>
            </a:r>
            <a:endParaRPr lang="en-US" sz="14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423343CF-9680-4BB9-4DD7-BBB56E68CD82}"/>
              </a:ext>
            </a:extLst>
          </p:cNvPr>
          <p:cNvSpPr/>
          <p:nvPr/>
        </p:nvSpPr>
        <p:spPr>
          <a:xfrm>
            <a:off x="4368165" y="1892808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Where an individual actor directly interacts with the game.</a:t>
            </a:r>
            <a:endParaRPr lang="en-US" sz="1100" dirty="0"/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A94EE7E6-D733-84AF-D4C8-1785A209DC75}"/>
              </a:ext>
            </a:extLst>
          </p:cNvPr>
          <p:cNvSpPr/>
          <p:nvPr/>
        </p:nvSpPr>
        <p:spPr>
          <a:xfrm>
            <a:off x="3728085" y="2304288"/>
            <a:ext cx="5066156" cy="713232"/>
          </a:xfrm>
          <a:prstGeom prst="rect">
            <a:avLst/>
          </a:prstGeom>
          <a:solidFill>
            <a:srgbClr val="121C2E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B71F72F2-0852-372E-59DB-C5DFC3BD6D2F}"/>
              </a:ext>
            </a:extLst>
          </p:cNvPr>
          <p:cNvSpPr/>
          <p:nvPr/>
        </p:nvSpPr>
        <p:spPr>
          <a:xfrm>
            <a:off x="3728085" y="2304288"/>
            <a:ext cx="64008" cy="713232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3F686618-C74E-16CC-6E68-9E185300AB10}"/>
              </a:ext>
            </a:extLst>
          </p:cNvPr>
          <p:cNvSpPr/>
          <p:nvPr/>
        </p:nvSpPr>
        <p:spPr>
          <a:xfrm>
            <a:off x="3892677" y="241401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F8F19689-BBB9-CE34-9FA9-86A5D0FEA692}"/>
              </a:ext>
            </a:extLst>
          </p:cNvPr>
          <p:cNvSpPr/>
          <p:nvPr/>
        </p:nvSpPr>
        <p:spPr>
          <a:xfrm>
            <a:off x="4368165" y="237744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INTERACTION</a:t>
            </a:r>
            <a:endParaRPr lang="en-US" sz="14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0FF00600-50CA-5D15-61C3-CF234AC100A9}"/>
              </a:ext>
            </a:extLst>
          </p:cNvPr>
          <p:cNvSpPr/>
          <p:nvPr/>
        </p:nvSpPr>
        <p:spPr>
          <a:xfrm>
            <a:off x="4368165" y="2670048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How actors interact with each other — chat, voice, party play.</a:t>
            </a:r>
            <a:endParaRPr lang="en-US" sz="1100" dirty="0"/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272044B6-C7FB-F041-5A82-FF954401312B}"/>
              </a:ext>
            </a:extLst>
          </p:cNvPr>
          <p:cNvSpPr/>
          <p:nvPr/>
        </p:nvSpPr>
        <p:spPr>
          <a:xfrm>
            <a:off x="3728085" y="3081528"/>
            <a:ext cx="5066156" cy="713232"/>
          </a:xfrm>
          <a:prstGeom prst="rect">
            <a:avLst/>
          </a:prstGeom>
          <a:solidFill>
            <a:srgbClr val="121C2E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A12A2B86-9EA6-94BA-7E5D-2D10F47AB212}"/>
              </a:ext>
            </a:extLst>
          </p:cNvPr>
          <p:cNvSpPr/>
          <p:nvPr/>
        </p:nvSpPr>
        <p:spPr>
          <a:xfrm>
            <a:off x="3728085" y="3081528"/>
            <a:ext cx="64008" cy="713232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770D3760-C7BD-97B7-E874-45EAEF48C20A}"/>
              </a:ext>
            </a:extLst>
          </p:cNvPr>
          <p:cNvSpPr/>
          <p:nvPr/>
        </p:nvSpPr>
        <p:spPr>
          <a:xfrm>
            <a:off x="3892677" y="319125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DBC39494-8D36-D776-1572-FAB7ECDBABFA}"/>
              </a:ext>
            </a:extLst>
          </p:cNvPr>
          <p:cNvSpPr/>
          <p:nvPr/>
        </p:nvSpPr>
        <p:spPr>
          <a:xfrm>
            <a:off x="4368165" y="315468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ENVIRONMENT</a:t>
            </a:r>
            <a:endParaRPr lang="en-US" sz="1400" dirty="0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CC061C20-15A0-FC36-9219-28C807E310BE}"/>
              </a:ext>
            </a:extLst>
          </p:cNvPr>
          <p:cNvSpPr/>
          <p:nvPr/>
        </p:nvSpPr>
        <p:spPr>
          <a:xfrm>
            <a:off x="4368165" y="3447288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The shared, persistent world that all actors operate within.</a:t>
            </a:r>
            <a:endParaRPr lang="en-US" sz="1100" dirty="0"/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87AD5158-FDD0-4172-AD45-07BF4D2E7F32}"/>
              </a:ext>
            </a:extLst>
          </p:cNvPr>
          <p:cNvSpPr/>
          <p:nvPr/>
        </p:nvSpPr>
        <p:spPr>
          <a:xfrm>
            <a:off x="3728085" y="3858768"/>
            <a:ext cx="5066156" cy="713232"/>
          </a:xfrm>
          <a:prstGeom prst="rect">
            <a:avLst/>
          </a:prstGeom>
          <a:solidFill>
            <a:srgbClr val="121C2E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1">
            <a:extLst>
              <a:ext uri="{FF2B5EF4-FFF2-40B4-BE49-F238E27FC236}">
                <a16:creationId xmlns:a16="http://schemas.microsoft.com/office/drawing/2014/main" id="{346BBAA5-2507-88BD-E03C-25AFF0EE0419}"/>
              </a:ext>
            </a:extLst>
          </p:cNvPr>
          <p:cNvSpPr/>
          <p:nvPr/>
        </p:nvSpPr>
        <p:spPr>
          <a:xfrm>
            <a:off x="3728085" y="3858768"/>
            <a:ext cx="64008" cy="713232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694FCB32-CEC8-21E9-08BC-141051F3A778}"/>
              </a:ext>
            </a:extLst>
          </p:cNvPr>
          <p:cNvSpPr/>
          <p:nvPr/>
        </p:nvSpPr>
        <p:spPr>
          <a:xfrm>
            <a:off x="3892677" y="396849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58076CC3-A85E-2F5D-82D3-0C6D5A8A1EDE}"/>
              </a:ext>
            </a:extLst>
          </p:cNvPr>
          <p:cNvSpPr/>
          <p:nvPr/>
        </p:nvSpPr>
        <p:spPr>
          <a:xfrm>
            <a:off x="4368165" y="39319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VALUE</a:t>
            </a:r>
            <a:endParaRPr lang="en-US" sz="1400" dirty="0"/>
          </a:p>
        </p:txBody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7FF4C449-D4BB-2F22-6938-F8C92722E8CF}"/>
              </a:ext>
            </a:extLst>
          </p:cNvPr>
          <p:cNvSpPr/>
          <p:nvPr/>
        </p:nvSpPr>
        <p:spPr>
          <a:xfrm>
            <a:off x="4368165" y="4224528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Economy, assets, transactions, entitlements, transferable worth.</a:t>
            </a:r>
            <a:endParaRPr lang="en-US" sz="1100" dirty="0"/>
          </a:p>
        </p:txBody>
      </p:sp>
      <p:sp>
        <p:nvSpPr>
          <p:cNvPr id="26" name="Shape 25">
            <a:extLst>
              <a:ext uri="{FF2B5EF4-FFF2-40B4-BE49-F238E27FC236}">
                <a16:creationId xmlns:a16="http://schemas.microsoft.com/office/drawing/2014/main" id="{AD186F80-D96F-C085-1B50-AA99C4D90C5F}"/>
              </a:ext>
            </a:extLst>
          </p:cNvPr>
          <p:cNvSpPr/>
          <p:nvPr/>
        </p:nvSpPr>
        <p:spPr>
          <a:xfrm>
            <a:off x="3728085" y="4636008"/>
            <a:ext cx="5066156" cy="713232"/>
          </a:xfrm>
          <a:prstGeom prst="rect">
            <a:avLst/>
          </a:prstGeom>
          <a:solidFill>
            <a:srgbClr val="121C2E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DBDA1552-7647-B879-FC1E-F620E5BB408A}"/>
              </a:ext>
            </a:extLst>
          </p:cNvPr>
          <p:cNvSpPr/>
          <p:nvPr/>
        </p:nvSpPr>
        <p:spPr>
          <a:xfrm>
            <a:off x="3728085" y="4636008"/>
            <a:ext cx="64008" cy="713232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FD708D4A-4D13-6607-D174-E37798AFA22E}"/>
              </a:ext>
            </a:extLst>
          </p:cNvPr>
          <p:cNvSpPr/>
          <p:nvPr/>
        </p:nvSpPr>
        <p:spPr>
          <a:xfrm>
            <a:off x="3892677" y="474573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5</a:t>
            </a:r>
            <a:endParaRPr lang="en-US" sz="2200" dirty="0"/>
          </a:p>
        </p:txBody>
      </p:sp>
      <p:sp>
        <p:nvSpPr>
          <p:cNvPr id="29" name="Text 28">
            <a:extLst>
              <a:ext uri="{FF2B5EF4-FFF2-40B4-BE49-F238E27FC236}">
                <a16:creationId xmlns:a16="http://schemas.microsoft.com/office/drawing/2014/main" id="{542940DA-8AE8-B8F7-F749-ABDFEBA827A5}"/>
              </a:ext>
            </a:extLst>
          </p:cNvPr>
          <p:cNvSpPr/>
          <p:nvPr/>
        </p:nvSpPr>
        <p:spPr>
          <a:xfrm>
            <a:off x="4368165" y="470916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CONTENT</a:t>
            </a:r>
            <a:endParaRPr lang="en-US" sz="1400" dirty="0"/>
          </a:p>
        </p:txBody>
      </p:sp>
      <p:sp>
        <p:nvSpPr>
          <p:cNvPr id="30" name="Text 29">
            <a:extLst>
              <a:ext uri="{FF2B5EF4-FFF2-40B4-BE49-F238E27FC236}">
                <a16:creationId xmlns:a16="http://schemas.microsoft.com/office/drawing/2014/main" id="{231639B5-5180-7858-6729-99692F5B879E}"/>
              </a:ext>
            </a:extLst>
          </p:cNvPr>
          <p:cNvSpPr/>
          <p:nvPr/>
        </p:nvSpPr>
        <p:spPr>
          <a:xfrm>
            <a:off x="4368165" y="5038344"/>
            <a:ext cx="42710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Everything created, uploaded, or published by players or the system.</a:t>
            </a:r>
            <a:endParaRPr lang="en-US" sz="1100" dirty="0"/>
          </a:p>
        </p:txBody>
      </p:sp>
      <p:sp>
        <p:nvSpPr>
          <p:cNvPr id="31" name="Shape 30">
            <a:extLst>
              <a:ext uri="{FF2B5EF4-FFF2-40B4-BE49-F238E27FC236}">
                <a16:creationId xmlns:a16="http://schemas.microsoft.com/office/drawing/2014/main" id="{55F72901-F4BD-EDE4-730A-F632877D42F0}"/>
              </a:ext>
            </a:extLst>
          </p:cNvPr>
          <p:cNvSpPr/>
          <p:nvPr/>
        </p:nvSpPr>
        <p:spPr>
          <a:xfrm>
            <a:off x="3728085" y="5413248"/>
            <a:ext cx="5066156" cy="713232"/>
          </a:xfrm>
          <a:prstGeom prst="rect">
            <a:avLst/>
          </a:prstGeom>
          <a:solidFill>
            <a:srgbClr val="121C2E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1">
            <a:extLst>
              <a:ext uri="{FF2B5EF4-FFF2-40B4-BE49-F238E27FC236}">
                <a16:creationId xmlns:a16="http://schemas.microsoft.com/office/drawing/2014/main" id="{C5052BF8-080A-DA82-3679-FC89CC9F799C}"/>
              </a:ext>
            </a:extLst>
          </p:cNvPr>
          <p:cNvSpPr/>
          <p:nvPr/>
        </p:nvSpPr>
        <p:spPr>
          <a:xfrm>
            <a:off x="3728085" y="5413248"/>
            <a:ext cx="64008" cy="713232"/>
          </a:xfrm>
          <a:prstGeom prst="rect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2">
            <a:extLst>
              <a:ext uri="{FF2B5EF4-FFF2-40B4-BE49-F238E27FC236}">
                <a16:creationId xmlns:a16="http://schemas.microsoft.com/office/drawing/2014/main" id="{E2FD2325-B44A-E2C6-95EA-BEC36F8B7EE4}"/>
              </a:ext>
            </a:extLst>
          </p:cNvPr>
          <p:cNvSpPr/>
          <p:nvPr/>
        </p:nvSpPr>
        <p:spPr>
          <a:xfrm>
            <a:off x="3892677" y="552297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0A04B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6</a:t>
            </a:r>
            <a:endParaRPr lang="en-US" sz="2200" dirty="0"/>
          </a:p>
        </p:txBody>
      </p:sp>
      <p:sp>
        <p:nvSpPr>
          <p:cNvPr id="34" name="Text 33">
            <a:extLst>
              <a:ext uri="{FF2B5EF4-FFF2-40B4-BE49-F238E27FC236}">
                <a16:creationId xmlns:a16="http://schemas.microsoft.com/office/drawing/2014/main" id="{F8A2CB3A-E266-A627-A797-B6EA24C71C97}"/>
              </a:ext>
            </a:extLst>
          </p:cNvPr>
          <p:cNvSpPr/>
          <p:nvPr/>
        </p:nvSpPr>
        <p:spPr>
          <a:xfrm>
            <a:off x="4368165" y="548640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OPERATIONS</a:t>
            </a:r>
            <a:endParaRPr lang="en-US" sz="1400" dirty="0"/>
          </a:p>
        </p:txBody>
      </p:sp>
      <p:sp>
        <p:nvSpPr>
          <p:cNvPr id="35" name="Text 34">
            <a:extLst>
              <a:ext uri="{FF2B5EF4-FFF2-40B4-BE49-F238E27FC236}">
                <a16:creationId xmlns:a16="http://schemas.microsoft.com/office/drawing/2014/main" id="{08AEBA5D-53E7-C030-10E4-2B850599E4E7}"/>
              </a:ext>
            </a:extLst>
          </p:cNvPr>
          <p:cNvSpPr/>
          <p:nvPr/>
        </p:nvSpPr>
        <p:spPr>
          <a:xfrm>
            <a:off x="4368165" y="5779008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Backend services and infrastructure — the technical substrate.</a:t>
            </a:r>
            <a:endParaRPr lang="en-US" sz="1100" dirty="0"/>
          </a:p>
        </p:txBody>
      </p:sp>
      <p:sp>
        <p:nvSpPr>
          <p:cNvPr id="113" name="Text 77">
            <a:extLst>
              <a:ext uri="{FF2B5EF4-FFF2-40B4-BE49-F238E27FC236}">
                <a16:creationId xmlns:a16="http://schemas.microsoft.com/office/drawing/2014/main" id="{DDE97D72-F3D8-BFE7-9CAA-A797B3D04BFA}"/>
              </a:ext>
            </a:extLst>
          </p:cNvPr>
          <p:cNvSpPr/>
          <p:nvPr/>
        </p:nvSpPr>
        <p:spPr>
          <a:xfrm>
            <a:off x="365760" y="6537960"/>
            <a:ext cx="11475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Six surfaces, every component placed. This is how we organize what's worth defending 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865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1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>
          <a:extLst>
            <a:ext uri="{FF2B5EF4-FFF2-40B4-BE49-F238E27FC236}">
              <a16:creationId xmlns:a16="http://schemas.microsoft.com/office/drawing/2014/main" id="{22A4DBC7-BB72-9D49-405B-DE2DDF14B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57">
            <a:extLst>
              <a:ext uri="{FF2B5EF4-FFF2-40B4-BE49-F238E27FC236}">
                <a16:creationId xmlns:a16="http://schemas.microsoft.com/office/drawing/2014/main" id="{68DFC42F-828B-2286-3243-BBA18815B30D}"/>
              </a:ext>
            </a:extLst>
          </p:cNvPr>
          <p:cNvSpPr/>
          <p:nvPr/>
        </p:nvSpPr>
        <p:spPr>
          <a:xfrm>
            <a:off x="9048938" y="5687568"/>
            <a:ext cx="2907222" cy="712724"/>
          </a:xfrm>
          <a:prstGeom prst="rect">
            <a:avLst/>
          </a:prstGeom>
          <a:solidFill>
            <a:srgbClr val="121C2E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E28558D1-1137-6E02-EC10-9343699865A2}"/>
              </a:ext>
            </a:extLst>
          </p:cNvPr>
          <p:cNvSpPr/>
          <p:nvPr/>
        </p:nvSpPr>
        <p:spPr>
          <a:xfrm>
            <a:off x="411480" y="22100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G.H.O.S.T  |  GAME SURFACES EXAMPLE</a:t>
            </a:r>
            <a:endParaRPr lang="en-US" sz="1000" b="1" dirty="0"/>
          </a:p>
        </p:txBody>
      </p:sp>
      <p:sp>
        <p:nvSpPr>
          <p:cNvPr id="2" name="Google Shape;315;p47">
            <a:extLst>
              <a:ext uri="{FF2B5EF4-FFF2-40B4-BE49-F238E27FC236}">
                <a16:creationId xmlns:a16="http://schemas.microsoft.com/office/drawing/2014/main" id="{21BE640F-A289-58AA-80B7-6BFA9624D4B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71399" y="590500"/>
            <a:ext cx="10176705" cy="304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All Six Surfaces, Visible on One Screen</a:t>
            </a:r>
            <a:endParaRPr sz="3200" dirty="0"/>
          </a:p>
        </p:txBody>
      </p:sp>
      <p:pic>
        <p:nvPicPr>
          <p:cNvPr id="44" name="Picture 43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7AC544A4-B4F9-09CE-CF6B-DA79BBA35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82420"/>
            <a:ext cx="8869680" cy="4982972"/>
          </a:xfrm>
          <a:prstGeom prst="rect">
            <a:avLst/>
          </a:prstGeom>
        </p:spPr>
      </p:pic>
      <p:sp>
        <p:nvSpPr>
          <p:cNvPr id="45" name="Text 2">
            <a:extLst>
              <a:ext uri="{FF2B5EF4-FFF2-40B4-BE49-F238E27FC236}">
                <a16:creationId xmlns:a16="http://schemas.microsoft.com/office/drawing/2014/main" id="{732A87D9-CF5A-5E92-7B13-DD003AFA35E0}"/>
              </a:ext>
            </a:extLst>
          </p:cNvPr>
          <p:cNvSpPr/>
          <p:nvPr/>
        </p:nvSpPr>
        <p:spPr>
          <a:xfrm>
            <a:off x="365760" y="1051560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Every UI element a player sees lives on exactly one surface. Once you know where to look, the architecture is already in front of you.</a:t>
            </a:r>
            <a:endParaRPr lang="en-US" dirty="0"/>
          </a:p>
        </p:txBody>
      </p:sp>
      <p:sp>
        <p:nvSpPr>
          <p:cNvPr id="46" name="Shape 9">
            <a:extLst>
              <a:ext uri="{FF2B5EF4-FFF2-40B4-BE49-F238E27FC236}">
                <a16:creationId xmlns:a16="http://schemas.microsoft.com/office/drawing/2014/main" id="{44A71BCE-7D3F-0F16-ADFA-E02043FD97AE}"/>
              </a:ext>
            </a:extLst>
          </p:cNvPr>
          <p:cNvSpPr/>
          <p:nvPr/>
        </p:nvSpPr>
        <p:spPr>
          <a:xfrm>
            <a:off x="3939253" y="4270248"/>
            <a:ext cx="384048" cy="384048"/>
          </a:xfrm>
          <a:prstGeom prst="ellipse">
            <a:avLst/>
          </a:prstGeom>
          <a:solidFill>
            <a:srgbClr val="08F4D6"/>
          </a:solidFill>
          <a:ln w="254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C4B1B849-45B7-6BD6-1FCB-468DAAD845EC}"/>
              </a:ext>
            </a:extLst>
          </p:cNvPr>
          <p:cNvSpPr/>
          <p:nvPr/>
        </p:nvSpPr>
        <p:spPr>
          <a:xfrm>
            <a:off x="3939253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1</a:t>
            </a:r>
            <a:endParaRPr lang="en-US" sz="1600" dirty="0"/>
          </a:p>
        </p:txBody>
      </p:sp>
      <p:sp>
        <p:nvSpPr>
          <p:cNvPr id="48" name="Shape 12">
            <a:extLst>
              <a:ext uri="{FF2B5EF4-FFF2-40B4-BE49-F238E27FC236}">
                <a16:creationId xmlns:a16="http://schemas.microsoft.com/office/drawing/2014/main" id="{EFB63972-4D35-5B18-8EF6-A059E96049FA}"/>
              </a:ext>
            </a:extLst>
          </p:cNvPr>
          <p:cNvSpPr/>
          <p:nvPr/>
        </p:nvSpPr>
        <p:spPr>
          <a:xfrm>
            <a:off x="477298" y="1704785"/>
            <a:ext cx="384048" cy="384048"/>
          </a:xfrm>
          <a:prstGeom prst="ellipse">
            <a:avLst/>
          </a:prstGeom>
          <a:solidFill>
            <a:srgbClr val="08F4D6"/>
          </a:solidFill>
          <a:ln w="254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13">
            <a:extLst>
              <a:ext uri="{FF2B5EF4-FFF2-40B4-BE49-F238E27FC236}">
                <a16:creationId xmlns:a16="http://schemas.microsoft.com/office/drawing/2014/main" id="{B18AF359-0889-BAAB-00F7-03D389D85D7E}"/>
              </a:ext>
            </a:extLst>
          </p:cNvPr>
          <p:cNvSpPr/>
          <p:nvPr/>
        </p:nvSpPr>
        <p:spPr>
          <a:xfrm>
            <a:off x="477298" y="170478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2</a:t>
            </a:r>
            <a:endParaRPr lang="en-US" sz="1600" dirty="0"/>
          </a:p>
        </p:txBody>
      </p:sp>
      <p:sp>
        <p:nvSpPr>
          <p:cNvPr id="50" name="Shape 15">
            <a:extLst>
              <a:ext uri="{FF2B5EF4-FFF2-40B4-BE49-F238E27FC236}">
                <a16:creationId xmlns:a16="http://schemas.microsoft.com/office/drawing/2014/main" id="{54D7B77B-0BEB-0210-EE37-D3FB1E3B896B}"/>
              </a:ext>
            </a:extLst>
          </p:cNvPr>
          <p:cNvSpPr/>
          <p:nvPr/>
        </p:nvSpPr>
        <p:spPr>
          <a:xfrm>
            <a:off x="4906670" y="2752344"/>
            <a:ext cx="384048" cy="384048"/>
          </a:xfrm>
          <a:prstGeom prst="ellipse">
            <a:avLst/>
          </a:prstGeom>
          <a:solidFill>
            <a:srgbClr val="08F4D6"/>
          </a:solidFill>
          <a:ln w="254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16">
            <a:extLst>
              <a:ext uri="{FF2B5EF4-FFF2-40B4-BE49-F238E27FC236}">
                <a16:creationId xmlns:a16="http://schemas.microsoft.com/office/drawing/2014/main" id="{30215D66-ECBE-665A-8BC6-B23D9098E8B2}"/>
              </a:ext>
            </a:extLst>
          </p:cNvPr>
          <p:cNvSpPr/>
          <p:nvPr/>
        </p:nvSpPr>
        <p:spPr>
          <a:xfrm>
            <a:off x="4906670" y="2752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3</a:t>
            </a:r>
            <a:endParaRPr lang="en-US" sz="1600" dirty="0"/>
          </a:p>
        </p:txBody>
      </p:sp>
      <p:sp>
        <p:nvSpPr>
          <p:cNvPr id="52" name="Shape 18">
            <a:extLst>
              <a:ext uri="{FF2B5EF4-FFF2-40B4-BE49-F238E27FC236}">
                <a16:creationId xmlns:a16="http://schemas.microsoft.com/office/drawing/2014/main" id="{B32EE010-72AE-2392-5663-DF1B88ECF7B4}"/>
              </a:ext>
            </a:extLst>
          </p:cNvPr>
          <p:cNvSpPr/>
          <p:nvPr/>
        </p:nvSpPr>
        <p:spPr>
          <a:xfrm>
            <a:off x="4131277" y="1650492"/>
            <a:ext cx="384048" cy="384048"/>
          </a:xfrm>
          <a:prstGeom prst="ellipse">
            <a:avLst/>
          </a:prstGeom>
          <a:solidFill>
            <a:srgbClr val="08F4D6"/>
          </a:solidFill>
          <a:ln w="254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19">
            <a:extLst>
              <a:ext uri="{FF2B5EF4-FFF2-40B4-BE49-F238E27FC236}">
                <a16:creationId xmlns:a16="http://schemas.microsoft.com/office/drawing/2014/main" id="{E0F46BD7-EA38-AA54-F5E5-BC0A5753B8A2}"/>
              </a:ext>
            </a:extLst>
          </p:cNvPr>
          <p:cNvSpPr/>
          <p:nvPr/>
        </p:nvSpPr>
        <p:spPr>
          <a:xfrm>
            <a:off x="4131277" y="16504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/>
              <a:t>4</a:t>
            </a:r>
          </a:p>
        </p:txBody>
      </p:sp>
      <p:sp>
        <p:nvSpPr>
          <p:cNvPr id="54" name="Shape 21">
            <a:extLst>
              <a:ext uri="{FF2B5EF4-FFF2-40B4-BE49-F238E27FC236}">
                <a16:creationId xmlns:a16="http://schemas.microsoft.com/office/drawing/2014/main" id="{3CB71D3C-33D2-7445-2332-6A3C7AF607DC}"/>
              </a:ext>
            </a:extLst>
          </p:cNvPr>
          <p:cNvSpPr/>
          <p:nvPr/>
        </p:nvSpPr>
        <p:spPr>
          <a:xfrm>
            <a:off x="8525866" y="2542032"/>
            <a:ext cx="384048" cy="384048"/>
          </a:xfrm>
          <a:prstGeom prst="ellipse">
            <a:avLst/>
          </a:prstGeom>
          <a:solidFill>
            <a:srgbClr val="08F4D6"/>
          </a:solidFill>
          <a:ln w="254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22">
            <a:extLst>
              <a:ext uri="{FF2B5EF4-FFF2-40B4-BE49-F238E27FC236}">
                <a16:creationId xmlns:a16="http://schemas.microsoft.com/office/drawing/2014/main" id="{81D25CE2-2ED2-D5BF-ACFE-EADF50E41F7C}"/>
              </a:ext>
            </a:extLst>
          </p:cNvPr>
          <p:cNvSpPr/>
          <p:nvPr/>
        </p:nvSpPr>
        <p:spPr>
          <a:xfrm>
            <a:off x="8525866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5</a:t>
            </a:r>
            <a:endParaRPr lang="en-US" sz="1600" dirty="0"/>
          </a:p>
        </p:txBody>
      </p:sp>
      <p:sp>
        <p:nvSpPr>
          <p:cNvPr id="56" name="Shape 24">
            <a:extLst>
              <a:ext uri="{FF2B5EF4-FFF2-40B4-BE49-F238E27FC236}">
                <a16:creationId xmlns:a16="http://schemas.microsoft.com/office/drawing/2014/main" id="{489E63AA-1C8F-A02D-69B2-2BABB12A3D6D}"/>
              </a:ext>
            </a:extLst>
          </p:cNvPr>
          <p:cNvSpPr/>
          <p:nvPr/>
        </p:nvSpPr>
        <p:spPr>
          <a:xfrm>
            <a:off x="8511235" y="5806440"/>
            <a:ext cx="384048" cy="384048"/>
          </a:xfrm>
          <a:prstGeom prst="ellipse">
            <a:avLst/>
          </a:prstGeom>
          <a:solidFill>
            <a:srgbClr val="F0A04B"/>
          </a:solidFill>
          <a:ln w="254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25">
            <a:extLst>
              <a:ext uri="{FF2B5EF4-FFF2-40B4-BE49-F238E27FC236}">
                <a16:creationId xmlns:a16="http://schemas.microsoft.com/office/drawing/2014/main" id="{4559FB70-9531-A71D-218A-79DDF91F574B}"/>
              </a:ext>
            </a:extLst>
          </p:cNvPr>
          <p:cNvSpPr/>
          <p:nvPr/>
        </p:nvSpPr>
        <p:spPr>
          <a:xfrm>
            <a:off x="8511235" y="5806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6</a:t>
            </a:r>
            <a:endParaRPr lang="en-US" sz="1600" dirty="0"/>
          </a:p>
        </p:txBody>
      </p:sp>
      <p:sp>
        <p:nvSpPr>
          <p:cNvPr id="58" name="Text 26">
            <a:extLst>
              <a:ext uri="{FF2B5EF4-FFF2-40B4-BE49-F238E27FC236}">
                <a16:creationId xmlns:a16="http://schemas.microsoft.com/office/drawing/2014/main" id="{9F6A8712-8BFC-F7D7-9151-416D4D05AF5F}"/>
              </a:ext>
            </a:extLst>
          </p:cNvPr>
          <p:cNvSpPr/>
          <p:nvPr/>
        </p:nvSpPr>
        <p:spPr>
          <a:xfrm>
            <a:off x="9349038" y="1490472"/>
            <a:ext cx="2709611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WHAT YOU'RE LOOKING AT</a:t>
            </a:r>
            <a:endParaRPr lang="en-US" sz="950" dirty="0"/>
          </a:p>
        </p:txBody>
      </p:sp>
      <p:sp>
        <p:nvSpPr>
          <p:cNvPr id="59" name="Shape 27">
            <a:extLst>
              <a:ext uri="{FF2B5EF4-FFF2-40B4-BE49-F238E27FC236}">
                <a16:creationId xmlns:a16="http://schemas.microsoft.com/office/drawing/2014/main" id="{9206DE62-684E-61CF-0FF7-F95E8ADEF363}"/>
              </a:ext>
            </a:extLst>
          </p:cNvPr>
          <p:cNvSpPr/>
          <p:nvPr/>
        </p:nvSpPr>
        <p:spPr>
          <a:xfrm>
            <a:off x="9396664" y="1847088"/>
            <a:ext cx="2559496" cy="713232"/>
          </a:xfrm>
          <a:prstGeom prst="rect">
            <a:avLst/>
          </a:prstGeom>
          <a:solidFill>
            <a:srgbClr val="121C2E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28">
            <a:extLst>
              <a:ext uri="{FF2B5EF4-FFF2-40B4-BE49-F238E27FC236}">
                <a16:creationId xmlns:a16="http://schemas.microsoft.com/office/drawing/2014/main" id="{97E33F3F-A5D5-9A1B-E85A-6DA2255862DA}"/>
              </a:ext>
            </a:extLst>
          </p:cNvPr>
          <p:cNvSpPr/>
          <p:nvPr/>
        </p:nvSpPr>
        <p:spPr>
          <a:xfrm>
            <a:off x="9396664" y="1847088"/>
            <a:ext cx="54864" cy="713232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29">
            <a:extLst>
              <a:ext uri="{FF2B5EF4-FFF2-40B4-BE49-F238E27FC236}">
                <a16:creationId xmlns:a16="http://schemas.microsoft.com/office/drawing/2014/main" id="{3D1EBEF8-A68A-2BE0-34D3-8AD6344712E4}"/>
              </a:ext>
            </a:extLst>
          </p:cNvPr>
          <p:cNvSpPr/>
          <p:nvPr/>
        </p:nvSpPr>
        <p:spPr>
          <a:xfrm>
            <a:off x="9515536" y="1984248"/>
            <a:ext cx="411480" cy="411480"/>
          </a:xfrm>
          <a:prstGeom prst="ellipse">
            <a:avLst/>
          </a:prstGeom>
          <a:solidFill>
            <a:srgbClr val="08F4D6"/>
          </a:solidFill>
          <a:ln w="1905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30">
            <a:extLst>
              <a:ext uri="{FF2B5EF4-FFF2-40B4-BE49-F238E27FC236}">
                <a16:creationId xmlns:a16="http://schemas.microsoft.com/office/drawing/2014/main" id="{17BF72C7-E53D-2FFB-07A6-8E4BE4BA6B46}"/>
              </a:ext>
            </a:extLst>
          </p:cNvPr>
          <p:cNvSpPr/>
          <p:nvPr/>
        </p:nvSpPr>
        <p:spPr>
          <a:xfrm>
            <a:off x="9515536" y="1984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220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1</a:t>
            </a:r>
            <a:endParaRPr lang="en-US" sz="1400" dirty="0"/>
          </a:p>
        </p:txBody>
      </p:sp>
      <p:sp>
        <p:nvSpPr>
          <p:cNvPr id="63" name="Text 31">
            <a:extLst>
              <a:ext uri="{FF2B5EF4-FFF2-40B4-BE49-F238E27FC236}">
                <a16:creationId xmlns:a16="http://schemas.microsoft.com/office/drawing/2014/main" id="{BF962D5E-6CBE-288F-D44F-2C05640C0A4E}"/>
              </a:ext>
            </a:extLst>
          </p:cNvPr>
          <p:cNvSpPr/>
          <p:nvPr/>
        </p:nvSpPr>
        <p:spPr>
          <a:xfrm>
            <a:off x="9991024" y="19202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USER</a:t>
            </a:r>
            <a:endParaRPr lang="en-US" sz="1100" dirty="0"/>
          </a:p>
        </p:txBody>
      </p:sp>
      <p:sp>
        <p:nvSpPr>
          <p:cNvPr id="64" name="Text 32">
            <a:extLst>
              <a:ext uri="{FF2B5EF4-FFF2-40B4-BE49-F238E27FC236}">
                <a16:creationId xmlns:a16="http://schemas.microsoft.com/office/drawing/2014/main" id="{9064E5B0-F62F-BF30-945C-C500693A4F80}"/>
              </a:ext>
            </a:extLst>
          </p:cNvPr>
          <p:cNvSpPr/>
          <p:nvPr/>
        </p:nvSpPr>
        <p:spPr>
          <a:xfrm>
            <a:off x="9991024" y="217627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Your character,</a:t>
            </a:r>
            <a:endParaRPr lang="en-US" sz="850" dirty="0"/>
          </a:p>
        </p:txBody>
      </p:sp>
      <p:sp>
        <p:nvSpPr>
          <p:cNvPr id="65" name="Shape 33">
            <a:extLst>
              <a:ext uri="{FF2B5EF4-FFF2-40B4-BE49-F238E27FC236}">
                <a16:creationId xmlns:a16="http://schemas.microsoft.com/office/drawing/2014/main" id="{DED54C69-0DED-4B37-DD61-D66E5A953F36}"/>
              </a:ext>
            </a:extLst>
          </p:cNvPr>
          <p:cNvSpPr/>
          <p:nvPr/>
        </p:nvSpPr>
        <p:spPr>
          <a:xfrm>
            <a:off x="9396664" y="2615184"/>
            <a:ext cx="2559496" cy="713232"/>
          </a:xfrm>
          <a:prstGeom prst="rect">
            <a:avLst/>
          </a:prstGeom>
          <a:solidFill>
            <a:srgbClr val="121C2E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34">
            <a:extLst>
              <a:ext uri="{FF2B5EF4-FFF2-40B4-BE49-F238E27FC236}">
                <a16:creationId xmlns:a16="http://schemas.microsoft.com/office/drawing/2014/main" id="{41480B1A-AC39-9839-EBAE-7FCCEAE4C776}"/>
              </a:ext>
            </a:extLst>
          </p:cNvPr>
          <p:cNvSpPr/>
          <p:nvPr/>
        </p:nvSpPr>
        <p:spPr>
          <a:xfrm>
            <a:off x="9396664" y="2615184"/>
            <a:ext cx="54864" cy="713232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35">
            <a:extLst>
              <a:ext uri="{FF2B5EF4-FFF2-40B4-BE49-F238E27FC236}">
                <a16:creationId xmlns:a16="http://schemas.microsoft.com/office/drawing/2014/main" id="{2B367949-8C70-1871-0152-DB2A27F075EC}"/>
              </a:ext>
            </a:extLst>
          </p:cNvPr>
          <p:cNvSpPr/>
          <p:nvPr/>
        </p:nvSpPr>
        <p:spPr>
          <a:xfrm>
            <a:off x="9515536" y="2752344"/>
            <a:ext cx="411480" cy="411480"/>
          </a:xfrm>
          <a:prstGeom prst="ellipse">
            <a:avLst/>
          </a:prstGeom>
          <a:solidFill>
            <a:srgbClr val="08F4D6"/>
          </a:solidFill>
          <a:ln w="1905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36">
            <a:extLst>
              <a:ext uri="{FF2B5EF4-FFF2-40B4-BE49-F238E27FC236}">
                <a16:creationId xmlns:a16="http://schemas.microsoft.com/office/drawing/2014/main" id="{387A11E7-FB5B-B1EA-6353-4F32AC245ECD}"/>
              </a:ext>
            </a:extLst>
          </p:cNvPr>
          <p:cNvSpPr/>
          <p:nvPr/>
        </p:nvSpPr>
        <p:spPr>
          <a:xfrm>
            <a:off x="9515536" y="27523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220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2</a:t>
            </a:r>
            <a:endParaRPr lang="en-US" sz="1400" dirty="0"/>
          </a:p>
        </p:txBody>
      </p:sp>
      <p:sp>
        <p:nvSpPr>
          <p:cNvPr id="69" name="Text 37">
            <a:extLst>
              <a:ext uri="{FF2B5EF4-FFF2-40B4-BE49-F238E27FC236}">
                <a16:creationId xmlns:a16="http://schemas.microsoft.com/office/drawing/2014/main" id="{05FD12C8-113F-A913-9293-9BE52A857DB5}"/>
              </a:ext>
            </a:extLst>
          </p:cNvPr>
          <p:cNvSpPr/>
          <p:nvPr/>
        </p:nvSpPr>
        <p:spPr>
          <a:xfrm>
            <a:off x="9991024" y="268833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INTERACTION</a:t>
            </a:r>
            <a:endParaRPr lang="en-US" sz="1100" dirty="0"/>
          </a:p>
        </p:txBody>
      </p:sp>
      <p:sp>
        <p:nvSpPr>
          <p:cNvPr id="70" name="Text 38">
            <a:extLst>
              <a:ext uri="{FF2B5EF4-FFF2-40B4-BE49-F238E27FC236}">
                <a16:creationId xmlns:a16="http://schemas.microsoft.com/office/drawing/2014/main" id="{C7A77755-B612-31E5-71A4-551F20D8A097}"/>
              </a:ext>
            </a:extLst>
          </p:cNvPr>
          <p:cNvSpPr/>
          <p:nvPr/>
        </p:nvSpPr>
        <p:spPr>
          <a:xfrm>
            <a:off x="9991024" y="294436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Party voice, chat, messages between players</a:t>
            </a:r>
            <a:endParaRPr lang="en-US" sz="850" dirty="0"/>
          </a:p>
        </p:txBody>
      </p:sp>
      <p:sp>
        <p:nvSpPr>
          <p:cNvPr id="71" name="Shape 39">
            <a:extLst>
              <a:ext uri="{FF2B5EF4-FFF2-40B4-BE49-F238E27FC236}">
                <a16:creationId xmlns:a16="http://schemas.microsoft.com/office/drawing/2014/main" id="{9A080C3E-C50B-DBE4-EC5E-A7BC04AC7053}"/>
              </a:ext>
            </a:extLst>
          </p:cNvPr>
          <p:cNvSpPr/>
          <p:nvPr/>
        </p:nvSpPr>
        <p:spPr>
          <a:xfrm>
            <a:off x="9396664" y="3383280"/>
            <a:ext cx="2559496" cy="713232"/>
          </a:xfrm>
          <a:prstGeom prst="rect">
            <a:avLst/>
          </a:prstGeom>
          <a:solidFill>
            <a:srgbClr val="121C2E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40">
            <a:extLst>
              <a:ext uri="{FF2B5EF4-FFF2-40B4-BE49-F238E27FC236}">
                <a16:creationId xmlns:a16="http://schemas.microsoft.com/office/drawing/2014/main" id="{5176ECE9-415D-C219-1DEA-6503B7A7E7CD}"/>
              </a:ext>
            </a:extLst>
          </p:cNvPr>
          <p:cNvSpPr/>
          <p:nvPr/>
        </p:nvSpPr>
        <p:spPr>
          <a:xfrm>
            <a:off x="9396664" y="3383280"/>
            <a:ext cx="54864" cy="713232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41">
            <a:extLst>
              <a:ext uri="{FF2B5EF4-FFF2-40B4-BE49-F238E27FC236}">
                <a16:creationId xmlns:a16="http://schemas.microsoft.com/office/drawing/2014/main" id="{4B87499E-89F5-8A84-7584-68BF12860DA6}"/>
              </a:ext>
            </a:extLst>
          </p:cNvPr>
          <p:cNvSpPr/>
          <p:nvPr/>
        </p:nvSpPr>
        <p:spPr>
          <a:xfrm>
            <a:off x="9515536" y="3520440"/>
            <a:ext cx="411480" cy="411480"/>
          </a:xfrm>
          <a:prstGeom prst="ellipse">
            <a:avLst/>
          </a:prstGeom>
          <a:solidFill>
            <a:srgbClr val="08F4D6"/>
          </a:solidFill>
          <a:ln w="1905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42">
            <a:extLst>
              <a:ext uri="{FF2B5EF4-FFF2-40B4-BE49-F238E27FC236}">
                <a16:creationId xmlns:a16="http://schemas.microsoft.com/office/drawing/2014/main" id="{E503F5DF-7413-69D8-E085-DC3C1E6EDEA9}"/>
              </a:ext>
            </a:extLst>
          </p:cNvPr>
          <p:cNvSpPr/>
          <p:nvPr/>
        </p:nvSpPr>
        <p:spPr>
          <a:xfrm>
            <a:off x="9515536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220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3</a:t>
            </a:r>
            <a:endParaRPr lang="en-US" sz="1400" dirty="0"/>
          </a:p>
        </p:txBody>
      </p:sp>
      <p:sp>
        <p:nvSpPr>
          <p:cNvPr id="75" name="Text 43">
            <a:extLst>
              <a:ext uri="{FF2B5EF4-FFF2-40B4-BE49-F238E27FC236}">
                <a16:creationId xmlns:a16="http://schemas.microsoft.com/office/drawing/2014/main" id="{65F001C4-5CEC-1D2F-A2D6-028B170D16EA}"/>
              </a:ext>
            </a:extLst>
          </p:cNvPr>
          <p:cNvSpPr/>
          <p:nvPr/>
        </p:nvSpPr>
        <p:spPr>
          <a:xfrm>
            <a:off x="9991024" y="34564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ENVIRONMENT</a:t>
            </a:r>
            <a:endParaRPr lang="en-US" sz="1100" dirty="0"/>
          </a:p>
        </p:txBody>
      </p:sp>
      <p:sp>
        <p:nvSpPr>
          <p:cNvPr id="76" name="Text 44">
            <a:extLst>
              <a:ext uri="{FF2B5EF4-FFF2-40B4-BE49-F238E27FC236}">
                <a16:creationId xmlns:a16="http://schemas.microsoft.com/office/drawing/2014/main" id="{A5D6E074-E57D-3B77-3F1B-3B2CBC8E55EA}"/>
              </a:ext>
            </a:extLst>
          </p:cNvPr>
          <p:cNvSpPr/>
          <p:nvPr/>
        </p:nvSpPr>
        <p:spPr>
          <a:xfrm>
            <a:off x="9991024" y="371246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The shared world, terrain, other players</a:t>
            </a:r>
            <a:endParaRPr lang="en-US" sz="850" dirty="0"/>
          </a:p>
        </p:txBody>
      </p:sp>
      <p:sp>
        <p:nvSpPr>
          <p:cNvPr id="77" name="Shape 45">
            <a:extLst>
              <a:ext uri="{FF2B5EF4-FFF2-40B4-BE49-F238E27FC236}">
                <a16:creationId xmlns:a16="http://schemas.microsoft.com/office/drawing/2014/main" id="{5883F32A-A5CC-BEF3-BDAC-B523B3916A10}"/>
              </a:ext>
            </a:extLst>
          </p:cNvPr>
          <p:cNvSpPr/>
          <p:nvPr/>
        </p:nvSpPr>
        <p:spPr>
          <a:xfrm>
            <a:off x="9396664" y="4151376"/>
            <a:ext cx="2559496" cy="713232"/>
          </a:xfrm>
          <a:prstGeom prst="rect">
            <a:avLst/>
          </a:prstGeom>
          <a:solidFill>
            <a:srgbClr val="121C2E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46">
            <a:extLst>
              <a:ext uri="{FF2B5EF4-FFF2-40B4-BE49-F238E27FC236}">
                <a16:creationId xmlns:a16="http://schemas.microsoft.com/office/drawing/2014/main" id="{202EEF0C-5D80-8E69-B738-F87580728F82}"/>
              </a:ext>
            </a:extLst>
          </p:cNvPr>
          <p:cNvSpPr/>
          <p:nvPr/>
        </p:nvSpPr>
        <p:spPr>
          <a:xfrm>
            <a:off x="9396664" y="4151376"/>
            <a:ext cx="54864" cy="713232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47">
            <a:extLst>
              <a:ext uri="{FF2B5EF4-FFF2-40B4-BE49-F238E27FC236}">
                <a16:creationId xmlns:a16="http://schemas.microsoft.com/office/drawing/2014/main" id="{D85B21A5-A95E-181E-A649-E78A4AFD94E5}"/>
              </a:ext>
            </a:extLst>
          </p:cNvPr>
          <p:cNvSpPr/>
          <p:nvPr/>
        </p:nvSpPr>
        <p:spPr>
          <a:xfrm>
            <a:off x="9515536" y="4288536"/>
            <a:ext cx="411480" cy="411480"/>
          </a:xfrm>
          <a:prstGeom prst="ellipse">
            <a:avLst/>
          </a:prstGeom>
          <a:solidFill>
            <a:srgbClr val="08F4D6"/>
          </a:solidFill>
          <a:ln w="1905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48">
            <a:extLst>
              <a:ext uri="{FF2B5EF4-FFF2-40B4-BE49-F238E27FC236}">
                <a16:creationId xmlns:a16="http://schemas.microsoft.com/office/drawing/2014/main" id="{1581E5B8-6C1C-405F-73D4-68A1C193025D}"/>
              </a:ext>
            </a:extLst>
          </p:cNvPr>
          <p:cNvSpPr/>
          <p:nvPr/>
        </p:nvSpPr>
        <p:spPr>
          <a:xfrm>
            <a:off x="9515536" y="42885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220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4</a:t>
            </a:r>
            <a:endParaRPr lang="en-US" sz="1400" dirty="0"/>
          </a:p>
        </p:txBody>
      </p:sp>
      <p:sp>
        <p:nvSpPr>
          <p:cNvPr id="116" name="Text 49">
            <a:extLst>
              <a:ext uri="{FF2B5EF4-FFF2-40B4-BE49-F238E27FC236}">
                <a16:creationId xmlns:a16="http://schemas.microsoft.com/office/drawing/2014/main" id="{ABE6FB11-D974-FFB8-50C3-6E0806B92E90}"/>
              </a:ext>
            </a:extLst>
          </p:cNvPr>
          <p:cNvSpPr/>
          <p:nvPr/>
        </p:nvSpPr>
        <p:spPr>
          <a:xfrm>
            <a:off x="9991024" y="42245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VALUE</a:t>
            </a:r>
            <a:endParaRPr lang="en-US" sz="1100" dirty="0"/>
          </a:p>
        </p:txBody>
      </p:sp>
      <p:sp>
        <p:nvSpPr>
          <p:cNvPr id="117" name="Text 50">
            <a:extLst>
              <a:ext uri="{FF2B5EF4-FFF2-40B4-BE49-F238E27FC236}">
                <a16:creationId xmlns:a16="http://schemas.microsoft.com/office/drawing/2014/main" id="{1B94A8AB-EE85-5622-163B-063DEE5F93F6}"/>
              </a:ext>
            </a:extLst>
          </p:cNvPr>
          <p:cNvSpPr/>
          <p:nvPr/>
        </p:nvSpPr>
        <p:spPr>
          <a:xfrm>
            <a:off x="9991024" y="44805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Resources, currency, inventory counts</a:t>
            </a:r>
            <a:endParaRPr lang="en-US" sz="850" dirty="0"/>
          </a:p>
        </p:txBody>
      </p:sp>
      <p:sp>
        <p:nvSpPr>
          <p:cNvPr id="118" name="Shape 51">
            <a:extLst>
              <a:ext uri="{FF2B5EF4-FFF2-40B4-BE49-F238E27FC236}">
                <a16:creationId xmlns:a16="http://schemas.microsoft.com/office/drawing/2014/main" id="{2B48F1D7-9289-28F2-9643-CF687AD29D7F}"/>
              </a:ext>
            </a:extLst>
          </p:cNvPr>
          <p:cNvSpPr/>
          <p:nvPr/>
        </p:nvSpPr>
        <p:spPr>
          <a:xfrm>
            <a:off x="9396664" y="4919472"/>
            <a:ext cx="2559496" cy="713232"/>
          </a:xfrm>
          <a:prstGeom prst="rect">
            <a:avLst/>
          </a:prstGeom>
          <a:solidFill>
            <a:srgbClr val="121C2E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52">
            <a:extLst>
              <a:ext uri="{FF2B5EF4-FFF2-40B4-BE49-F238E27FC236}">
                <a16:creationId xmlns:a16="http://schemas.microsoft.com/office/drawing/2014/main" id="{1D8A95C8-4E99-F91B-E69A-38E1C45029C5}"/>
              </a:ext>
            </a:extLst>
          </p:cNvPr>
          <p:cNvSpPr/>
          <p:nvPr/>
        </p:nvSpPr>
        <p:spPr>
          <a:xfrm>
            <a:off x="9396664" y="4919472"/>
            <a:ext cx="54864" cy="713232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53">
            <a:extLst>
              <a:ext uri="{FF2B5EF4-FFF2-40B4-BE49-F238E27FC236}">
                <a16:creationId xmlns:a16="http://schemas.microsoft.com/office/drawing/2014/main" id="{5D070EDE-3E9F-C719-4FD8-178ADF2A3D1A}"/>
              </a:ext>
            </a:extLst>
          </p:cNvPr>
          <p:cNvSpPr/>
          <p:nvPr/>
        </p:nvSpPr>
        <p:spPr>
          <a:xfrm>
            <a:off x="9515536" y="5056632"/>
            <a:ext cx="411480" cy="411480"/>
          </a:xfrm>
          <a:prstGeom prst="ellipse">
            <a:avLst/>
          </a:prstGeom>
          <a:solidFill>
            <a:srgbClr val="08F4D6"/>
          </a:solidFill>
          <a:ln w="1905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54">
            <a:extLst>
              <a:ext uri="{FF2B5EF4-FFF2-40B4-BE49-F238E27FC236}">
                <a16:creationId xmlns:a16="http://schemas.microsoft.com/office/drawing/2014/main" id="{80A30325-DF64-4553-8641-75522EF9DC78}"/>
              </a:ext>
            </a:extLst>
          </p:cNvPr>
          <p:cNvSpPr/>
          <p:nvPr/>
        </p:nvSpPr>
        <p:spPr>
          <a:xfrm>
            <a:off x="9515536" y="5056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220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5</a:t>
            </a:r>
            <a:endParaRPr lang="en-US" sz="1400" dirty="0"/>
          </a:p>
        </p:txBody>
      </p:sp>
      <p:sp>
        <p:nvSpPr>
          <p:cNvPr id="122" name="Text 55">
            <a:extLst>
              <a:ext uri="{FF2B5EF4-FFF2-40B4-BE49-F238E27FC236}">
                <a16:creationId xmlns:a16="http://schemas.microsoft.com/office/drawing/2014/main" id="{122D966D-D200-93FA-A844-5D8C126638F4}"/>
              </a:ext>
            </a:extLst>
          </p:cNvPr>
          <p:cNvSpPr/>
          <p:nvPr/>
        </p:nvSpPr>
        <p:spPr>
          <a:xfrm>
            <a:off x="9991024" y="499262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CONTENT</a:t>
            </a:r>
            <a:endParaRPr lang="en-US" sz="1100" dirty="0"/>
          </a:p>
        </p:txBody>
      </p:sp>
      <p:sp>
        <p:nvSpPr>
          <p:cNvPr id="123" name="Text 56">
            <a:extLst>
              <a:ext uri="{FF2B5EF4-FFF2-40B4-BE49-F238E27FC236}">
                <a16:creationId xmlns:a16="http://schemas.microsoft.com/office/drawing/2014/main" id="{409E7E25-4E09-35C7-40E5-F796C9504193}"/>
              </a:ext>
            </a:extLst>
          </p:cNvPr>
          <p:cNvSpPr/>
          <p:nvPr/>
        </p:nvSpPr>
        <p:spPr>
          <a:xfrm>
            <a:off x="9991024" y="524865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Held weapon, cosmetics, player-published items</a:t>
            </a:r>
            <a:endParaRPr lang="en-US" sz="850" dirty="0"/>
          </a:p>
        </p:txBody>
      </p:sp>
      <p:sp>
        <p:nvSpPr>
          <p:cNvPr id="125" name="Shape 58">
            <a:extLst>
              <a:ext uri="{FF2B5EF4-FFF2-40B4-BE49-F238E27FC236}">
                <a16:creationId xmlns:a16="http://schemas.microsoft.com/office/drawing/2014/main" id="{AB7F5BE1-1048-264E-A15E-8E610EB051A3}"/>
              </a:ext>
            </a:extLst>
          </p:cNvPr>
          <p:cNvSpPr/>
          <p:nvPr/>
        </p:nvSpPr>
        <p:spPr>
          <a:xfrm>
            <a:off x="9396664" y="5687568"/>
            <a:ext cx="54864" cy="713232"/>
          </a:xfrm>
          <a:prstGeom prst="rect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59">
            <a:extLst>
              <a:ext uri="{FF2B5EF4-FFF2-40B4-BE49-F238E27FC236}">
                <a16:creationId xmlns:a16="http://schemas.microsoft.com/office/drawing/2014/main" id="{E7DAE968-FAB4-1D31-11A2-25A1EF7BD0DC}"/>
              </a:ext>
            </a:extLst>
          </p:cNvPr>
          <p:cNvSpPr/>
          <p:nvPr/>
        </p:nvSpPr>
        <p:spPr>
          <a:xfrm>
            <a:off x="9515536" y="5824728"/>
            <a:ext cx="411480" cy="411480"/>
          </a:xfrm>
          <a:prstGeom prst="ellipse">
            <a:avLst/>
          </a:prstGeom>
          <a:solidFill>
            <a:srgbClr val="F0A04B"/>
          </a:solidFill>
          <a:ln w="1905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Text 60">
            <a:extLst>
              <a:ext uri="{FF2B5EF4-FFF2-40B4-BE49-F238E27FC236}">
                <a16:creationId xmlns:a16="http://schemas.microsoft.com/office/drawing/2014/main" id="{971194E1-EE89-075D-7613-C87547E9A2B9}"/>
              </a:ext>
            </a:extLst>
          </p:cNvPr>
          <p:cNvSpPr/>
          <p:nvPr/>
        </p:nvSpPr>
        <p:spPr>
          <a:xfrm>
            <a:off x="9515536" y="5824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220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6</a:t>
            </a:r>
            <a:endParaRPr lang="en-US" sz="1400" dirty="0"/>
          </a:p>
        </p:txBody>
      </p:sp>
      <p:sp>
        <p:nvSpPr>
          <p:cNvPr id="128" name="Text 61">
            <a:extLst>
              <a:ext uri="{FF2B5EF4-FFF2-40B4-BE49-F238E27FC236}">
                <a16:creationId xmlns:a16="http://schemas.microsoft.com/office/drawing/2014/main" id="{6CD5B5CB-BF82-CC78-0B4F-7BEAFC8116C1}"/>
              </a:ext>
            </a:extLst>
          </p:cNvPr>
          <p:cNvSpPr/>
          <p:nvPr/>
        </p:nvSpPr>
        <p:spPr>
          <a:xfrm>
            <a:off x="9991024" y="57607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129" name="Text 62">
            <a:extLst>
              <a:ext uri="{FF2B5EF4-FFF2-40B4-BE49-F238E27FC236}">
                <a16:creationId xmlns:a16="http://schemas.microsoft.com/office/drawing/2014/main" id="{6750750B-1E5A-4524-5C5E-8592437BBC3B}"/>
              </a:ext>
            </a:extLst>
          </p:cNvPr>
          <p:cNvSpPr/>
          <p:nvPr/>
        </p:nvSpPr>
        <p:spPr>
          <a:xfrm>
            <a:off x="9991024" y="601675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Session info, server health, latency</a:t>
            </a:r>
            <a:endParaRPr lang="en-US" sz="850" dirty="0"/>
          </a:p>
        </p:txBody>
      </p:sp>
      <p:sp>
        <p:nvSpPr>
          <p:cNvPr id="130" name="Text 63">
            <a:extLst>
              <a:ext uri="{FF2B5EF4-FFF2-40B4-BE49-F238E27FC236}">
                <a16:creationId xmlns:a16="http://schemas.microsoft.com/office/drawing/2014/main" id="{AC201BF9-6BDB-4808-56C3-A70CA20F69FF}"/>
              </a:ext>
            </a:extLst>
          </p:cNvPr>
          <p:cNvSpPr/>
          <p:nvPr/>
        </p:nvSpPr>
        <p:spPr>
          <a:xfrm>
            <a:off x="365760" y="6565392"/>
            <a:ext cx="11475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This isn't a special analytical view — it's the normal player UI. The framework's surfaces are how the game already presents itself.</a:t>
            </a:r>
            <a:endParaRPr lang="en-US" dirty="0"/>
          </a:p>
        </p:txBody>
      </p:sp>
      <p:sp>
        <p:nvSpPr>
          <p:cNvPr id="131" name="Shape 18">
            <a:extLst>
              <a:ext uri="{FF2B5EF4-FFF2-40B4-BE49-F238E27FC236}">
                <a16:creationId xmlns:a16="http://schemas.microsoft.com/office/drawing/2014/main" id="{791C058C-BB9D-551B-983D-0F1C5FD021EA}"/>
              </a:ext>
            </a:extLst>
          </p:cNvPr>
          <p:cNvSpPr/>
          <p:nvPr/>
        </p:nvSpPr>
        <p:spPr>
          <a:xfrm>
            <a:off x="4515325" y="5568696"/>
            <a:ext cx="384048" cy="384048"/>
          </a:xfrm>
          <a:prstGeom prst="ellipse">
            <a:avLst/>
          </a:prstGeom>
          <a:solidFill>
            <a:srgbClr val="08F4D6"/>
          </a:solidFill>
          <a:ln w="254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19">
            <a:extLst>
              <a:ext uri="{FF2B5EF4-FFF2-40B4-BE49-F238E27FC236}">
                <a16:creationId xmlns:a16="http://schemas.microsoft.com/office/drawing/2014/main" id="{A0AE1B6B-052D-E1E2-780D-CB35BD13C351}"/>
              </a:ext>
            </a:extLst>
          </p:cNvPr>
          <p:cNvSpPr/>
          <p:nvPr/>
        </p:nvSpPr>
        <p:spPr>
          <a:xfrm>
            <a:off x="4515325" y="5568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4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14197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>
          <a:extLst>
            <a:ext uri="{FF2B5EF4-FFF2-40B4-BE49-F238E27FC236}">
              <a16:creationId xmlns:a16="http://schemas.microsoft.com/office/drawing/2014/main" id="{438D4572-5DFF-6691-0180-643D338D3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3BE2A4B6-8975-1160-2C7D-721C2D0E1C25}"/>
              </a:ext>
            </a:extLst>
          </p:cNvPr>
          <p:cNvSpPr/>
          <p:nvPr/>
        </p:nvSpPr>
        <p:spPr>
          <a:xfrm>
            <a:off x="457200" y="18288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Threats shift constantly.</a:t>
            </a:r>
            <a:endParaRPr lang="en-US" sz="44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6640345-5F52-8BD0-F34B-4ECF28D1E27B}"/>
              </a:ext>
            </a:extLst>
          </p:cNvPr>
          <p:cNvSpPr/>
          <p:nvPr/>
        </p:nvSpPr>
        <p:spPr>
          <a:xfrm>
            <a:off x="457200" y="2697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D0D0D8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What they </a:t>
            </a:r>
            <a:r>
              <a:rPr lang="en-US" sz="4400" dirty="0">
                <a:solidFill>
                  <a:srgbClr val="D0D0D8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target</a:t>
            </a:r>
            <a:r>
              <a:rPr lang="en-US" sz="4400" b="1" dirty="0">
                <a:solidFill>
                  <a:srgbClr val="D0D0D8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 rarely does.</a:t>
            </a:r>
            <a:endParaRPr lang="en-US" sz="44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32681849-78B2-FDEA-C58F-41AF3AB2555F}"/>
              </a:ext>
            </a:extLst>
          </p:cNvPr>
          <p:cNvSpPr/>
          <p:nvPr/>
        </p:nvSpPr>
        <p:spPr>
          <a:xfrm>
            <a:off x="457200" y="4023360"/>
            <a:ext cx="548640" cy="36576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6E90050-DEAF-7046-6FD4-CD9A07A360CC}"/>
              </a:ext>
            </a:extLst>
          </p:cNvPr>
          <p:cNvSpPr/>
          <p:nvPr/>
        </p:nvSpPr>
        <p:spPr>
          <a:xfrm>
            <a:off x="457200" y="42519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These targets have a name:</a:t>
            </a:r>
            <a:endParaRPr lang="en-US" sz="24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977AC21-700B-1322-AC0D-5579734E13CA}"/>
              </a:ext>
            </a:extLst>
          </p:cNvPr>
          <p:cNvSpPr/>
          <p:nvPr/>
        </p:nvSpPr>
        <p:spPr>
          <a:xfrm>
            <a:off x="457200" y="480060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Invariants.</a:t>
            </a:r>
            <a:endParaRPr lang="en-US" sz="8800" dirty="0"/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7F4C57BD-ACED-3EC0-A3E0-262A491334AA}"/>
              </a:ext>
            </a:extLst>
          </p:cNvPr>
          <p:cNvSpPr/>
          <p:nvPr/>
        </p:nvSpPr>
        <p:spPr>
          <a:xfrm>
            <a:off x="411480" y="22100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G.H.O.S.T  |  BEFORE WE MODEL THREATS</a:t>
            </a:r>
            <a:endParaRPr 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4049055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>
          <a:extLst>
            <a:ext uri="{FF2B5EF4-FFF2-40B4-BE49-F238E27FC236}">
              <a16:creationId xmlns:a16="http://schemas.microsoft.com/office/drawing/2014/main" id="{980DF381-C4E3-03D4-F738-C5809F30F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0">
            <a:extLst>
              <a:ext uri="{FF2B5EF4-FFF2-40B4-BE49-F238E27FC236}">
                <a16:creationId xmlns:a16="http://schemas.microsoft.com/office/drawing/2014/main" id="{53279AD0-D460-E720-50F3-EAF5E8321CFF}"/>
              </a:ext>
            </a:extLst>
          </p:cNvPr>
          <p:cNvSpPr/>
          <p:nvPr/>
        </p:nvSpPr>
        <p:spPr>
          <a:xfrm>
            <a:off x="411480" y="22100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G.H.O.S.T  |  THE METHODOLOGY</a:t>
            </a:r>
            <a:endParaRPr lang="en-US" sz="1000" b="1" dirty="0"/>
          </a:p>
        </p:txBody>
      </p:sp>
      <p:sp>
        <p:nvSpPr>
          <p:cNvPr id="2" name="Google Shape;315;p47">
            <a:extLst>
              <a:ext uri="{FF2B5EF4-FFF2-40B4-BE49-F238E27FC236}">
                <a16:creationId xmlns:a16="http://schemas.microsoft.com/office/drawing/2014/main" id="{1FEDF8F8-0E65-58A6-CF4E-E6AE4C5085E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71399" y="590500"/>
            <a:ext cx="10176705" cy="304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Invariant-Anchored Telemetry (IAT)</a:t>
            </a:r>
            <a:endParaRPr sz="3200" dirty="0"/>
          </a:p>
        </p:txBody>
      </p:sp>
      <p:sp>
        <p:nvSpPr>
          <p:cNvPr id="44" name="Shape 5">
            <a:extLst>
              <a:ext uri="{FF2B5EF4-FFF2-40B4-BE49-F238E27FC236}">
                <a16:creationId xmlns:a16="http://schemas.microsoft.com/office/drawing/2014/main" id="{5128DBE6-4D42-F871-1412-DFEC0EF10199}"/>
              </a:ext>
            </a:extLst>
          </p:cNvPr>
          <p:cNvSpPr/>
          <p:nvPr/>
        </p:nvSpPr>
        <p:spPr>
          <a:xfrm>
            <a:off x="279133" y="1609821"/>
            <a:ext cx="11475720" cy="1417320"/>
          </a:xfrm>
          <a:prstGeom prst="rect">
            <a:avLst/>
          </a:prstGeom>
          <a:solidFill>
            <a:srgbClr val="121C2E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6">
            <a:extLst>
              <a:ext uri="{FF2B5EF4-FFF2-40B4-BE49-F238E27FC236}">
                <a16:creationId xmlns:a16="http://schemas.microsoft.com/office/drawing/2014/main" id="{0032BFE3-6E8A-DCDA-1B6E-48AB0B6211C5}"/>
              </a:ext>
            </a:extLst>
          </p:cNvPr>
          <p:cNvSpPr/>
          <p:nvPr/>
        </p:nvSpPr>
        <p:spPr>
          <a:xfrm>
            <a:off x="279133" y="1609821"/>
            <a:ext cx="64008" cy="1417320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7">
            <a:extLst>
              <a:ext uri="{FF2B5EF4-FFF2-40B4-BE49-F238E27FC236}">
                <a16:creationId xmlns:a16="http://schemas.microsoft.com/office/drawing/2014/main" id="{EBDB9A68-732D-FB59-EC2D-3F6F566027E2}"/>
              </a:ext>
            </a:extLst>
          </p:cNvPr>
          <p:cNvSpPr/>
          <p:nvPr/>
        </p:nvSpPr>
        <p:spPr>
          <a:xfrm>
            <a:off x="571741" y="1774413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01</a:t>
            </a:r>
            <a:endParaRPr lang="en-US" sz="1200" dirty="0"/>
          </a:p>
        </p:txBody>
      </p:sp>
      <p:sp>
        <p:nvSpPr>
          <p:cNvPr id="47" name="Text 8">
            <a:extLst>
              <a:ext uri="{FF2B5EF4-FFF2-40B4-BE49-F238E27FC236}">
                <a16:creationId xmlns:a16="http://schemas.microsoft.com/office/drawing/2014/main" id="{959C5830-DB67-BE3B-306A-6F81005386CD}"/>
              </a:ext>
            </a:extLst>
          </p:cNvPr>
          <p:cNvSpPr/>
          <p:nvPr/>
        </p:nvSpPr>
        <p:spPr>
          <a:xfrm>
            <a:off x="571741" y="2048733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INVARIANTS</a:t>
            </a:r>
            <a:endParaRPr lang="en-US" sz="2000" dirty="0"/>
          </a:p>
        </p:txBody>
      </p:sp>
      <p:sp>
        <p:nvSpPr>
          <p:cNvPr id="48" name="Text 9">
            <a:extLst>
              <a:ext uri="{FF2B5EF4-FFF2-40B4-BE49-F238E27FC236}">
                <a16:creationId xmlns:a16="http://schemas.microsoft.com/office/drawing/2014/main" id="{9562D988-FFF7-67C8-DBA0-E7B68BB27E1B}"/>
              </a:ext>
            </a:extLst>
          </p:cNvPr>
          <p:cNvSpPr/>
          <p:nvPr/>
        </p:nvSpPr>
        <p:spPr>
          <a:xfrm>
            <a:off x="571741" y="2569941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Universal properties</a:t>
            </a:r>
            <a:endParaRPr lang="en-US" dirty="0"/>
          </a:p>
        </p:txBody>
      </p:sp>
      <p:sp>
        <p:nvSpPr>
          <p:cNvPr id="49" name="Text 10">
            <a:extLst>
              <a:ext uri="{FF2B5EF4-FFF2-40B4-BE49-F238E27FC236}">
                <a16:creationId xmlns:a16="http://schemas.microsoft.com/office/drawing/2014/main" id="{8E70577E-B69A-C53C-32A4-A9AF0AD045DD}"/>
              </a:ext>
            </a:extLst>
          </p:cNvPr>
          <p:cNvSpPr/>
          <p:nvPr/>
        </p:nvSpPr>
        <p:spPr>
          <a:xfrm>
            <a:off x="3570973" y="1810989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What must hold?</a:t>
            </a:r>
            <a:endParaRPr lang="en-US" sz="2000" dirty="0"/>
          </a:p>
        </p:txBody>
      </p:sp>
      <p:sp>
        <p:nvSpPr>
          <p:cNvPr id="50" name="Shape 11">
            <a:extLst>
              <a:ext uri="{FF2B5EF4-FFF2-40B4-BE49-F238E27FC236}">
                <a16:creationId xmlns:a16="http://schemas.microsoft.com/office/drawing/2014/main" id="{E1023E32-41C9-E1F9-E3FF-A730282A5C08}"/>
              </a:ext>
            </a:extLst>
          </p:cNvPr>
          <p:cNvSpPr/>
          <p:nvPr/>
        </p:nvSpPr>
        <p:spPr>
          <a:xfrm>
            <a:off x="3570973" y="2213325"/>
            <a:ext cx="365760" cy="22860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51" name="Text 12">
            <a:extLst>
              <a:ext uri="{FF2B5EF4-FFF2-40B4-BE49-F238E27FC236}">
                <a16:creationId xmlns:a16="http://schemas.microsoft.com/office/drawing/2014/main" id="{D5D0BA0A-0DF3-79C6-7CAC-28F6DEA427CF}"/>
              </a:ext>
            </a:extLst>
          </p:cNvPr>
          <p:cNvSpPr/>
          <p:nvPr/>
        </p:nvSpPr>
        <p:spPr>
          <a:xfrm>
            <a:off x="3570973" y="2304765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Tend to hold across platforms and time. Independent of features.</a:t>
            </a:r>
            <a:endParaRPr lang="en-US" sz="1200" dirty="0"/>
          </a:p>
        </p:txBody>
      </p:sp>
      <p:sp>
        <p:nvSpPr>
          <p:cNvPr id="52" name="Text 13">
            <a:extLst>
              <a:ext uri="{FF2B5EF4-FFF2-40B4-BE49-F238E27FC236}">
                <a16:creationId xmlns:a16="http://schemas.microsoft.com/office/drawing/2014/main" id="{CF85E0B7-3FF0-A111-05AD-4A663C6A01C2}"/>
              </a:ext>
            </a:extLst>
          </p:cNvPr>
          <p:cNvSpPr/>
          <p:nvPr/>
        </p:nvSpPr>
        <p:spPr>
          <a:xfrm>
            <a:off x="7822933" y="1810989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EXAMPLE</a:t>
            </a:r>
            <a:endParaRPr lang="en-US" sz="1050" dirty="0"/>
          </a:p>
        </p:txBody>
      </p:sp>
      <p:sp>
        <p:nvSpPr>
          <p:cNvPr id="53" name="Shape 14">
            <a:extLst>
              <a:ext uri="{FF2B5EF4-FFF2-40B4-BE49-F238E27FC236}">
                <a16:creationId xmlns:a16="http://schemas.microsoft.com/office/drawing/2014/main" id="{1B2F6E52-2CBD-25FE-1F9E-6FA587B143D0}"/>
              </a:ext>
            </a:extLst>
          </p:cNvPr>
          <p:cNvSpPr/>
          <p:nvPr/>
        </p:nvSpPr>
        <p:spPr>
          <a:xfrm>
            <a:off x="7822933" y="2085309"/>
            <a:ext cx="365760" cy="22860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54" name="Text 15">
            <a:extLst>
              <a:ext uri="{FF2B5EF4-FFF2-40B4-BE49-F238E27FC236}">
                <a16:creationId xmlns:a16="http://schemas.microsoft.com/office/drawing/2014/main" id="{793336CF-F758-69BB-4F90-086E9361BBEF}"/>
              </a:ext>
            </a:extLst>
          </p:cNvPr>
          <p:cNvSpPr/>
          <p:nvPr/>
        </p:nvSpPr>
        <p:spPr>
          <a:xfrm>
            <a:off x="7822933" y="2176749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e.g. 'Player identity must not be impersonable.'</a:t>
            </a:r>
            <a:endParaRPr lang="en-US" dirty="0"/>
          </a:p>
        </p:txBody>
      </p:sp>
      <p:sp>
        <p:nvSpPr>
          <p:cNvPr id="55" name="Shape 16">
            <a:extLst>
              <a:ext uri="{FF2B5EF4-FFF2-40B4-BE49-F238E27FC236}">
                <a16:creationId xmlns:a16="http://schemas.microsoft.com/office/drawing/2014/main" id="{EC868A4C-F56A-9BE8-7C7B-7F9749B9E9B3}"/>
              </a:ext>
            </a:extLst>
          </p:cNvPr>
          <p:cNvSpPr/>
          <p:nvPr/>
        </p:nvSpPr>
        <p:spPr>
          <a:xfrm>
            <a:off x="279133" y="3319749"/>
            <a:ext cx="11475720" cy="1417320"/>
          </a:xfrm>
          <a:prstGeom prst="rect">
            <a:avLst/>
          </a:prstGeom>
          <a:solidFill>
            <a:srgbClr val="121C2E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17">
            <a:extLst>
              <a:ext uri="{FF2B5EF4-FFF2-40B4-BE49-F238E27FC236}">
                <a16:creationId xmlns:a16="http://schemas.microsoft.com/office/drawing/2014/main" id="{BEAE208E-1478-7414-C090-FF2E070D6A1D}"/>
              </a:ext>
            </a:extLst>
          </p:cNvPr>
          <p:cNvSpPr/>
          <p:nvPr/>
        </p:nvSpPr>
        <p:spPr>
          <a:xfrm>
            <a:off x="279133" y="3319749"/>
            <a:ext cx="64008" cy="1417320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18">
            <a:extLst>
              <a:ext uri="{FF2B5EF4-FFF2-40B4-BE49-F238E27FC236}">
                <a16:creationId xmlns:a16="http://schemas.microsoft.com/office/drawing/2014/main" id="{F1A9DD4B-CD35-2E45-33B3-8BA80C9FA0E0}"/>
              </a:ext>
            </a:extLst>
          </p:cNvPr>
          <p:cNvSpPr/>
          <p:nvPr/>
        </p:nvSpPr>
        <p:spPr>
          <a:xfrm>
            <a:off x="571741" y="3484341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02</a:t>
            </a:r>
            <a:endParaRPr lang="en-US" sz="1200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F29C97C9-E213-66D6-BE97-8073683418B4}"/>
              </a:ext>
            </a:extLst>
          </p:cNvPr>
          <p:cNvSpPr/>
          <p:nvPr/>
        </p:nvSpPr>
        <p:spPr>
          <a:xfrm>
            <a:off x="571741" y="3758661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TELEMETRY</a:t>
            </a:r>
            <a:endParaRPr lang="en-US" sz="2000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A1135CFD-DCBB-4D26-7A6A-597D7299443D}"/>
              </a:ext>
            </a:extLst>
          </p:cNvPr>
          <p:cNvSpPr/>
          <p:nvPr/>
        </p:nvSpPr>
        <p:spPr>
          <a:xfrm>
            <a:off x="571741" y="4279869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Observable evidence</a:t>
            </a:r>
            <a:endParaRPr lang="en-US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9F175FBC-E091-4912-2463-1034DEDC9E05}"/>
              </a:ext>
            </a:extLst>
          </p:cNvPr>
          <p:cNvSpPr/>
          <p:nvPr/>
        </p:nvSpPr>
        <p:spPr>
          <a:xfrm>
            <a:off x="3570973" y="3520917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What do we measure?</a:t>
            </a:r>
            <a:endParaRPr lang="en-US" sz="2000" dirty="0"/>
          </a:p>
        </p:txBody>
      </p:sp>
      <p:sp>
        <p:nvSpPr>
          <p:cNvPr id="61" name="Shape 22">
            <a:extLst>
              <a:ext uri="{FF2B5EF4-FFF2-40B4-BE49-F238E27FC236}">
                <a16:creationId xmlns:a16="http://schemas.microsoft.com/office/drawing/2014/main" id="{66FE2150-7926-3117-097C-DD9694092213}"/>
              </a:ext>
            </a:extLst>
          </p:cNvPr>
          <p:cNvSpPr/>
          <p:nvPr/>
        </p:nvSpPr>
        <p:spPr>
          <a:xfrm>
            <a:off x="3570973" y="3923253"/>
            <a:ext cx="365760" cy="22860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62" name="Text 23">
            <a:extLst>
              <a:ext uri="{FF2B5EF4-FFF2-40B4-BE49-F238E27FC236}">
                <a16:creationId xmlns:a16="http://schemas.microsoft.com/office/drawing/2014/main" id="{3829BC3B-DC77-A09F-09C9-60818FEFD0F6}"/>
              </a:ext>
            </a:extLst>
          </p:cNvPr>
          <p:cNvSpPr/>
          <p:nvPr/>
        </p:nvSpPr>
        <p:spPr>
          <a:xfrm>
            <a:off x="3570973" y="4014693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Each invariant produces required telemetry — events, fields, and emission triggers tied to platform surface.</a:t>
            </a:r>
            <a:endParaRPr lang="en-US" sz="1200" dirty="0"/>
          </a:p>
        </p:txBody>
      </p:sp>
      <p:sp>
        <p:nvSpPr>
          <p:cNvPr id="63" name="Text 24">
            <a:extLst>
              <a:ext uri="{FF2B5EF4-FFF2-40B4-BE49-F238E27FC236}">
                <a16:creationId xmlns:a16="http://schemas.microsoft.com/office/drawing/2014/main" id="{8E309C0F-35EB-5096-5A7A-F1F558AE806F}"/>
              </a:ext>
            </a:extLst>
          </p:cNvPr>
          <p:cNvSpPr/>
          <p:nvPr/>
        </p:nvSpPr>
        <p:spPr>
          <a:xfrm>
            <a:off x="7822933" y="3520917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EXAMPLE</a:t>
            </a:r>
            <a:endParaRPr lang="en-US" sz="1000" dirty="0"/>
          </a:p>
        </p:txBody>
      </p:sp>
      <p:sp>
        <p:nvSpPr>
          <p:cNvPr id="64" name="Shape 25">
            <a:extLst>
              <a:ext uri="{FF2B5EF4-FFF2-40B4-BE49-F238E27FC236}">
                <a16:creationId xmlns:a16="http://schemas.microsoft.com/office/drawing/2014/main" id="{745B0215-942C-CFBF-5E7C-78768E36A0D1}"/>
              </a:ext>
            </a:extLst>
          </p:cNvPr>
          <p:cNvSpPr/>
          <p:nvPr/>
        </p:nvSpPr>
        <p:spPr>
          <a:xfrm>
            <a:off x="7822933" y="3795237"/>
            <a:ext cx="365760" cy="22860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65" name="Text 26">
            <a:extLst>
              <a:ext uri="{FF2B5EF4-FFF2-40B4-BE49-F238E27FC236}">
                <a16:creationId xmlns:a16="http://schemas.microsoft.com/office/drawing/2014/main" id="{C0973EBD-E0F6-F83C-B337-7E1EBE341A37}"/>
              </a:ext>
            </a:extLst>
          </p:cNvPr>
          <p:cNvSpPr/>
          <p:nvPr/>
        </p:nvSpPr>
        <p:spPr>
          <a:xfrm>
            <a:off x="7822933" y="3886677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identity_create_or_rename { player_id, handle, similarity_to_existing, decision }</a:t>
            </a:r>
            <a:endParaRPr lang="en-US" sz="1200" dirty="0"/>
          </a:p>
        </p:txBody>
      </p:sp>
      <p:sp>
        <p:nvSpPr>
          <p:cNvPr id="66" name="Shape 27">
            <a:extLst>
              <a:ext uri="{FF2B5EF4-FFF2-40B4-BE49-F238E27FC236}">
                <a16:creationId xmlns:a16="http://schemas.microsoft.com/office/drawing/2014/main" id="{9A0A6F96-1964-E490-5A55-3ED7CD9F4D33}"/>
              </a:ext>
            </a:extLst>
          </p:cNvPr>
          <p:cNvSpPr/>
          <p:nvPr/>
        </p:nvSpPr>
        <p:spPr>
          <a:xfrm>
            <a:off x="279133" y="5029677"/>
            <a:ext cx="11475720" cy="1417320"/>
          </a:xfrm>
          <a:prstGeom prst="rect">
            <a:avLst/>
          </a:prstGeom>
          <a:solidFill>
            <a:srgbClr val="121C2E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28">
            <a:extLst>
              <a:ext uri="{FF2B5EF4-FFF2-40B4-BE49-F238E27FC236}">
                <a16:creationId xmlns:a16="http://schemas.microsoft.com/office/drawing/2014/main" id="{B93D5204-02F3-81A5-F018-84700AE26FF2}"/>
              </a:ext>
            </a:extLst>
          </p:cNvPr>
          <p:cNvSpPr/>
          <p:nvPr/>
        </p:nvSpPr>
        <p:spPr>
          <a:xfrm>
            <a:off x="279133" y="5029677"/>
            <a:ext cx="64008" cy="1417320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29">
            <a:extLst>
              <a:ext uri="{FF2B5EF4-FFF2-40B4-BE49-F238E27FC236}">
                <a16:creationId xmlns:a16="http://schemas.microsoft.com/office/drawing/2014/main" id="{2FA75F6F-5BA2-4C77-1726-D237DB4A6142}"/>
              </a:ext>
            </a:extLst>
          </p:cNvPr>
          <p:cNvSpPr/>
          <p:nvPr/>
        </p:nvSpPr>
        <p:spPr>
          <a:xfrm>
            <a:off x="571741" y="5194269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03</a:t>
            </a:r>
            <a:endParaRPr lang="en-US" sz="1200" dirty="0"/>
          </a:p>
        </p:txBody>
      </p:sp>
      <p:sp>
        <p:nvSpPr>
          <p:cNvPr id="69" name="Text 30">
            <a:extLst>
              <a:ext uri="{FF2B5EF4-FFF2-40B4-BE49-F238E27FC236}">
                <a16:creationId xmlns:a16="http://schemas.microsoft.com/office/drawing/2014/main" id="{6B49FD11-516B-334C-399D-7B7885C64EC8}"/>
              </a:ext>
            </a:extLst>
          </p:cNvPr>
          <p:cNvSpPr/>
          <p:nvPr/>
        </p:nvSpPr>
        <p:spPr>
          <a:xfrm>
            <a:off x="571741" y="5468589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THREATS</a:t>
            </a:r>
            <a:endParaRPr lang="en-US" sz="2000" dirty="0"/>
          </a:p>
        </p:txBody>
      </p:sp>
      <p:sp>
        <p:nvSpPr>
          <p:cNvPr id="70" name="Text 31">
            <a:extLst>
              <a:ext uri="{FF2B5EF4-FFF2-40B4-BE49-F238E27FC236}">
                <a16:creationId xmlns:a16="http://schemas.microsoft.com/office/drawing/2014/main" id="{1DE1F995-1EF5-085A-1734-98312EE7CCE3}"/>
              </a:ext>
            </a:extLst>
          </p:cNvPr>
          <p:cNvSpPr/>
          <p:nvPr/>
        </p:nvSpPr>
        <p:spPr>
          <a:xfrm>
            <a:off x="571741" y="5989797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Detections bound to telemetry</a:t>
            </a:r>
            <a:endParaRPr lang="en-US" dirty="0"/>
          </a:p>
        </p:txBody>
      </p:sp>
      <p:sp>
        <p:nvSpPr>
          <p:cNvPr id="71" name="Text 32">
            <a:extLst>
              <a:ext uri="{FF2B5EF4-FFF2-40B4-BE49-F238E27FC236}">
                <a16:creationId xmlns:a16="http://schemas.microsoft.com/office/drawing/2014/main" id="{D74BF833-9D64-DCE4-70EC-5B27E83D2829}"/>
              </a:ext>
            </a:extLst>
          </p:cNvPr>
          <p:cNvSpPr/>
          <p:nvPr/>
        </p:nvSpPr>
        <p:spPr>
          <a:xfrm>
            <a:off x="3570973" y="5230845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What are we catching?</a:t>
            </a:r>
            <a:endParaRPr lang="en-US" sz="2000" dirty="0"/>
          </a:p>
        </p:txBody>
      </p:sp>
      <p:sp>
        <p:nvSpPr>
          <p:cNvPr id="72" name="Shape 33">
            <a:extLst>
              <a:ext uri="{FF2B5EF4-FFF2-40B4-BE49-F238E27FC236}">
                <a16:creationId xmlns:a16="http://schemas.microsoft.com/office/drawing/2014/main" id="{9D2EADF2-2252-763D-B62F-534A5FD11536}"/>
              </a:ext>
            </a:extLst>
          </p:cNvPr>
          <p:cNvSpPr/>
          <p:nvPr/>
        </p:nvSpPr>
        <p:spPr>
          <a:xfrm>
            <a:off x="3570973" y="5633181"/>
            <a:ext cx="365760" cy="22860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73" name="Text 34">
            <a:extLst>
              <a:ext uri="{FF2B5EF4-FFF2-40B4-BE49-F238E27FC236}">
                <a16:creationId xmlns:a16="http://schemas.microsoft.com/office/drawing/2014/main" id="{060D0773-2083-8D5A-565F-975953745803}"/>
              </a:ext>
            </a:extLst>
          </p:cNvPr>
          <p:cNvSpPr/>
          <p:nvPr/>
        </p:nvSpPr>
        <p:spPr>
          <a:xfrm>
            <a:off x="3570973" y="5724621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Named for the ecosystem. Illustrative, not exhaustive. Each threat binds to a filter on the telemetry above.</a:t>
            </a:r>
            <a:endParaRPr lang="en-US" sz="1200" dirty="0"/>
          </a:p>
        </p:txBody>
      </p:sp>
      <p:sp>
        <p:nvSpPr>
          <p:cNvPr id="74" name="Text 35">
            <a:extLst>
              <a:ext uri="{FF2B5EF4-FFF2-40B4-BE49-F238E27FC236}">
                <a16:creationId xmlns:a16="http://schemas.microsoft.com/office/drawing/2014/main" id="{2B57C1DF-B047-2BC5-3509-1EB28B426C1B}"/>
              </a:ext>
            </a:extLst>
          </p:cNvPr>
          <p:cNvSpPr/>
          <p:nvPr/>
        </p:nvSpPr>
        <p:spPr>
          <a:xfrm>
            <a:off x="7822933" y="5230845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EXAMPLE</a:t>
            </a:r>
            <a:endParaRPr lang="en-US" sz="1000" dirty="0"/>
          </a:p>
        </p:txBody>
      </p:sp>
      <p:sp>
        <p:nvSpPr>
          <p:cNvPr id="75" name="Shape 36">
            <a:extLst>
              <a:ext uri="{FF2B5EF4-FFF2-40B4-BE49-F238E27FC236}">
                <a16:creationId xmlns:a16="http://schemas.microsoft.com/office/drawing/2014/main" id="{9159E3EA-8878-D739-5369-E9B981FCE86C}"/>
              </a:ext>
            </a:extLst>
          </p:cNvPr>
          <p:cNvSpPr/>
          <p:nvPr/>
        </p:nvSpPr>
        <p:spPr>
          <a:xfrm>
            <a:off x="7822933" y="5505165"/>
            <a:ext cx="365760" cy="22860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76" name="Text 37">
            <a:extLst>
              <a:ext uri="{FF2B5EF4-FFF2-40B4-BE49-F238E27FC236}">
                <a16:creationId xmlns:a16="http://schemas.microsoft.com/office/drawing/2014/main" id="{93985BE1-7576-B28A-38FC-A608E402E7BD}"/>
              </a:ext>
            </a:extLst>
          </p:cNvPr>
          <p:cNvSpPr/>
          <p:nvPr/>
        </p:nvSpPr>
        <p:spPr>
          <a:xfrm>
            <a:off x="7822933" y="5596605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e.g. 'Look-alike username' · ‘Homoglyphs' · 'Impersonation account'</a:t>
            </a:r>
            <a:endParaRPr lang="en-US" dirty="0"/>
          </a:p>
        </p:txBody>
      </p:sp>
      <p:sp>
        <p:nvSpPr>
          <p:cNvPr id="77" name="Shape 38">
            <a:extLst>
              <a:ext uri="{FF2B5EF4-FFF2-40B4-BE49-F238E27FC236}">
                <a16:creationId xmlns:a16="http://schemas.microsoft.com/office/drawing/2014/main" id="{820C4141-24CF-6181-C31D-76C654679794}"/>
              </a:ext>
            </a:extLst>
          </p:cNvPr>
          <p:cNvSpPr/>
          <p:nvPr/>
        </p:nvSpPr>
        <p:spPr>
          <a:xfrm>
            <a:off x="5907265" y="3045429"/>
            <a:ext cx="219456" cy="256032"/>
          </a:xfrm>
          <a:prstGeom prst="downArrow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39">
            <a:extLst>
              <a:ext uri="{FF2B5EF4-FFF2-40B4-BE49-F238E27FC236}">
                <a16:creationId xmlns:a16="http://schemas.microsoft.com/office/drawing/2014/main" id="{A72BDA4A-4F98-F774-EB6E-E3314D1ECF9A}"/>
              </a:ext>
            </a:extLst>
          </p:cNvPr>
          <p:cNvSpPr/>
          <p:nvPr/>
        </p:nvSpPr>
        <p:spPr>
          <a:xfrm>
            <a:off x="5907265" y="4755357"/>
            <a:ext cx="219456" cy="256032"/>
          </a:xfrm>
          <a:prstGeom prst="downArrow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2">
            <a:extLst>
              <a:ext uri="{FF2B5EF4-FFF2-40B4-BE49-F238E27FC236}">
                <a16:creationId xmlns:a16="http://schemas.microsoft.com/office/drawing/2014/main" id="{945E317C-D522-D107-FF4F-7B93686D9613}"/>
              </a:ext>
            </a:extLst>
          </p:cNvPr>
          <p:cNvSpPr/>
          <p:nvPr/>
        </p:nvSpPr>
        <p:spPr>
          <a:xfrm>
            <a:off x="365760" y="1120378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 three-level derivation that grounds universal properties in observable telemetry — and binds named threats to the signals that detect them.</a:t>
            </a:r>
            <a:endParaRPr lang="en-US" dirty="0"/>
          </a:p>
        </p:txBody>
      </p:sp>
      <p:sp>
        <p:nvSpPr>
          <p:cNvPr id="80" name="Text 40">
            <a:extLst>
              <a:ext uri="{FF2B5EF4-FFF2-40B4-BE49-F238E27FC236}">
                <a16:creationId xmlns:a16="http://schemas.microsoft.com/office/drawing/2014/main" id="{778CE3A5-7701-CD71-3D92-DC9D6E497A7F}"/>
              </a:ext>
            </a:extLst>
          </p:cNvPr>
          <p:cNvSpPr/>
          <p:nvPr/>
        </p:nvSpPr>
        <p:spPr>
          <a:xfrm>
            <a:off x="250255" y="6539403"/>
            <a:ext cx="11475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Threat categories shift across platforms. Telemetry varies with platform surface. Invariants stay fixed. IAT makes that boundary explicit — and traceable both ways.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559023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8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>
          <a:extLst>
            <a:ext uri="{FF2B5EF4-FFF2-40B4-BE49-F238E27FC236}">
              <a16:creationId xmlns:a16="http://schemas.microsoft.com/office/drawing/2014/main" id="{6C7C0A1A-6C8C-9EE2-0F80-6AB823FCE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7">
            <a:extLst>
              <a:ext uri="{FF2B5EF4-FFF2-40B4-BE49-F238E27FC236}">
                <a16:creationId xmlns:a16="http://schemas.microsoft.com/office/drawing/2014/main" id="{F2CF04ED-AAFC-2A46-7A4E-763FCB7F076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71399" y="590500"/>
            <a:ext cx="10176705" cy="304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The Fifty Non-Negotiables</a:t>
            </a:r>
            <a:endParaRPr sz="32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1091C622-F28A-20EC-9A1E-31E3F48CB36B}"/>
              </a:ext>
            </a:extLst>
          </p:cNvPr>
          <p:cNvSpPr/>
          <p:nvPr/>
        </p:nvSpPr>
        <p:spPr>
          <a:xfrm>
            <a:off x="411480" y="22100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G.H.O.S.T  |  GLOBAL INVARIANTS</a:t>
            </a:r>
            <a:endParaRPr lang="en-US" sz="1000" b="1" dirty="0"/>
          </a:p>
        </p:txBody>
      </p:sp>
      <p:sp>
        <p:nvSpPr>
          <p:cNvPr id="334" name="Text 2">
            <a:extLst>
              <a:ext uri="{FF2B5EF4-FFF2-40B4-BE49-F238E27FC236}">
                <a16:creationId xmlns:a16="http://schemas.microsoft.com/office/drawing/2014/main" id="{086F87D3-9BF0-4C6A-8C21-F2419BCE88FE}"/>
              </a:ext>
            </a:extLst>
          </p:cNvPr>
          <p:cNvSpPr/>
          <p:nvPr/>
        </p:nvSpPr>
        <p:spPr>
          <a:xfrm>
            <a:off x="359734" y="106919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Fifty invariants across five domains - each anchored to the telemetry event that proves or disproves it. </a:t>
            </a:r>
            <a:endParaRPr lang="en-US" dirty="0"/>
          </a:p>
        </p:txBody>
      </p:sp>
      <p:sp>
        <p:nvSpPr>
          <p:cNvPr id="743" name="Shape 5">
            <a:extLst>
              <a:ext uri="{FF2B5EF4-FFF2-40B4-BE49-F238E27FC236}">
                <a16:creationId xmlns:a16="http://schemas.microsoft.com/office/drawing/2014/main" id="{69FA4702-E0F1-1599-70C3-1395782D97EE}"/>
              </a:ext>
            </a:extLst>
          </p:cNvPr>
          <p:cNvSpPr/>
          <p:nvPr/>
        </p:nvSpPr>
        <p:spPr>
          <a:xfrm>
            <a:off x="45720" y="1394460"/>
            <a:ext cx="2414016" cy="5463540"/>
          </a:xfrm>
          <a:prstGeom prst="rect">
            <a:avLst/>
          </a:prstGeom>
          <a:solidFill>
            <a:srgbClr val="121C2E"/>
          </a:solidFill>
          <a:ln w="12700">
            <a:solidFill>
              <a:srgbClr val="121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4" name="Shape 6">
            <a:extLst>
              <a:ext uri="{FF2B5EF4-FFF2-40B4-BE49-F238E27FC236}">
                <a16:creationId xmlns:a16="http://schemas.microsoft.com/office/drawing/2014/main" id="{8674201F-DDAB-E8F9-9261-B617CEF5215E}"/>
              </a:ext>
            </a:extLst>
          </p:cNvPr>
          <p:cNvSpPr/>
          <p:nvPr/>
        </p:nvSpPr>
        <p:spPr>
          <a:xfrm>
            <a:off x="47796" y="1312960"/>
            <a:ext cx="41564" cy="5160991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5" name="Text 7">
            <a:extLst>
              <a:ext uri="{FF2B5EF4-FFF2-40B4-BE49-F238E27FC236}">
                <a16:creationId xmlns:a16="http://schemas.microsoft.com/office/drawing/2014/main" id="{35FAEF7E-749C-837D-41C1-672859A45DB7}"/>
              </a:ext>
            </a:extLst>
          </p:cNvPr>
          <p:cNvSpPr/>
          <p:nvPr/>
        </p:nvSpPr>
        <p:spPr>
          <a:xfrm>
            <a:off x="1714881" y="132130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20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G</a:t>
            </a:r>
            <a:endParaRPr lang="en-US" sz="4200" dirty="0"/>
          </a:p>
        </p:txBody>
      </p:sp>
      <p:sp>
        <p:nvSpPr>
          <p:cNvPr id="746" name="Text 8">
            <a:extLst>
              <a:ext uri="{FF2B5EF4-FFF2-40B4-BE49-F238E27FC236}">
                <a16:creationId xmlns:a16="http://schemas.microsoft.com/office/drawing/2014/main" id="{02E631D5-BE7E-6198-E3E6-C27210416479}"/>
              </a:ext>
            </a:extLst>
          </p:cNvPr>
          <p:cNvSpPr/>
          <p:nvPr/>
        </p:nvSpPr>
        <p:spPr>
          <a:xfrm>
            <a:off x="137160" y="1394460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GAMEPLAY</a:t>
            </a:r>
            <a:endParaRPr lang="en-US" sz="1100" dirty="0"/>
          </a:p>
        </p:txBody>
      </p:sp>
      <p:sp>
        <p:nvSpPr>
          <p:cNvPr id="747" name="Text 9">
            <a:extLst>
              <a:ext uri="{FF2B5EF4-FFF2-40B4-BE49-F238E27FC236}">
                <a16:creationId xmlns:a16="http://schemas.microsoft.com/office/drawing/2014/main" id="{8BAB19D4-9721-B01A-1DB9-98C2CE158602}"/>
              </a:ext>
            </a:extLst>
          </p:cNvPr>
          <p:cNvSpPr/>
          <p:nvPr/>
        </p:nvSpPr>
        <p:spPr>
          <a:xfrm>
            <a:off x="137160" y="1641348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Fairness &amp; Authority</a:t>
            </a:r>
            <a:endParaRPr lang="en-US" sz="850" dirty="0"/>
          </a:p>
        </p:txBody>
      </p:sp>
      <p:sp>
        <p:nvSpPr>
          <p:cNvPr id="748" name="Shape 10">
            <a:extLst>
              <a:ext uri="{FF2B5EF4-FFF2-40B4-BE49-F238E27FC236}">
                <a16:creationId xmlns:a16="http://schemas.microsoft.com/office/drawing/2014/main" id="{BB4E9697-F8A5-F1D4-A4FB-642D79FB2678}"/>
              </a:ext>
            </a:extLst>
          </p:cNvPr>
          <p:cNvSpPr/>
          <p:nvPr/>
        </p:nvSpPr>
        <p:spPr>
          <a:xfrm>
            <a:off x="137160" y="1883664"/>
            <a:ext cx="2231136" cy="10973"/>
          </a:xfrm>
          <a:prstGeom prst="rect">
            <a:avLst/>
          </a:prstGeom>
          <a:solidFill>
            <a:srgbClr val="243049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9" name="Text 11">
            <a:extLst>
              <a:ext uri="{FF2B5EF4-FFF2-40B4-BE49-F238E27FC236}">
                <a16:creationId xmlns:a16="http://schemas.microsoft.com/office/drawing/2014/main" id="{46FEE1DB-2766-8CC4-62B8-4E5F1E67778A}"/>
              </a:ext>
            </a:extLst>
          </p:cNvPr>
          <p:cNvSpPr/>
          <p:nvPr/>
        </p:nvSpPr>
        <p:spPr>
          <a:xfrm>
            <a:off x="137160" y="19751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01</a:t>
            </a:r>
            <a:endParaRPr lang="en-US" sz="850" dirty="0"/>
          </a:p>
        </p:txBody>
      </p:sp>
      <p:sp>
        <p:nvSpPr>
          <p:cNvPr id="750" name="Text 12">
            <a:extLst>
              <a:ext uri="{FF2B5EF4-FFF2-40B4-BE49-F238E27FC236}">
                <a16:creationId xmlns:a16="http://schemas.microsoft.com/office/drawing/2014/main" id="{B16D8E3D-6CFC-B6FB-7EDF-63366A6A0CF1}"/>
              </a:ext>
            </a:extLst>
          </p:cNvPr>
          <p:cNvSpPr/>
          <p:nvPr/>
        </p:nvSpPr>
        <p:spPr>
          <a:xfrm>
            <a:off x="429768" y="195681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Server is the final authority over outcomes</a:t>
            </a:r>
            <a:endParaRPr lang="en-US" sz="800" dirty="0"/>
          </a:p>
        </p:txBody>
      </p:sp>
      <p:sp>
        <p:nvSpPr>
          <p:cNvPr id="751" name="Text 13">
            <a:extLst>
              <a:ext uri="{FF2B5EF4-FFF2-40B4-BE49-F238E27FC236}">
                <a16:creationId xmlns:a16="http://schemas.microsoft.com/office/drawing/2014/main" id="{A7043F66-AA52-3640-1256-1B1CB2E3F013}"/>
              </a:ext>
            </a:extLst>
          </p:cNvPr>
          <p:cNvSpPr/>
          <p:nvPr/>
        </p:nvSpPr>
        <p:spPr>
          <a:xfrm>
            <a:off x="429768" y="217627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server_validated_action</a:t>
            </a:r>
            <a:endParaRPr lang="en-US" sz="750" dirty="0"/>
          </a:p>
        </p:txBody>
      </p:sp>
      <p:sp>
        <p:nvSpPr>
          <p:cNvPr id="752" name="Text 14">
            <a:extLst>
              <a:ext uri="{FF2B5EF4-FFF2-40B4-BE49-F238E27FC236}">
                <a16:creationId xmlns:a16="http://schemas.microsoft.com/office/drawing/2014/main" id="{88DF5E93-B6F2-3FD2-452E-EBE91AD10375}"/>
              </a:ext>
            </a:extLst>
          </p:cNvPr>
          <p:cNvSpPr/>
          <p:nvPr/>
        </p:nvSpPr>
        <p:spPr>
          <a:xfrm>
            <a:off x="137160" y="24323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02</a:t>
            </a:r>
            <a:endParaRPr lang="en-US" sz="850" dirty="0"/>
          </a:p>
        </p:txBody>
      </p:sp>
      <p:sp>
        <p:nvSpPr>
          <p:cNvPr id="753" name="Text 15">
            <a:extLst>
              <a:ext uri="{FF2B5EF4-FFF2-40B4-BE49-F238E27FC236}">
                <a16:creationId xmlns:a16="http://schemas.microsoft.com/office/drawing/2014/main" id="{97BEF3B4-3247-FC17-A982-46FCD40E1A89}"/>
              </a:ext>
            </a:extLst>
          </p:cNvPr>
          <p:cNvSpPr/>
          <p:nvPr/>
        </p:nvSpPr>
        <p:spPr>
          <a:xfrm>
            <a:off x="429768" y="241401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Player inputs cannot yield super-human performance</a:t>
            </a:r>
            <a:endParaRPr lang="en-US" sz="800" dirty="0"/>
          </a:p>
        </p:txBody>
      </p:sp>
      <p:sp>
        <p:nvSpPr>
          <p:cNvPr id="754" name="Text 16">
            <a:extLst>
              <a:ext uri="{FF2B5EF4-FFF2-40B4-BE49-F238E27FC236}">
                <a16:creationId xmlns:a16="http://schemas.microsoft.com/office/drawing/2014/main" id="{F5711431-D141-78A8-EACC-F85B19FABE3A}"/>
              </a:ext>
            </a:extLst>
          </p:cNvPr>
          <p:cNvSpPr/>
          <p:nvPr/>
        </p:nvSpPr>
        <p:spPr>
          <a:xfrm>
            <a:off x="429768" y="263347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input_rate_sample</a:t>
            </a:r>
            <a:endParaRPr lang="en-US" sz="750" dirty="0"/>
          </a:p>
        </p:txBody>
      </p:sp>
      <p:sp>
        <p:nvSpPr>
          <p:cNvPr id="755" name="Text 17">
            <a:extLst>
              <a:ext uri="{FF2B5EF4-FFF2-40B4-BE49-F238E27FC236}">
                <a16:creationId xmlns:a16="http://schemas.microsoft.com/office/drawing/2014/main" id="{B3B081DC-D846-36D7-5648-06E83FBBE0E4}"/>
              </a:ext>
            </a:extLst>
          </p:cNvPr>
          <p:cNvSpPr/>
          <p:nvPr/>
        </p:nvSpPr>
        <p:spPr>
          <a:xfrm>
            <a:off x="137160" y="28895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03</a:t>
            </a:r>
            <a:endParaRPr lang="en-US" sz="850" dirty="0"/>
          </a:p>
        </p:txBody>
      </p:sp>
      <p:sp>
        <p:nvSpPr>
          <p:cNvPr id="756" name="Text 18">
            <a:extLst>
              <a:ext uri="{FF2B5EF4-FFF2-40B4-BE49-F238E27FC236}">
                <a16:creationId xmlns:a16="http://schemas.microsoft.com/office/drawing/2014/main" id="{5603DFE6-1331-F58F-2737-60E14B3CE025}"/>
              </a:ext>
            </a:extLst>
          </p:cNvPr>
          <p:cNvSpPr/>
          <p:nvPr/>
        </p:nvSpPr>
        <p:spPr>
          <a:xfrm>
            <a:off x="429768" y="287121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Rules are enforced consistently across players</a:t>
            </a:r>
            <a:endParaRPr lang="en-US" sz="800" dirty="0"/>
          </a:p>
        </p:txBody>
      </p:sp>
      <p:sp>
        <p:nvSpPr>
          <p:cNvPr id="757" name="Text 19">
            <a:extLst>
              <a:ext uri="{FF2B5EF4-FFF2-40B4-BE49-F238E27FC236}">
                <a16:creationId xmlns:a16="http://schemas.microsoft.com/office/drawing/2014/main" id="{9E518117-693F-6535-B520-1921199EF0A0}"/>
              </a:ext>
            </a:extLst>
          </p:cNvPr>
          <p:cNvSpPr/>
          <p:nvPr/>
        </p:nvSpPr>
        <p:spPr>
          <a:xfrm>
            <a:off x="429768" y="309067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rule_evaluation</a:t>
            </a:r>
            <a:endParaRPr lang="en-US" sz="750" dirty="0"/>
          </a:p>
        </p:txBody>
      </p:sp>
      <p:sp>
        <p:nvSpPr>
          <p:cNvPr id="758" name="Text 20">
            <a:extLst>
              <a:ext uri="{FF2B5EF4-FFF2-40B4-BE49-F238E27FC236}">
                <a16:creationId xmlns:a16="http://schemas.microsoft.com/office/drawing/2014/main" id="{05AF4444-43A0-749E-59B7-C739E8299DDA}"/>
              </a:ext>
            </a:extLst>
          </p:cNvPr>
          <p:cNvSpPr/>
          <p:nvPr/>
        </p:nvSpPr>
        <p:spPr>
          <a:xfrm>
            <a:off x="137160" y="33467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04</a:t>
            </a:r>
            <a:endParaRPr lang="en-US" sz="850" dirty="0"/>
          </a:p>
        </p:txBody>
      </p:sp>
      <p:sp>
        <p:nvSpPr>
          <p:cNvPr id="759" name="Text 21">
            <a:extLst>
              <a:ext uri="{FF2B5EF4-FFF2-40B4-BE49-F238E27FC236}">
                <a16:creationId xmlns:a16="http://schemas.microsoft.com/office/drawing/2014/main" id="{2699399A-E239-3572-8253-5F30C2BF09F5}"/>
              </a:ext>
            </a:extLst>
          </p:cNvPr>
          <p:cNvSpPr/>
          <p:nvPr/>
        </p:nvSpPr>
        <p:spPr>
          <a:xfrm>
            <a:off x="429768" y="332841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Game state stays synchronized for participants</a:t>
            </a:r>
            <a:endParaRPr lang="en-US" sz="800" dirty="0"/>
          </a:p>
        </p:txBody>
      </p:sp>
      <p:sp>
        <p:nvSpPr>
          <p:cNvPr id="760" name="Text 22">
            <a:extLst>
              <a:ext uri="{FF2B5EF4-FFF2-40B4-BE49-F238E27FC236}">
                <a16:creationId xmlns:a16="http://schemas.microsoft.com/office/drawing/2014/main" id="{686D4E2B-35CA-4348-ABC9-E47701F2105E}"/>
              </a:ext>
            </a:extLst>
          </p:cNvPr>
          <p:cNvSpPr/>
          <p:nvPr/>
        </p:nvSpPr>
        <p:spPr>
          <a:xfrm>
            <a:off x="429768" y="354787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state_sync_event</a:t>
            </a:r>
            <a:endParaRPr lang="en-US" sz="750" dirty="0"/>
          </a:p>
        </p:txBody>
      </p:sp>
      <p:sp>
        <p:nvSpPr>
          <p:cNvPr id="761" name="Text 23">
            <a:extLst>
              <a:ext uri="{FF2B5EF4-FFF2-40B4-BE49-F238E27FC236}">
                <a16:creationId xmlns:a16="http://schemas.microsoft.com/office/drawing/2014/main" id="{19E68B3B-4E99-DAA5-57C7-31F9DD39011A}"/>
              </a:ext>
            </a:extLst>
          </p:cNvPr>
          <p:cNvSpPr/>
          <p:nvPr/>
        </p:nvSpPr>
        <p:spPr>
          <a:xfrm>
            <a:off x="137160" y="38039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05</a:t>
            </a:r>
            <a:endParaRPr lang="en-US" sz="850" dirty="0"/>
          </a:p>
        </p:txBody>
      </p:sp>
      <p:sp>
        <p:nvSpPr>
          <p:cNvPr id="762" name="Text 24">
            <a:extLst>
              <a:ext uri="{FF2B5EF4-FFF2-40B4-BE49-F238E27FC236}">
                <a16:creationId xmlns:a16="http://schemas.microsoft.com/office/drawing/2014/main" id="{CCB576A1-F3C9-C9D3-6895-ECDBADAAEACD}"/>
              </a:ext>
            </a:extLst>
          </p:cNvPr>
          <p:cNvSpPr/>
          <p:nvPr/>
        </p:nvSpPr>
        <p:spPr>
          <a:xfrm>
            <a:off x="429768" y="378561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Timing is not exploitable for advantage</a:t>
            </a:r>
            <a:endParaRPr lang="en-US" sz="800" dirty="0"/>
          </a:p>
        </p:txBody>
      </p:sp>
      <p:sp>
        <p:nvSpPr>
          <p:cNvPr id="763" name="Text 25">
            <a:extLst>
              <a:ext uri="{FF2B5EF4-FFF2-40B4-BE49-F238E27FC236}">
                <a16:creationId xmlns:a16="http://schemas.microsoft.com/office/drawing/2014/main" id="{CF1512D3-672F-BA68-9000-5D765B151FFD}"/>
              </a:ext>
            </a:extLst>
          </p:cNvPr>
          <p:cNvSpPr/>
          <p:nvPr/>
        </p:nvSpPr>
        <p:spPr>
          <a:xfrm>
            <a:off x="429768" y="400507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action_timing</a:t>
            </a:r>
            <a:endParaRPr lang="en-US" sz="750" dirty="0"/>
          </a:p>
        </p:txBody>
      </p:sp>
      <p:sp>
        <p:nvSpPr>
          <p:cNvPr id="764" name="Text 26">
            <a:extLst>
              <a:ext uri="{FF2B5EF4-FFF2-40B4-BE49-F238E27FC236}">
                <a16:creationId xmlns:a16="http://schemas.microsoft.com/office/drawing/2014/main" id="{D61D75B0-F733-6044-5A05-D9117FE71ED4}"/>
              </a:ext>
            </a:extLst>
          </p:cNvPr>
          <p:cNvSpPr/>
          <p:nvPr/>
        </p:nvSpPr>
        <p:spPr>
          <a:xfrm>
            <a:off x="137160" y="42611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06</a:t>
            </a:r>
            <a:endParaRPr lang="en-US" sz="850" dirty="0"/>
          </a:p>
        </p:txBody>
      </p:sp>
      <p:sp>
        <p:nvSpPr>
          <p:cNvPr id="765" name="Text 27">
            <a:extLst>
              <a:ext uri="{FF2B5EF4-FFF2-40B4-BE49-F238E27FC236}">
                <a16:creationId xmlns:a16="http://schemas.microsoft.com/office/drawing/2014/main" id="{66B9F9FA-5322-162F-C6E7-89014C8198D2}"/>
              </a:ext>
            </a:extLst>
          </p:cNvPr>
          <p:cNvSpPr/>
          <p:nvPr/>
        </p:nvSpPr>
        <p:spPr>
          <a:xfrm>
            <a:off x="429768" y="424281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Progression advances only via legitimate gameplay</a:t>
            </a:r>
            <a:endParaRPr lang="en-US" sz="800" dirty="0"/>
          </a:p>
        </p:txBody>
      </p:sp>
      <p:sp>
        <p:nvSpPr>
          <p:cNvPr id="766" name="Text 28">
            <a:extLst>
              <a:ext uri="{FF2B5EF4-FFF2-40B4-BE49-F238E27FC236}">
                <a16:creationId xmlns:a16="http://schemas.microsoft.com/office/drawing/2014/main" id="{24026428-724F-8D23-818C-29BCB6763BCC}"/>
              </a:ext>
            </a:extLst>
          </p:cNvPr>
          <p:cNvSpPr/>
          <p:nvPr/>
        </p:nvSpPr>
        <p:spPr>
          <a:xfrm>
            <a:off x="429768" y="446227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progression_change</a:t>
            </a:r>
            <a:endParaRPr lang="en-US" sz="750" dirty="0"/>
          </a:p>
        </p:txBody>
      </p:sp>
      <p:sp>
        <p:nvSpPr>
          <p:cNvPr id="767" name="Text 29">
            <a:extLst>
              <a:ext uri="{FF2B5EF4-FFF2-40B4-BE49-F238E27FC236}">
                <a16:creationId xmlns:a16="http://schemas.microsoft.com/office/drawing/2014/main" id="{B87734DE-EEC0-0ABB-18B4-AF13E3680317}"/>
              </a:ext>
            </a:extLst>
          </p:cNvPr>
          <p:cNvSpPr/>
          <p:nvPr/>
        </p:nvSpPr>
        <p:spPr>
          <a:xfrm>
            <a:off x="137160" y="47183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07</a:t>
            </a:r>
            <a:endParaRPr lang="en-US" sz="850" dirty="0"/>
          </a:p>
        </p:txBody>
      </p:sp>
      <p:sp>
        <p:nvSpPr>
          <p:cNvPr id="768" name="Text 30">
            <a:extLst>
              <a:ext uri="{FF2B5EF4-FFF2-40B4-BE49-F238E27FC236}">
                <a16:creationId xmlns:a16="http://schemas.microsoft.com/office/drawing/2014/main" id="{E376EACC-54C2-A927-E876-246ED78C182B}"/>
              </a:ext>
            </a:extLst>
          </p:cNvPr>
          <p:cNvSpPr/>
          <p:nvPr/>
        </p:nvSpPr>
        <p:spPr>
          <a:xfrm>
            <a:off x="429768" y="470001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Randomized mechanics are not predictable</a:t>
            </a:r>
            <a:endParaRPr lang="en-US" sz="800" dirty="0"/>
          </a:p>
        </p:txBody>
      </p:sp>
      <p:sp>
        <p:nvSpPr>
          <p:cNvPr id="769" name="Text 31">
            <a:extLst>
              <a:ext uri="{FF2B5EF4-FFF2-40B4-BE49-F238E27FC236}">
                <a16:creationId xmlns:a16="http://schemas.microsoft.com/office/drawing/2014/main" id="{FF8995F0-F329-CFDE-ECEE-0AD3F33671C2}"/>
              </a:ext>
            </a:extLst>
          </p:cNvPr>
          <p:cNvSpPr/>
          <p:nvPr/>
        </p:nvSpPr>
        <p:spPr>
          <a:xfrm>
            <a:off x="429768" y="491947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rng_draw</a:t>
            </a:r>
            <a:endParaRPr lang="en-US" sz="750" dirty="0"/>
          </a:p>
        </p:txBody>
      </p:sp>
      <p:sp>
        <p:nvSpPr>
          <p:cNvPr id="770" name="Text 32">
            <a:extLst>
              <a:ext uri="{FF2B5EF4-FFF2-40B4-BE49-F238E27FC236}">
                <a16:creationId xmlns:a16="http://schemas.microsoft.com/office/drawing/2014/main" id="{CF76565F-AC4C-2703-C910-FFCA0DEF4626}"/>
              </a:ext>
            </a:extLst>
          </p:cNvPr>
          <p:cNvSpPr/>
          <p:nvPr/>
        </p:nvSpPr>
        <p:spPr>
          <a:xfrm>
            <a:off x="137160" y="51755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08</a:t>
            </a:r>
            <a:endParaRPr lang="en-US" sz="850" dirty="0"/>
          </a:p>
        </p:txBody>
      </p:sp>
      <p:sp>
        <p:nvSpPr>
          <p:cNvPr id="771" name="Text 33">
            <a:extLst>
              <a:ext uri="{FF2B5EF4-FFF2-40B4-BE49-F238E27FC236}">
                <a16:creationId xmlns:a16="http://schemas.microsoft.com/office/drawing/2014/main" id="{FB7078E4-84C3-5610-8165-D187DFAC13C0}"/>
              </a:ext>
            </a:extLst>
          </p:cNvPr>
          <p:cNvSpPr/>
          <p:nvPr/>
        </p:nvSpPr>
        <p:spPr>
          <a:xfrm>
            <a:off x="429768" y="515721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Actions cannot be replayed for additional benefit</a:t>
            </a:r>
            <a:endParaRPr lang="en-US" sz="800" dirty="0"/>
          </a:p>
        </p:txBody>
      </p:sp>
      <p:sp>
        <p:nvSpPr>
          <p:cNvPr id="772" name="Text 34">
            <a:extLst>
              <a:ext uri="{FF2B5EF4-FFF2-40B4-BE49-F238E27FC236}">
                <a16:creationId xmlns:a16="http://schemas.microsoft.com/office/drawing/2014/main" id="{6058602F-0250-36BE-84DD-C9C389CE3BCF}"/>
              </a:ext>
            </a:extLst>
          </p:cNvPr>
          <p:cNvSpPr/>
          <p:nvPr/>
        </p:nvSpPr>
        <p:spPr>
          <a:xfrm>
            <a:off x="429768" y="537667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action_submission</a:t>
            </a:r>
            <a:endParaRPr lang="en-US" sz="750" dirty="0"/>
          </a:p>
        </p:txBody>
      </p:sp>
      <p:sp>
        <p:nvSpPr>
          <p:cNvPr id="773" name="Text 35">
            <a:extLst>
              <a:ext uri="{FF2B5EF4-FFF2-40B4-BE49-F238E27FC236}">
                <a16:creationId xmlns:a16="http://schemas.microsoft.com/office/drawing/2014/main" id="{4FA2B97F-E023-F777-4915-6D4EE50FB354}"/>
              </a:ext>
            </a:extLst>
          </p:cNvPr>
          <p:cNvSpPr/>
          <p:nvPr/>
        </p:nvSpPr>
        <p:spPr>
          <a:xfrm>
            <a:off x="137160" y="56327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09</a:t>
            </a:r>
            <a:endParaRPr lang="en-US" sz="850" dirty="0"/>
          </a:p>
        </p:txBody>
      </p:sp>
      <p:sp>
        <p:nvSpPr>
          <p:cNvPr id="774" name="Text 36">
            <a:extLst>
              <a:ext uri="{FF2B5EF4-FFF2-40B4-BE49-F238E27FC236}">
                <a16:creationId xmlns:a16="http://schemas.microsoft.com/office/drawing/2014/main" id="{D39D683B-B6FE-896F-E0FF-CF7FC3B0F2C9}"/>
              </a:ext>
            </a:extLst>
          </p:cNvPr>
          <p:cNvSpPr/>
          <p:nvPr/>
        </p:nvSpPr>
        <p:spPr>
          <a:xfrm>
            <a:off x="429768" y="561441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Client-reported state is never blindly trusted</a:t>
            </a:r>
            <a:endParaRPr lang="en-US" sz="800" dirty="0"/>
          </a:p>
        </p:txBody>
      </p:sp>
      <p:sp>
        <p:nvSpPr>
          <p:cNvPr id="775" name="Text 37">
            <a:extLst>
              <a:ext uri="{FF2B5EF4-FFF2-40B4-BE49-F238E27FC236}">
                <a16:creationId xmlns:a16="http://schemas.microsoft.com/office/drawing/2014/main" id="{4709DC28-3D23-8D9C-3C0B-CAC79F8CA289}"/>
              </a:ext>
            </a:extLst>
          </p:cNvPr>
          <p:cNvSpPr/>
          <p:nvPr/>
        </p:nvSpPr>
        <p:spPr>
          <a:xfrm>
            <a:off x="429768" y="583387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client_claim</a:t>
            </a:r>
            <a:endParaRPr lang="en-US" sz="750" dirty="0"/>
          </a:p>
        </p:txBody>
      </p:sp>
      <p:sp>
        <p:nvSpPr>
          <p:cNvPr id="776" name="Text 38">
            <a:extLst>
              <a:ext uri="{FF2B5EF4-FFF2-40B4-BE49-F238E27FC236}">
                <a16:creationId xmlns:a16="http://schemas.microsoft.com/office/drawing/2014/main" id="{6315CC4B-4826-26A5-FF08-F4B0BAD3D416}"/>
              </a:ext>
            </a:extLst>
          </p:cNvPr>
          <p:cNvSpPr/>
          <p:nvPr/>
        </p:nvSpPr>
        <p:spPr>
          <a:xfrm>
            <a:off x="137160" y="60899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10</a:t>
            </a:r>
            <a:endParaRPr lang="en-US" sz="850" dirty="0"/>
          </a:p>
        </p:txBody>
      </p:sp>
      <p:sp>
        <p:nvSpPr>
          <p:cNvPr id="777" name="Text 39">
            <a:extLst>
              <a:ext uri="{FF2B5EF4-FFF2-40B4-BE49-F238E27FC236}">
                <a16:creationId xmlns:a16="http://schemas.microsoft.com/office/drawing/2014/main" id="{457EB5E8-CF89-D871-D3EB-647BF5B09502}"/>
              </a:ext>
            </a:extLst>
          </p:cNvPr>
          <p:cNvSpPr/>
          <p:nvPr/>
        </p:nvSpPr>
        <p:spPr>
          <a:xfrm>
            <a:off x="429768" y="607161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Non-prod / debug paths do not affect live play</a:t>
            </a:r>
            <a:endParaRPr lang="en-US" sz="800" dirty="0"/>
          </a:p>
        </p:txBody>
      </p:sp>
      <p:sp>
        <p:nvSpPr>
          <p:cNvPr id="778" name="Text 40">
            <a:extLst>
              <a:ext uri="{FF2B5EF4-FFF2-40B4-BE49-F238E27FC236}">
                <a16:creationId xmlns:a16="http://schemas.microsoft.com/office/drawing/2014/main" id="{93D9287D-7E97-6BD1-CD36-71AC4BDCE55B}"/>
              </a:ext>
            </a:extLst>
          </p:cNvPr>
          <p:cNvSpPr/>
          <p:nvPr/>
        </p:nvSpPr>
        <p:spPr>
          <a:xfrm>
            <a:off x="429768" y="629107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code_path_invocation</a:t>
            </a:r>
            <a:endParaRPr lang="en-US" sz="750" dirty="0"/>
          </a:p>
        </p:txBody>
      </p:sp>
      <p:sp>
        <p:nvSpPr>
          <p:cNvPr id="779" name="Shape 41">
            <a:extLst>
              <a:ext uri="{FF2B5EF4-FFF2-40B4-BE49-F238E27FC236}">
                <a16:creationId xmlns:a16="http://schemas.microsoft.com/office/drawing/2014/main" id="{25D43A91-C54F-6AB5-9280-EF1AEB597647}"/>
              </a:ext>
            </a:extLst>
          </p:cNvPr>
          <p:cNvSpPr/>
          <p:nvPr/>
        </p:nvSpPr>
        <p:spPr>
          <a:xfrm>
            <a:off x="2496312" y="1394460"/>
            <a:ext cx="2414016" cy="5463540"/>
          </a:xfrm>
          <a:prstGeom prst="rect">
            <a:avLst/>
          </a:prstGeom>
          <a:solidFill>
            <a:srgbClr val="121C2E"/>
          </a:solidFill>
          <a:ln w="12700">
            <a:solidFill>
              <a:srgbClr val="121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1" name="Text 43">
            <a:extLst>
              <a:ext uri="{FF2B5EF4-FFF2-40B4-BE49-F238E27FC236}">
                <a16:creationId xmlns:a16="http://schemas.microsoft.com/office/drawing/2014/main" id="{25FBBAF7-E01A-CF71-9568-F4D529ADF479}"/>
              </a:ext>
            </a:extLst>
          </p:cNvPr>
          <p:cNvSpPr/>
          <p:nvPr/>
        </p:nvSpPr>
        <p:spPr>
          <a:xfrm>
            <a:off x="4165473" y="132130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20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H</a:t>
            </a:r>
            <a:endParaRPr lang="en-US" sz="4200" dirty="0"/>
          </a:p>
        </p:txBody>
      </p:sp>
      <p:sp>
        <p:nvSpPr>
          <p:cNvPr id="782" name="Text 44">
            <a:extLst>
              <a:ext uri="{FF2B5EF4-FFF2-40B4-BE49-F238E27FC236}">
                <a16:creationId xmlns:a16="http://schemas.microsoft.com/office/drawing/2014/main" id="{3100C5D3-A761-15EF-00F8-8BDF6D9766A5}"/>
              </a:ext>
            </a:extLst>
          </p:cNvPr>
          <p:cNvSpPr/>
          <p:nvPr/>
        </p:nvSpPr>
        <p:spPr>
          <a:xfrm>
            <a:off x="2587752" y="1394460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HARM</a:t>
            </a:r>
            <a:endParaRPr lang="en-US" sz="1100" dirty="0"/>
          </a:p>
        </p:txBody>
      </p:sp>
      <p:sp>
        <p:nvSpPr>
          <p:cNvPr id="783" name="Text 45">
            <a:extLst>
              <a:ext uri="{FF2B5EF4-FFF2-40B4-BE49-F238E27FC236}">
                <a16:creationId xmlns:a16="http://schemas.microsoft.com/office/drawing/2014/main" id="{8A039A2A-372D-0D3C-A87A-72AAC631BC17}"/>
              </a:ext>
            </a:extLst>
          </p:cNvPr>
          <p:cNvSpPr/>
          <p:nvPr/>
        </p:nvSpPr>
        <p:spPr>
          <a:xfrm>
            <a:off x="2587752" y="1641348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Player Wellbeing</a:t>
            </a:r>
            <a:endParaRPr lang="en-US" sz="850" dirty="0"/>
          </a:p>
        </p:txBody>
      </p:sp>
      <p:sp>
        <p:nvSpPr>
          <p:cNvPr id="784" name="Shape 46">
            <a:extLst>
              <a:ext uri="{FF2B5EF4-FFF2-40B4-BE49-F238E27FC236}">
                <a16:creationId xmlns:a16="http://schemas.microsoft.com/office/drawing/2014/main" id="{83F864BE-5CF8-E0A0-A251-AEDF7EE3A601}"/>
              </a:ext>
            </a:extLst>
          </p:cNvPr>
          <p:cNvSpPr/>
          <p:nvPr/>
        </p:nvSpPr>
        <p:spPr>
          <a:xfrm>
            <a:off x="2587752" y="1883664"/>
            <a:ext cx="2231136" cy="10973"/>
          </a:xfrm>
          <a:prstGeom prst="rect">
            <a:avLst/>
          </a:prstGeom>
          <a:solidFill>
            <a:srgbClr val="243049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5" name="Text 47">
            <a:extLst>
              <a:ext uri="{FF2B5EF4-FFF2-40B4-BE49-F238E27FC236}">
                <a16:creationId xmlns:a16="http://schemas.microsoft.com/office/drawing/2014/main" id="{7B5EFAD3-6A20-1369-E686-DF8A59DB468C}"/>
              </a:ext>
            </a:extLst>
          </p:cNvPr>
          <p:cNvSpPr/>
          <p:nvPr/>
        </p:nvSpPr>
        <p:spPr>
          <a:xfrm>
            <a:off x="2587752" y="19751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01</a:t>
            </a:r>
            <a:endParaRPr lang="en-US" sz="850" dirty="0"/>
          </a:p>
        </p:txBody>
      </p:sp>
      <p:sp>
        <p:nvSpPr>
          <p:cNvPr id="786" name="Text 48">
            <a:extLst>
              <a:ext uri="{FF2B5EF4-FFF2-40B4-BE49-F238E27FC236}">
                <a16:creationId xmlns:a16="http://schemas.microsoft.com/office/drawing/2014/main" id="{17BADD6B-BF6E-AC69-08D0-1931969B8752}"/>
              </a:ext>
            </a:extLst>
          </p:cNvPr>
          <p:cNvSpPr/>
          <p:nvPr/>
        </p:nvSpPr>
        <p:spPr>
          <a:xfrm>
            <a:off x="2880360" y="195681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Player expression does not cause harm to others</a:t>
            </a:r>
            <a:endParaRPr lang="en-US" sz="800" dirty="0"/>
          </a:p>
        </p:txBody>
      </p:sp>
      <p:sp>
        <p:nvSpPr>
          <p:cNvPr id="787" name="Text 49">
            <a:extLst>
              <a:ext uri="{FF2B5EF4-FFF2-40B4-BE49-F238E27FC236}">
                <a16:creationId xmlns:a16="http://schemas.microsoft.com/office/drawing/2014/main" id="{24A9CC51-EFCD-EAA2-EC76-F5B22677430E}"/>
              </a:ext>
            </a:extLst>
          </p:cNvPr>
          <p:cNvSpPr/>
          <p:nvPr/>
        </p:nvSpPr>
        <p:spPr>
          <a:xfrm>
            <a:off x="2880360" y="217627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expression_event</a:t>
            </a:r>
            <a:endParaRPr lang="en-US" sz="750" dirty="0"/>
          </a:p>
        </p:txBody>
      </p:sp>
      <p:sp>
        <p:nvSpPr>
          <p:cNvPr id="788" name="Text 50">
            <a:extLst>
              <a:ext uri="{FF2B5EF4-FFF2-40B4-BE49-F238E27FC236}">
                <a16:creationId xmlns:a16="http://schemas.microsoft.com/office/drawing/2014/main" id="{1C965C0E-7A79-E2B2-0C79-CAB662AAFE6C}"/>
              </a:ext>
            </a:extLst>
          </p:cNvPr>
          <p:cNvSpPr/>
          <p:nvPr/>
        </p:nvSpPr>
        <p:spPr>
          <a:xfrm>
            <a:off x="2587752" y="24323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02</a:t>
            </a:r>
            <a:endParaRPr lang="en-US" sz="850" dirty="0"/>
          </a:p>
        </p:txBody>
      </p:sp>
      <p:sp>
        <p:nvSpPr>
          <p:cNvPr id="789" name="Text 51">
            <a:extLst>
              <a:ext uri="{FF2B5EF4-FFF2-40B4-BE49-F238E27FC236}">
                <a16:creationId xmlns:a16="http://schemas.microsoft.com/office/drawing/2014/main" id="{1C01A317-BBC2-7E9D-523D-2CC71916BA75}"/>
              </a:ext>
            </a:extLst>
          </p:cNvPr>
          <p:cNvSpPr/>
          <p:nvPr/>
        </p:nvSpPr>
        <p:spPr>
          <a:xfrm>
            <a:off x="2880360" y="241401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Harmful behavior patterns are detectable over time</a:t>
            </a:r>
            <a:endParaRPr lang="en-US" sz="800" dirty="0"/>
          </a:p>
        </p:txBody>
      </p:sp>
      <p:sp>
        <p:nvSpPr>
          <p:cNvPr id="790" name="Text 52">
            <a:extLst>
              <a:ext uri="{FF2B5EF4-FFF2-40B4-BE49-F238E27FC236}">
                <a16:creationId xmlns:a16="http://schemas.microsoft.com/office/drawing/2014/main" id="{86770E90-79F1-E531-D042-E197941CC382}"/>
              </a:ext>
            </a:extLst>
          </p:cNvPr>
          <p:cNvSpPr/>
          <p:nvPr/>
        </p:nvSpPr>
        <p:spPr>
          <a:xfrm>
            <a:off x="2880360" y="263347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behavior_score_update</a:t>
            </a:r>
            <a:endParaRPr lang="en-US" sz="750" dirty="0"/>
          </a:p>
        </p:txBody>
      </p:sp>
      <p:sp>
        <p:nvSpPr>
          <p:cNvPr id="791" name="Text 53">
            <a:extLst>
              <a:ext uri="{FF2B5EF4-FFF2-40B4-BE49-F238E27FC236}">
                <a16:creationId xmlns:a16="http://schemas.microsoft.com/office/drawing/2014/main" id="{2C271B92-FB7F-0331-AD3D-C51B0830BCF4}"/>
              </a:ext>
            </a:extLst>
          </p:cNvPr>
          <p:cNvSpPr/>
          <p:nvPr/>
        </p:nvSpPr>
        <p:spPr>
          <a:xfrm>
            <a:off x="2587752" y="28895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03</a:t>
            </a:r>
            <a:endParaRPr lang="en-US" sz="850" dirty="0"/>
          </a:p>
        </p:txBody>
      </p:sp>
      <p:sp>
        <p:nvSpPr>
          <p:cNvPr id="792" name="Text 54">
            <a:extLst>
              <a:ext uri="{FF2B5EF4-FFF2-40B4-BE49-F238E27FC236}">
                <a16:creationId xmlns:a16="http://schemas.microsoft.com/office/drawing/2014/main" id="{3ABE03EC-41D3-59C7-174C-D2F86D4DE9EE}"/>
              </a:ext>
            </a:extLst>
          </p:cNvPr>
          <p:cNvSpPr/>
          <p:nvPr/>
        </p:nvSpPr>
        <p:spPr>
          <a:xfrm>
            <a:off x="2880360" y="287121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Minors are protected from manipulation</a:t>
            </a:r>
            <a:endParaRPr lang="en-US" sz="800" dirty="0"/>
          </a:p>
        </p:txBody>
      </p:sp>
      <p:sp>
        <p:nvSpPr>
          <p:cNvPr id="793" name="Text 55">
            <a:extLst>
              <a:ext uri="{FF2B5EF4-FFF2-40B4-BE49-F238E27FC236}">
                <a16:creationId xmlns:a16="http://schemas.microsoft.com/office/drawing/2014/main" id="{BAD54D9E-B3B3-8BE9-5B62-09D1F5002D69}"/>
              </a:ext>
            </a:extLst>
          </p:cNvPr>
          <p:cNvSpPr/>
          <p:nvPr/>
        </p:nvSpPr>
        <p:spPr>
          <a:xfrm>
            <a:off x="2880360" y="309067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age_gated_interaction</a:t>
            </a:r>
            <a:endParaRPr lang="en-US" sz="750" dirty="0"/>
          </a:p>
        </p:txBody>
      </p:sp>
      <p:sp>
        <p:nvSpPr>
          <p:cNvPr id="794" name="Text 56">
            <a:extLst>
              <a:ext uri="{FF2B5EF4-FFF2-40B4-BE49-F238E27FC236}">
                <a16:creationId xmlns:a16="http://schemas.microsoft.com/office/drawing/2014/main" id="{A953675A-30AB-76E7-D77E-8B598156D336}"/>
              </a:ext>
            </a:extLst>
          </p:cNvPr>
          <p:cNvSpPr/>
          <p:nvPr/>
        </p:nvSpPr>
        <p:spPr>
          <a:xfrm>
            <a:off x="2587752" y="33467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04</a:t>
            </a:r>
            <a:endParaRPr lang="en-US" sz="850" dirty="0"/>
          </a:p>
        </p:txBody>
      </p:sp>
      <p:sp>
        <p:nvSpPr>
          <p:cNvPr id="795" name="Text 57">
            <a:extLst>
              <a:ext uri="{FF2B5EF4-FFF2-40B4-BE49-F238E27FC236}">
                <a16:creationId xmlns:a16="http://schemas.microsoft.com/office/drawing/2014/main" id="{66DA0CFE-ABDA-835E-83E5-716E30CF357B}"/>
              </a:ext>
            </a:extLst>
          </p:cNvPr>
          <p:cNvSpPr/>
          <p:nvPr/>
        </p:nvSpPr>
        <p:spPr>
          <a:xfrm>
            <a:off x="2880360" y="332841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Sexual / graphic content is appropriately gated</a:t>
            </a:r>
            <a:endParaRPr lang="en-US" sz="800" dirty="0"/>
          </a:p>
        </p:txBody>
      </p:sp>
      <p:sp>
        <p:nvSpPr>
          <p:cNvPr id="796" name="Text 58">
            <a:extLst>
              <a:ext uri="{FF2B5EF4-FFF2-40B4-BE49-F238E27FC236}">
                <a16:creationId xmlns:a16="http://schemas.microsoft.com/office/drawing/2014/main" id="{1F3B4449-20E3-B2D7-91AF-49039BE9A7EB}"/>
              </a:ext>
            </a:extLst>
          </p:cNvPr>
          <p:cNvSpPr/>
          <p:nvPr/>
        </p:nvSpPr>
        <p:spPr>
          <a:xfrm>
            <a:off x="2880360" y="354787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content_render</a:t>
            </a:r>
            <a:endParaRPr lang="en-US" sz="750" dirty="0"/>
          </a:p>
        </p:txBody>
      </p:sp>
      <p:sp>
        <p:nvSpPr>
          <p:cNvPr id="797" name="Text 59">
            <a:extLst>
              <a:ext uri="{FF2B5EF4-FFF2-40B4-BE49-F238E27FC236}">
                <a16:creationId xmlns:a16="http://schemas.microsoft.com/office/drawing/2014/main" id="{00E622DD-0B20-588F-BE18-62D0091EBB1F}"/>
              </a:ext>
            </a:extLst>
          </p:cNvPr>
          <p:cNvSpPr/>
          <p:nvPr/>
        </p:nvSpPr>
        <p:spPr>
          <a:xfrm>
            <a:off x="2587752" y="38039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05</a:t>
            </a:r>
            <a:endParaRPr lang="en-US" sz="850" dirty="0"/>
          </a:p>
        </p:txBody>
      </p:sp>
      <p:sp>
        <p:nvSpPr>
          <p:cNvPr id="798" name="Text 60">
            <a:extLst>
              <a:ext uri="{FF2B5EF4-FFF2-40B4-BE49-F238E27FC236}">
                <a16:creationId xmlns:a16="http://schemas.microsoft.com/office/drawing/2014/main" id="{72FA6AD3-4F3F-3018-4405-E5A4F3A92E66}"/>
              </a:ext>
            </a:extLst>
          </p:cNvPr>
          <p:cNvSpPr/>
          <p:nvPr/>
        </p:nvSpPr>
        <p:spPr>
          <a:xfrm>
            <a:off x="2880360" y="378561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Threats or intimidation trigger intervention</a:t>
            </a:r>
            <a:endParaRPr lang="en-US" sz="800" dirty="0"/>
          </a:p>
        </p:txBody>
      </p:sp>
      <p:sp>
        <p:nvSpPr>
          <p:cNvPr id="799" name="Text 61">
            <a:extLst>
              <a:ext uri="{FF2B5EF4-FFF2-40B4-BE49-F238E27FC236}">
                <a16:creationId xmlns:a16="http://schemas.microsoft.com/office/drawing/2014/main" id="{D92B08D1-4649-C4B8-FD42-39AB6B7539EE}"/>
              </a:ext>
            </a:extLst>
          </p:cNvPr>
          <p:cNvSpPr/>
          <p:nvPr/>
        </p:nvSpPr>
        <p:spPr>
          <a:xfrm>
            <a:off x="2880360" y="400507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threat_signal</a:t>
            </a:r>
            <a:endParaRPr lang="en-US" sz="750" dirty="0"/>
          </a:p>
        </p:txBody>
      </p:sp>
      <p:sp>
        <p:nvSpPr>
          <p:cNvPr id="800" name="Text 62">
            <a:extLst>
              <a:ext uri="{FF2B5EF4-FFF2-40B4-BE49-F238E27FC236}">
                <a16:creationId xmlns:a16="http://schemas.microsoft.com/office/drawing/2014/main" id="{43E559E8-BDD3-7090-B014-31009DA26ADF}"/>
              </a:ext>
            </a:extLst>
          </p:cNvPr>
          <p:cNvSpPr/>
          <p:nvPr/>
        </p:nvSpPr>
        <p:spPr>
          <a:xfrm>
            <a:off x="2587752" y="42611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06</a:t>
            </a:r>
            <a:endParaRPr lang="en-US" sz="850" dirty="0"/>
          </a:p>
        </p:txBody>
      </p:sp>
      <p:sp>
        <p:nvSpPr>
          <p:cNvPr id="801" name="Text 63">
            <a:extLst>
              <a:ext uri="{FF2B5EF4-FFF2-40B4-BE49-F238E27FC236}">
                <a16:creationId xmlns:a16="http://schemas.microsoft.com/office/drawing/2014/main" id="{9597205D-959E-FCB6-F97E-91B1B3D06FBB}"/>
              </a:ext>
            </a:extLst>
          </p:cNvPr>
          <p:cNvSpPr/>
          <p:nvPr/>
        </p:nvSpPr>
        <p:spPr>
          <a:xfrm>
            <a:off x="2880360" y="424281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Harmful identity representations are controlled</a:t>
            </a:r>
            <a:endParaRPr lang="en-US" sz="800" dirty="0"/>
          </a:p>
        </p:txBody>
      </p:sp>
      <p:sp>
        <p:nvSpPr>
          <p:cNvPr id="802" name="Text 64">
            <a:extLst>
              <a:ext uri="{FF2B5EF4-FFF2-40B4-BE49-F238E27FC236}">
                <a16:creationId xmlns:a16="http://schemas.microsoft.com/office/drawing/2014/main" id="{92920E4E-6971-6211-5775-24C5EB732A6B}"/>
              </a:ext>
            </a:extLst>
          </p:cNvPr>
          <p:cNvSpPr/>
          <p:nvPr/>
        </p:nvSpPr>
        <p:spPr>
          <a:xfrm>
            <a:off x="2880360" y="446227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identity_field_change</a:t>
            </a:r>
            <a:endParaRPr lang="en-US" sz="750" dirty="0"/>
          </a:p>
        </p:txBody>
      </p:sp>
      <p:sp>
        <p:nvSpPr>
          <p:cNvPr id="803" name="Text 65">
            <a:extLst>
              <a:ext uri="{FF2B5EF4-FFF2-40B4-BE49-F238E27FC236}">
                <a16:creationId xmlns:a16="http://schemas.microsoft.com/office/drawing/2014/main" id="{954701F4-886B-13AF-668F-6C66E269D949}"/>
              </a:ext>
            </a:extLst>
          </p:cNvPr>
          <p:cNvSpPr/>
          <p:nvPr/>
        </p:nvSpPr>
        <p:spPr>
          <a:xfrm>
            <a:off x="2587752" y="47183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07</a:t>
            </a:r>
            <a:endParaRPr lang="en-US" sz="850" dirty="0"/>
          </a:p>
        </p:txBody>
      </p:sp>
      <p:sp>
        <p:nvSpPr>
          <p:cNvPr id="804" name="Text 66">
            <a:extLst>
              <a:ext uri="{FF2B5EF4-FFF2-40B4-BE49-F238E27FC236}">
                <a16:creationId xmlns:a16="http://schemas.microsoft.com/office/drawing/2014/main" id="{8F9E4A31-0317-0C43-EF24-9A2527A0CC25}"/>
              </a:ext>
            </a:extLst>
          </p:cNvPr>
          <p:cNvSpPr/>
          <p:nvPr/>
        </p:nvSpPr>
        <p:spPr>
          <a:xfrm>
            <a:off x="2880360" y="470001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Players can report harmful behavior</a:t>
            </a:r>
            <a:endParaRPr lang="en-US" sz="800" dirty="0"/>
          </a:p>
        </p:txBody>
      </p:sp>
      <p:sp>
        <p:nvSpPr>
          <p:cNvPr id="805" name="Text 67">
            <a:extLst>
              <a:ext uri="{FF2B5EF4-FFF2-40B4-BE49-F238E27FC236}">
                <a16:creationId xmlns:a16="http://schemas.microsoft.com/office/drawing/2014/main" id="{06F47432-7EA8-BAB6-9838-89517BCF290C}"/>
              </a:ext>
            </a:extLst>
          </p:cNvPr>
          <p:cNvSpPr/>
          <p:nvPr/>
        </p:nvSpPr>
        <p:spPr>
          <a:xfrm>
            <a:off x="2880360" y="491947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report_submitted</a:t>
            </a:r>
            <a:endParaRPr lang="en-US" sz="750" dirty="0"/>
          </a:p>
        </p:txBody>
      </p:sp>
      <p:sp>
        <p:nvSpPr>
          <p:cNvPr id="806" name="Text 68">
            <a:extLst>
              <a:ext uri="{FF2B5EF4-FFF2-40B4-BE49-F238E27FC236}">
                <a16:creationId xmlns:a16="http://schemas.microsoft.com/office/drawing/2014/main" id="{66C4E1B4-7EA1-31CC-2CA7-71FCD9E63174}"/>
              </a:ext>
            </a:extLst>
          </p:cNvPr>
          <p:cNvSpPr/>
          <p:nvPr/>
        </p:nvSpPr>
        <p:spPr>
          <a:xfrm>
            <a:off x="2587752" y="51755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08</a:t>
            </a:r>
            <a:endParaRPr lang="en-US" sz="850" dirty="0"/>
          </a:p>
        </p:txBody>
      </p:sp>
      <p:sp>
        <p:nvSpPr>
          <p:cNvPr id="807" name="Text 69">
            <a:extLst>
              <a:ext uri="{FF2B5EF4-FFF2-40B4-BE49-F238E27FC236}">
                <a16:creationId xmlns:a16="http://schemas.microsoft.com/office/drawing/2014/main" id="{4A8FF881-B358-832D-DD0C-39C5B3B22359}"/>
              </a:ext>
            </a:extLst>
          </p:cNvPr>
          <p:cNvSpPr/>
          <p:nvPr/>
        </p:nvSpPr>
        <p:spPr>
          <a:xfrm>
            <a:off x="2880360" y="515721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Reports result in observable handling</a:t>
            </a:r>
            <a:endParaRPr lang="en-US" sz="800" dirty="0"/>
          </a:p>
        </p:txBody>
      </p:sp>
      <p:sp>
        <p:nvSpPr>
          <p:cNvPr id="808" name="Text 70">
            <a:extLst>
              <a:ext uri="{FF2B5EF4-FFF2-40B4-BE49-F238E27FC236}">
                <a16:creationId xmlns:a16="http://schemas.microsoft.com/office/drawing/2014/main" id="{9F235EBA-B667-0403-D807-3899BFE1FA90}"/>
              </a:ext>
            </a:extLst>
          </p:cNvPr>
          <p:cNvSpPr/>
          <p:nvPr/>
        </p:nvSpPr>
        <p:spPr>
          <a:xfrm>
            <a:off x="2880360" y="537667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report_state_change</a:t>
            </a:r>
            <a:endParaRPr lang="en-US" sz="750" dirty="0"/>
          </a:p>
        </p:txBody>
      </p:sp>
      <p:sp>
        <p:nvSpPr>
          <p:cNvPr id="809" name="Text 71">
            <a:extLst>
              <a:ext uri="{FF2B5EF4-FFF2-40B4-BE49-F238E27FC236}">
                <a16:creationId xmlns:a16="http://schemas.microsoft.com/office/drawing/2014/main" id="{E0D3CA17-BDA2-7FFA-7D2A-B14B1B1D6458}"/>
              </a:ext>
            </a:extLst>
          </p:cNvPr>
          <p:cNvSpPr/>
          <p:nvPr/>
        </p:nvSpPr>
        <p:spPr>
          <a:xfrm>
            <a:off x="2587752" y="56327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09</a:t>
            </a:r>
            <a:endParaRPr lang="en-US" sz="850" dirty="0"/>
          </a:p>
        </p:txBody>
      </p:sp>
      <p:sp>
        <p:nvSpPr>
          <p:cNvPr id="810" name="Text 72">
            <a:extLst>
              <a:ext uri="{FF2B5EF4-FFF2-40B4-BE49-F238E27FC236}">
                <a16:creationId xmlns:a16="http://schemas.microsoft.com/office/drawing/2014/main" id="{C01394D7-2F97-7DE0-89EF-A0CA5DD662CF}"/>
              </a:ext>
            </a:extLst>
          </p:cNvPr>
          <p:cNvSpPr/>
          <p:nvPr/>
        </p:nvSpPr>
        <p:spPr>
          <a:xfrm>
            <a:off x="2880360" y="561441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Safety controls resist evasion</a:t>
            </a:r>
            <a:endParaRPr lang="en-US" sz="800" dirty="0"/>
          </a:p>
        </p:txBody>
      </p:sp>
      <p:sp>
        <p:nvSpPr>
          <p:cNvPr id="811" name="Text 73">
            <a:extLst>
              <a:ext uri="{FF2B5EF4-FFF2-40B4-BE49-F238E27FC236}">
                <a16:creationId xmlns:a16="http://schemas.microsoft.com/office/drawing/2014/main" id="{92F31B8B-F024-BCDF-7C99-59336F2089ED}"/>
              </a:ext>
            </a:extLst>
          </p:cNvPr>
          <p:cNvSpPr/>
          <p:nvPr/>
        </p:nvSpPr>
        <p:spPr>
          <a:xfrm>
            <a:off x="2880360" y="583387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control_evaluation</a:t>
            </a:r>
            <a:endParaRPr lang="en-US" sz="750" dirty="0"/>
          </a:p>
        </p:txBody>
      </p:sp>
      <p:sp>
        <p:nvSpPr>
          <p:cNvPr id="812" name="Text 74">
            <a:extLst>
              <a:ext uri="{FF2B5EF4-FFF2-40B4-BE49-F238E27FC236}">
                <a16:creationId xmlns:a16="http://schemas.microsoft.com/office/drawing/2014/main" id="{356C2461-A04F-9223-4FBF-F97ABB319E1B}"/>
              </a:ext>
            </a:extLst>
          </p:cNvPr>
          <p:cNvSpPr/>
          <p:nvPr/>
        </p:nvSpPr>
        <p:spPr>
          <a:xfrm>
            <a:off x="2587752" y="60899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10</a:t>
            </a:r>
            <a:endParaRPr lang="en-US" sz="850" dirty="0"/>
          </a:p>
        </p:txBody>
      </p:sp>
      <p:sp>
        <p:nvSpPr>
          <p:cNvPr id="813" name="Text 75">
            <a:extLst>
              <a:ext uri="{FF2B5EF4-FFF2-40B4-BE49-F238E27FC236}">
                <a16:creationId xmlns:a16="http://schemas.microsoft.com/office/drawing/2014/main" id="{268A28F6-9D25-5E7E-83C5-5E9335F62775}"/>
              </a:ext>
            </a:extLst>
          </p:cNvPr>
          <p:cNvSpPr/>
          <p:nvPr/>
        </p:nvSpPr>
        <p:spPr>
          <a:xfrm>
            <a:off x="2880360" y="607161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Enforcement actions are attributable</a:t>
            </a:r>
            <a:endParaRPr lang="en-US" sz="800" dirty="0"/>
          </a:p>
        </p:txBody>
      </p:sp>
      <p:sp>
        <p:nvSpPr>
          <p:cNvPr id="814" name="Text 76">
            <a:extLst>
              <a:ext uri="{FF2B5EF4-FFF2-40B4-BE49-F238E27FC236}">
                <a16:creationId xmlns:a16="http://schemas.microsoft.com/office/drawing/2014/main" id="{9F62CE99-24BC-5B70-FFF4-301CFC1F139A}"/>
              </a:ext>
            </a:extLst>
          </p:cNvPr>
          <p:cNvSpPr/>
          <p:nvPr/>
        </p:nvSpPr>
        <p:spPr>
          <a:xfrm>
            <a:off x="2880360" y="629107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enforcement_decision</a:t>
            </a:r>
            <a:endParaRPr lang="en-US" sz="750" dirty="0"/>
          </a:p>
        </p:txBody>
      </p:sp>
      <p:sp>
        <p:nvSpPr>
          <p:cNvPr id="815" name="Shape 77">
            <a:extLst>
              <a:ext uri="{FF2B5EF4-FFF2-40B4-BE49-F238E27FC236}">
                <a16:creationId xmlns:a16="http://schemas.microsoft.com/office/drawing/2014/main" id="{B441F555-4D5F-07C5-E9C4-E795AFDE0ACF}"/>
              </a:ext>
            </a:extLst>
          </p:cNvPr>
          <p:cNvSpPr/>
          <p:nvPr/>
        </p:nvSpPr>
        <p:spPr>
          <a:xfrm>
            <a:off x="4898779" y="1394460"/>
            <a:ext cx="2414016" cy="5463540"/>
          </a:xfrm>
          <a:prstGeom prst="rect">
            <a:avLst/>
          </a:prstGeom>
          <a:solidFill>
            <a:srgbClr val="121C2E"/>
          </a:solidFill>
          <a:ln w="12700">
            <a:solidFill>
              <a:srgbClr val="121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7" name="Text 79">
            <a:extLst>
              <a:ext uri="{FF2B5EF4-FFF2-40B4-BE49-F238E27FC236}">
                <a16:creationId xmlns:a16="http://schemas.microsoft.com/office/drawing/2014/main" id="{29AD743E-9493-8DFF-F3FE-B1A5EF55DCD9}"/>
              </a:ext>
            </a:extLst>
          </p:cNvPr>
          <p:cNvSpPr/>
          <p:nvPr/>
        </p:nvSpPr>
        <p:spPr>
          <a:xfrm>
            <a:off x="6567940" y="132130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20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O</a:t>
            </a:r>
            <a:endParaRPr lang="en-US" sz="4200" dirty="0"/>
          </a:p>
        </p:txBody>
      </p:sp>
      <p:sp>
        <p:nvSpPr>
          <p:cNvPr id="818" name="Text 80">
            <a:extLst>
              <a:ext uri="{FF2B5EF4-FFF2-40B4-BE49-F238E27FC236}">
                <a16:creationId xmlns:a16="http://schemas.microsoft.com/office/drawing/2014/main" id="{D1905E5D-DF21-63E9-1D5A-00057C59C747}"/>
              </a:ext>
            </a:extLst>
          </p:cNvPr>
          <p:cNvSpPr/>
          <p:nvPr/>
        </p:nvSpPr>
        <p:spPr>
          <a:xfrm>
            <a:off x="4990219" y="1394460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819" name="Text 81">
            <a:extLst>
              <a:ext uri="{FF2B5EF4-FFF2-40B4-BE49-F238E27FC236}">
                <a16:creationId xmlns:a16="http://schemas.microsoft.com/office/drawing/2014/main" id="{0E078184-5DFF-4635-C3A5-72502A735FCA}"/>
              </a:ext>
            </a:extLst>
          </p:cNvPr>
          <p:cNvSpPr/>
          <p:nvPr/>
        </p:nvSpPr>
        <p:spPr>
          <a:xfrm>
            <a:off x="4990219" y="1641348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Resilience &amp; Availability</a:t>
            </a:r>
            <a:endParaRPr lang="en-US" sz="850" dirty="0"/>
          </a:p>
        </p:txBody>
      </p:sp>
      <p:sp>
        <p:nvSpPr>
          <p:cNvPr id="820" name="Shape 82">
            <a:extLst>
              <a:ext uri="{FF2B5EF4-FFF2-40B4-BE49-F238E27FC236}">
                <a16:creationId xmlns:a16="http://schemas.microsoft.com/office/drawing/2014/main" id="{A6307F9A-DFAF-458E-2A0B-04B1FF4129FF}"/>
              </a:ext>
            </a:extLst>
          </p:cNvPr>
          <p:cNvSpPr/>
          <p:nvPr/>
        </p:nvSpPr>
        <p:spPr>
          <a:xfrm>
            <a:off x="4990219" y="1883664"/>
            <a:ext cx="2231136" cy="10973"/>
          </a:xfrm>
          <a:prstGeom prst="rect">
            <a:avLst/>
          </a:prstGeom>
          <a:solidFill>
            <a:srgbClr val="243049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1" name="Text 83">
            <a:extLst>
              <a:ext uri="{FF2B5EF4-FFF2-40B4-BE49-F238E27FC236}">
                <a16:creationId xmlns:a16="http://schemas.microsoft.com/office/drawing/2014/main" id="{3F95A32F-CB6F-7483-5C46-8A2914D205E3}"/>
              </a:ext>
            </a:extLst>
          </p:cNvPr>
          <p:cNvSpPr/>
          <p:nvPr/>
        </p:nvSpPr>
        <p:spPr>
          <a:xfrm>
            <a:off x="4990219" y="19751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01</a:t>
            </a:r>
            <a:endParaRPr lang="en-US" sz="850" dirty="0"/>
          </a:p>
        </p:txBody>
      </p:sp>
      <p:sp>
        <p:nvSpPr>
          <p:cNvPr id="822" name="Text 84">
            <a:extLst>
              <a:ext uri="{FF2B5EF4-FFF2-40B4-BE49-F238E27FC236}">
                <a16:creationId xmlns:a16="http://schemas.microsoft.com/office/drawing/2014/main" id="{D30760AC-B4ED-D336-9378-C90998067CD8}"/>
              </a:ext>
            </a:extLst>
          </p:cNvPr>
          <p:cNvSpPr/>
          <p:nvPr/>
        </p:nvSpPr>
        <p:spPr>
          <a:xfrm>
            <a:off x="5282827" y="195681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All external inputs are validated</a:t>
            </a:r>
            <a:endParaRPr lang="en-US" sz="800" dirty="0"/>
          </a:p>
        </p:txBody>
      </p:sp>
      <p:sp>
        <p:nvSpPr>
          <p:cNvPr id="823" name="Text 85">
            <a:extLst>
              <a:ext uri="{FF2B5EF4-FFF2-40B4-BE49-F238E27FC236}">
                <a16:creationId xmlns:a16="http://schemas.microsoft.com/office/drawing/2014/main" id="{1E1F016A-2C3B-1894-D35D-8197684C188C}"/>
              </a:ext>
            </a:extLst>
          </p:cNvPr>
          <p:cNvSpPr/>
          <p:nvPr/>
        </p:nvSpPr>
        <p:spPr>
          <a:xfrm>
            <a:off x="5282827" y="217627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input_validation_result</a:t>
            </a:r>
            <a:endParaRPr lang="en-US" sz="750" dirty="0"/>
          </a:p>
        </p:txBody>
      </p:sp>
      <p:sp>
        <p:nvSpPr>
          <p:cNvPr id="824" name="Text 86">
            <a:extLst>
              <a:ext uri="{FF2B5EF4-FFF2-40B4-BE49-F238E27FC236}">
                <a16:creationId xmlns:a16="http://schemas.microsoft.com/office/drawing/2014/main" id="{9C2AD42B-A54C-7E61-960E-F26561888816}"/>
              </a:ext>
            </a:extLst>
          </p:cNvPr>
          <p:cNvSpPr/>
          <p:nvPr/>
        </p:nvSpPr>
        <p:spPr>
          <a:xfrm>
            <a:off x="4990219" y="24323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02</a:t>
            </a:r>
            <a:endParaRPr lang="en-US" sz="850" dirty="0"/>
          </a:p>
        </p:txBody>
      </p:sp>
      <p:sp>
        <p:nvSpPr>
          <p:cNvPr id="825" name="Text 87">
            <a:extLst>
              <a:ext uri="{FF2B5EF4-FFF2-40B4-BE49-F238E27FC236}">
                <a16:creationId xmlns:a16="http://schemas.microsoft.com/office/drawing/2014/main" id="{27CB02A7-627A-4272-C76E-7E0929049B81}"/>
              </a:ext>
            </a:extLst>
          </p:cNvPr>
          <p:cNvSpPr/>
          <p:nvPr/>
        </p:nvSpPr>
        <p:spPr>
          <a:xfrm>
            <a:off x="5282827" y="241401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Systems tolerate malformed or hostile input</a:t>
            </a:r>
            <a:endParaRPr lang="en-US" sz="800" dirty="0"/>
          </a:p>
        </p:txBody>
      </p:sp>
      <p:sp>
        <p:nvSpPr>
          <p:cNvPr id="826" name="Text 88">
            <a:extLst>
              <a:ext uri="{FF2B5EF4-FFF2-40B4-BE49-F238E27FC236}">
                <a16:creationId xmlns:a16="http://schemas.microsoft.com/office/drawing/2014/main" id="{FC3143EA-7FD7-5ADB-5BDB-3F66A83E4329}"/>
              </a:ext>
            </a:extLst>
          </p:cNvPr>
          <p:cNvSpPr/>
          <p:nvPr/>
        </p:nvSpPr>
        <p:spPr>
          <a:xfrm>
            <a:off x="5282827" y="263347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input_parse_outcome</a:t>
            </a:r>
            <a:endParaRPr lang="en-US" sz="750" dirty="0"/>
          </a:p>
        </p:txBody>
      </p:sp>
      <p:sp>
        <p:nvSpPr>
          <p:cNvPr id="827" name="Text 89">
            <a:extLst>
              <a:ext uri="{FF2B5EF4-FFF2-40B4-BE49-F238E27FC236}">
                <a16:creationId xmlns:a16="http://schemas.microsoft.com/office/drawing/2014/main" id="{BCAEBB0E-CA9B-7549-A929-7742ACB9C0D2}"/>
              </a:ext>
            </a:extLst>
          </p:cNvPr>
          <p:cNvSpPr/>
          <p:nvPr/>
        </p:nvSpPr>
        <p:spPr>
          <a:xfrm>
            <a:off x="4990219" y="28895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03</a:t>
            </a:r>
            <a:endParaRPr lang="en-US" sz="850" dirty="0"/>
          </a:p>
        </p:txBody>
      </p:sp>
      <p:sp>
        <p:nvSpPr>
          <p:cNvPr id="828" name="Text 90">
            <a:extLst>
              <a:ext uri="{FF2B5EF4-FFF2-40B4-BE49-F238E27FC236}">
                <a16:creationId xmlns:a16="http://schemas.microsoft.com/office/drawing/2014/main" id="{88E0FACE-A31E-6DAA-306D-654ABB7F611A}"/>
              </a:ext>
            </a:extLst>
          </p:cNvPr>
          <p:cNvSpPr/>
          <p:nvPr/>
        </p:nvSpPr>
        <p:spPr>
          <a:xfrm>
            <a:off x="5282827" y="287121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Services resist traffic floods and abuse</a:t>
            </a:r>
            <a:endParaRPr lang="en-US" sz="800" dirty="0"/>
          </a:p>
        </p:txBody>
      </p:sp>
      <p:sp>
        <p:nvSpPr>
          <p:cNvPr id="829" name="Text 91">
            <a:extLst>
              <a:ext uri="{FF2B5EF4-FFF2-40B4-BE49-F238E27FC236}">
                <a16:creationId xmlns:a16="http://schemas.microsoft.com/office/drawing/2014/main" id="{314E5D94-8090-9772-FE60-0F035DCA2939}"/>
              </a:ext>
            </a:extLst>
          </p:cNvPr>
          <p:cNvSpPr/>
          <p:nvPr/>
        </p:nvSpPr>
        <p:spPr>
          <a:xfrm>
            <a:off x="5282827" y="309067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rate_limit_event</a:t>
            </a:r>
            <a:endParaRPr lang="en-US" sz="750" dirty="0"/>
          </a:p>
        </p:txBody>
      </p:sp>
      <p:sp>
        <p:nvSpPr>
          <p:cNvPr id="830" name="Text 92">
            <a:extLst>
              <a:ext uri="{FF2B5EF4-FFF2-40B4-BE49-F238E27FC236}">
                <a16:creationId xmlns:a16="http://schemas.microsoft.com/office/drawing/2014/main" id="{D81D0C5A-AE83-67A5-1531-F86930E3B7EB}"/>
              </a:ext>
            </a:extLst>
          </p:cNvPr>
          <p:cNvSpPr/>
          <p:nvPr/>
        </p:nvSpPr>
        <p:spPr>
          <a:xfrm>
            <a:off x="4990219" y="33467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04</a:t>
            </a:r>
            <a:endParaRPr lang="en-US" sz="850" dirty="0"/>
          </a:p>
        </p:txBody>
      </p:sp>
      <p:sp>
        <p:nvSpPr>
          <p:cNvPr id="831" name="Text 93">
            <a:extLst>
              <a:ext uri="{FF2B5EF4-FFF2-40B4-BE49-F238E27FC236}">
                <a16:creationId xmlns:a16="http://schemas.microsoft.com/office/drawing/2014/main" id="{FEA38D03-E169-D142-438C-7DE4E9FED8BC}"/>
              </a:ext>
            </a:extLst>
          </p:cNvPr>
          <p:cNvSpPr/>
          <p:nvPr/>
        </p:nvSpPr>
        <p:spPr>
          <a:xfrm>
            <a:off x="5282827" y="332841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Failures are isolated and non-cascading</a:t>
            </a:r>
            <a:endParaRPr lang="en-US" sz="800" dirty="0"/>
          </a:p>
        </p:txBody>
      </p:sp>
      <p:sp>
        <p:nvSpPr>
          <p:cNvPr id="832" name="Text 94">
            <a:extLst>
              <a:ext uri="{FF2B5EF4-FFF2-40B4-BE49-F238E27FC236}">
                <a16:creationId xmlns:a16="http://schemas.microsoft.com/office/drawing/2014/main" id="{CF712710-9982-34E8-6A08-2215D82DA6AB}"/>
              </a:ext>
            </a:extLst>
          </p:cNvPr>
          <p:cNvSpPr/>
          <p:nvPr/>
        </p:nvSpPr>
        <p:spPr>
          <a:xfrm>
            <a:off x="5282827" y="354787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circuit_breaker_state</a:t>
            </a:r>
            <a:endParaRPr lang="en-US" sz="750" dirty="0"/>
          </a:p>
        </p:txBody>
      </p:sp>
      <p:sp>
        <p:nvSpPr>
          <p:cNvPr id="833" name="Text 95">
            <a:extLst>
              <a:ext uri="{FF2B5EF4-FFF2-40B4-BE49-F238E27FC236}">
                <a16:creationId xmlns:a16="http://schemas.microsoft.com/office/drawing/2014/main" id="{9D7C1E25-FE4C-5723-D225-808FD7F7B2F8}"/>
              </a:ext>
            </a:extLst>
          </p:cNvPr>
          <p:cNvSpPr/>
          <p:nvPr/>
        </p:nvSpPr>
        <p:spPr>
          <a:xfrm>
            <a:off x="4990219" y="38039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05</a:t>
            </a:r>
            <a:endParaRPr lang="en-US" sz="850" dirty="0"/>
          </a:p>
        </p:txBody>
      </p:sp>
      <p:sp>
        <p:nvSpPr>
          <p:cNvPr id="834" name="Text 96">
            <a:extLst>
              <a:ext uri="{FF2B5EF4-FFF2-40B4-BE49-F238E27FC236}">
                <a16:creationId xmlns:a16="http://schemas.microsoft.com/office/drawing/2014/main" id="{3CEC170C-2486-5CB3-9798-2238465118DD}"/>
              </a:ext>
            </a:extLst>
          </p:cNvPr>
          <p:cNvSpPr/>
          <p:nvPr/>
        </p:nvSpPr>
        <p:spPr>
          <a:xfrm>
            <a:off x="5282827" y="378561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Resource exhaustion is detectable</a:t>
            </a:r>
            <a:endParaRPr lang="en-US" sz="800" dirty="0"/>
          </a:p>
        </p:txBody>
      </p:sp>
      <p:sp>
        <p:nvSpPr>
          <p:cNvPr id="835" name="Text 97">
            <a:extLst>
              <a:ext uri="{FF2B5EF4-FFF2-40B4-BE49-F238E27FC236}">
                <a16:creationId xmlns:a16="http://schemas.microsoft.com/office/drawing/2014/main" id="{6C68080D-1FFA-67FE-F145-13B6AC21A0CE}"/>
              </a:ext>
            </a:extLst>
          </p:cNvPr>
          <p:cNvSpPr/>
          <p:nvPr/>
        </p:nvSpPr>
        <p:spPr>
          <a:xfrm>
            <a:off x="5282827" y="400507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resource_utilization</a:t>
            </a:r>
            <a:endParaRPr lang="en-US" sz="750" dirty="0"/>
          </a:p>
        </p:txBody>
      </p:sp>
      <p:sp>
        <p:nvSpPr>
          <p:cNvPr id="836" name="Text 98">
            <a:extLst>
              <a:ext uri="{FF2B5EF4-FFF2-40B4-BE49-F238E27FC236}">
                <a16:creationId xmlns:a16="http://schemas.microsoft.com/office/drawing/2014/main" id="{C0CFBE96-D24E-B6C9-6DA5-92BB6CB07561}"/>
              </a:ext>
            </a:extLst>
          </p:cNvPr>
          <p:cNvSpPr/>
          <p:nvPr/>
        </p:nvSpPr>
        <p:spPr>
          <a:xfrm>
            <a:off x="4990219" y="42611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06</a:t>
            </a:r>
            <a:endParaRPr lang="en-US" sz="850" dirty="0"/>
          </a:p>
        </p:txBody>
      </p:sp>
      <p:sp>
        <p:nvSpPr>
          <p:cNvPr id="837" name="Text 99">
            <a:extLst>
              <a:ext uri="{FF2B5EF4-FFF2-40B4-BE49-F238E27FC236}">
                <a16:creationId xmlns:a16="http://schemas.microsoft.com/office/drawing/2014/main" id="{1FFAA352-4438-86CF-34E7-669E9606DE14}"/>
              </a:ext>
            </a:extLst>
          </p:cNvPr>
          <p:cNvSpPr/>
          <p:nvPr/>
        </p:nvSpPr>
        <p:spPr>
          <a:xfrm>
            <a:off x="5282827" y="424281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Unexpected traffic patterns are observable</a:t>
            </a:r>
            <a:endParaRPr lang="en-US" sz="800" dirty="0"/>
          </a:p>
        </p:txBody>
      </p:sp>
      <p:sp>
        <p:nvSpPr>
          <p:cNvPr id="838" name="Text 100">
            <a:extLst>
              <a:ext uri="{FF2B5EF4-FFF2-40B4-BE49-F238E27FC236}">
                <a16:creationId xmlns:a16="http://schemas.microsoft.com/office/drawing/2014/main" id="{C5DB1314-E860-ED29-3513-8B616DDE94EA}"/>
              </a:ext>
            </a:extLst>
          </p:cNvPr>
          <p:cNvSpPr/>
          <p:nvPr/>
        </p:nvSpPr>
        <p:spPr>
          <a:xfrm>
            <a:off x="5282827" y="446227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traffic_pattern_sample</a:t>
            </a:r>
            <a:endParaRPr lang="en-US" sz="750" dirty="0"/>
          </a:p>
        </p:txBody>
      </p:sp>
      <p:sp>
        <p:nvSpPr>
          <p:cNvPr id="839" name="Text 101">
            <a:extLst>
              <a:ext uri="{FF2B5EF4-FFF2-40B4-BE49-F238E27FC236}">
                <a16:creationId xmlns:a16="http://schemas.microsoft.com/office/drawing/2014/main" id="{19F28BBC-D42F-3265-AF75-B6DD6C15C6CF}"/>
              </a:ext>
            </a:extLst>
          </p:cNvPr>
          <p:cNvSpPr/>
          <p:nvPr/>
        </p:nvSpPr>
        <p:spPr>
          <a:xfrm>
            <a:off x="4990219" y="47183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07</a:t>
            </a:r>
            <a:endParaRPr lang="en-US" sz="850" dirty="0"/>
          </a:p>
        </p:txBody>
      </p:sp>
      <p:sp>
        <p:nvSpPr>
          <p:cNvPr id="840" name="Text 102">
            <a:extLst>
              <a:ext uri="{FF2B5EF4-FFF2-40B4-BE49-F238E27FC236}">
                <a16:creationId xmlns:a16="http://schemas.microsoft.com/office/drawing/2014/main" id="{0EEF8B12-5324-0536-7A36-DF3D53B997D6}"/>
              </a:ext>
            </a:extLst>
          </p:cNvPr>
          <p:cNvSpPr/>
          <p:nvPr/>
        </p:nvSpPr>
        <p:spPr>
          <a:xfrm>
            <a:off x="5282827" y="470001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Operational limits are enforced</a:t>
            </a:r>
            <a:endParaRPr lang="en-US" sz="800" dirty="0"/>
          </a:p>
        </p:txBody>
      </p:sp>
      <p:sp>
        <p:nvSpPr>
          <p:cNvPr id="841" name="Text 103">
            <a:extLst>
              <a:ext uri="{FF2B5EF4-FFF2-40B4-BE49-F238E27FC236}">
                <a16:creationId xmlns:a16="http://schemas.microsoft.com/office/drawing/2014/main" id="{C82F0979-F206-C6D2-4177-38E1AD850B9C}"/>
              </a:ext>
            </a:extLst>
          </p:cNvPr>
          <p:cNvSpPr/>
          <p:nvPr/>
        </p:nvSpPr>
        <p:spPr>
          <a:xfrm>
            <a:off x="5282827" y="491947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limit_enforcement</a:t>
            </a:r>
            <a:endParaRPr lang="en-US" sz="750" dirty="0"/>
          </a:p>
        </p:txBody>
      </p:sp>
      <p:sp>
        <p:nvSpPr>
          <p:cNvPr id="842" name="Text 104">
            <a:extLst>
              <a:ext uri="{FF2B5EF4-FFF2-40B4-BE49-F238E27FC236}">
                <a16:creationId xmlns:a16="http://schemas.microsoft.com/office/drawing/2014/main" id="{AEE96224-5E5D-495B-5345-70A910D4273E}"/>
              </a:ext>
            </a:extLst>
          </p:cNvPr>
          <p:cNvSpPr/>
          <p:nvPr/>
        </p:nvSpPr>
        <p:spPr>
          <a:xfrm>
            <a:off x="4990219" y="51755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08</a:t>
            </a:r>
            <a:endParaRPr lang="en-US" sz="850" dirty="0"/>
          </a:p>
        </p:txBody>
      </p:sp>
      <p:sp>
        <p:nvSpPr>
          <p:cNvPr id="843" name="Text 105">
            <a:extLst>
              <a:ext uri="{FF2B5EF4-FFF2-40B4-BE49-F238E27FC236}">
                <a16:creationId xmlns:a16="http://schemas.microsoft.com/office/drawing/2014/main" id="{BCA16FCE-BE58-CB62-E269-20D3CD458253}"/>
              </a:ext>
            </a:extLst>
          </p:cNvPr>
          <p:cNvSpPr/>
          <p:nvPr/>
        </p:nvSpPr>
        <p:spPr>
          <a:xfrm>
            <a:off x="5282827" y="515721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Failures produce diagnostic telemetry</a:t>
            </a:r>
            <a:endParaRPr lang="en-US" sz="800" dirty="0"/>
          </a:p>
        </p:txBody>
      </p:sp>
      <p:sp>
        <p:nvSpPr>
          <p:cNvPr id="844" name="Text 106">
            <a:extLst>
              <a:ext uri="{FF2B5EF4-FFF2-40B4-BE49-F238E27FC236}">
                <a16:creationId xmlns:a16="http://schemas.microsoft.com/office/drawing/2014/main" id="{871F94F1-8E07-9022-8AB3-2CAE94E5E59D}"/>
              </a:ext>
            </a:extLst>
          </p:cNvPr>
          <p:cNvSpPr/>
          <p:nvPr/>
        </p:nvSpPr>
        <p:spPr>
          <a:xfrm>
            <a:off x="5282827" y="537667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error_event</a:t>
            </a:r>
            <a:endParaRPr lang="en-US" sz="750" dirty="0"/>
          </a:p>
        </p:txBody>
      </p:sp>
      <p:sp>
        <p:nvSpPr>
          <p:cNvPr id="845" name="Text 107">
            <a:extLst>
              <a:ext uri="{FF2B5EF4-FFF2-40B4-BE49-F238E27FC236}">
                <a16:creationId xmlns:a16="http://schemas.microsoft.com/office/drawing/2014/main" id="{F873D541-647D-10DD-F50F-67BFCE6EBCB5}"/>
              </a:ext>
            </a:extLst>
          </p:cNvPr>
          <p:cNvSpPr/>
          <p:nvPr/>
        </p:nvSpPr>
        <p:spPr>
          <a:xfrm>
            <a:off x="4990219" y="56327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09</a:t>
            </a:r>
            <a:endParaRPr lang="en-US" sz="850" dirty="0"/>
          </a:p>
        </p:txBody>
      </p:sp>
      <p:sp>
        <p:nvSpPr>
          <p:cNvPr id="846" name="Text 108">
            <a:extLst>
              <a:ext uri="{FF2B5EF4-FFF2-40B4-BE49-F238E27FC236}">
                <a16:creationId xmlns:a16="http://schemas.microsoft.com/office/drawing/2014/main" id="{B85FE7C1-7F7B-4CF0-22A0-6E044A4FD28F}"/>
              </a:ext>
            </a:extLst>
          </p:cNvPr>
          <p:cNvSpPr/>
          <p:nvPr/>
        </p:nvSpPr>
        <p:spPr>
          <a:xfrm>
            <a:off x="5282827" y="561441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Recovery behavior is visible</a:t>
            </a:r>
            <a:endParaRPr lang="en-US" sz="800" dirty="0"/>
          </a:p>
        </p:txBody>
      </p:sp>
      <p:sp>
        <p:nvSpPr>
          <p:cNvPr id="847" name="Text 109">
            <a:extLst>
              <a:ext uri="{FF2B5EF4-FFF2-40B4-BE49-F238E27FC236}">
                <a16:creationId xmlns:a16="http://schemas.microsoft.com/office/drawing/2014/main" id="{99F2F495-9658-5088-E5F6-EF6362474830}"/>
              </a:ext>
            </a:extLst>
          </p:cNvPr>
          <p:cNvSpPr/>
          <p:nvPr/>
        </p:nvSpPr>
        <p:spPr>
          <a:xfrm>
            <a:off x="5282827" y="583387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recovery_event</a:t>
            </a:r>
            <a:endParaRPr lang="en-US" sz="750" dirty="0"/>
          </a:p>
        </p:txBody>
      </p:sp>
      <p:sp>
        <p:nvSpPr>
          <p:cNvPr id="848" name="Text 110">
            <a:extLst>
              <a:ext uri="{FF2B5EF4-FFF2-40B4-BE49-F238E27FC236}">
                <a16:creationId xmlns:a16="http://schemas.microsoft.com/office/drawing/2014/main" id="{BE8CDEFB-A02B-70F0-F4A0-5B0B0DE3E626}"/>
              </a:ext>
            </a:extLst>
          </p:cNvPr>
          <p:cNvSpPr/>
          <p:nvPr/>
        </p:nvSpPr>
        <p:spPr>
          <a:xfrm>
            <a:off x="4990219" y="60899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10</a:t>
            </a:r>
            <a:endParaRPr lang="en-US" sz="850" dirty="0"/>
          </a:p>
        </p:txBody>
      </p:sp>
      <p:sp>
        <p:nvSpPr>
          <p:cNvPr id="849" name="Text 111">
            <a:extLst>
              <a:ext uri="{FF2B5EF4-FFF2-40B4-BE49-F238E27FC236}">
                <a16:creationId xmlns:a16="http://schemas.microsoft.com/office/drawing/2014/main" id="{BA1B5601-1EB3-44D4-416C-64B08BC91C91}"/>
              </a:ext>
            </a:extLst>
          </p:cNvPr>
          <p:cNvSpPr/>
          <p:nvPr/>
        </p:nvSpPr>
        <p:spPr>
          <a:xfrm>
            <a:off x="5282827" y="607161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Degraded operation is detectable</a:t>
            </a:r>
            <a:endParaRPr lang="en-US" sz="800" dirty="0"/>
          </a:p>
        </p:txBody>
      </p:sp>
      <p:sp>
        <p:nvSpPr>
          <p:cNvPr id="850" name="Text 112">
            <a:extLst>
              <a:ext uri="{FF2B5EF4-FFF2-40B4-BE49-F238E27FC236}">
                <a16:creationId xmlns:a16="http://schemas.microsoft.com/office/drawing/2014/main" id="{B560C1E9-808C-16BA-5104-C18ACFE8895B}"/>
              </a:ext>
            </a:extLst>
          </p:cNvPr>
          <p:cNvSpPr/>
          <p:nvPr/>
        </p:nvSpPr>
        <p:spPr>
          <a:xfrm>
            <a:off x="5282827" y="629107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service_health</a:t>
            </a:r>
            <a:endParaRPr lang="en-US" sz="750" dirty="0"/>
          </a:p>
        </p:txBody>
      </p:sp>
      <p:sp>
        <p:nvSpPr>
          <p:cNvPr id="851" name="Shape 113">
            <a:extLst>
              <a:ext uri="{FF2B5EF4-FFF2-40B4-BE49-F238E27FC236}">
                <a16:creationId xmlns:a16="http://schemas.microsoft.com/office/drawing/2014/main" id="{7E6D6D45-1949-8DB4-7BC9-D0A4FB0172BF}"/>
              </a:ext>
            </a:extLst>
          </p:cNvPr>
          <p:cNvSpPr/>
          <p:nvPr/>
        </p:nvSpPr>
        <p:spPr>
          <a:xfrm>
            <a:off x="7301246" y="1394460"/>
            <a:ext cx="2414016" cy="5463540"/>
          </a:xfrm>
          <a:prstGeom prst="rect">
            <a:avLst/>
          </a:prstGeom>
          <a:solidFill>
            <a:srgbClr val="121C2E"/>
          </a:solidFill>
          <a:ln w="12700">
            <a:solidFill>
              <a:srgbClr val="121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3" name="Text 115">
            <a:extLst>
              <a:ext uri="{FF2B5EF4-FFF2-40B4-BE49-F238E27FC236}">
                <a16:creationId xmlns:a16="http://schemas.microsoft.com/office/drawing/2014/main" id="{595BCE44-F08C-4891-9EBA-9B6E2CA48409}"/>
              </a:ext>
            </a:extLst>
          </p:cNvPr>
          <p:cNvSpPr/>
          <p:nvPr/>
        </p:nvSpPr>
        <p:spPr>
          <a:xfrm>
            <a:off x="8970407" y="132130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20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S</a:t>
            </a:r>
            <a:endParaRPr lang="en-US" sz="4200" dirty="0"/>
          </a:p>
        </p:txBody>
      </p:sp>
      <p:sp>
        <p:nvSpPr>
          <p:cNvPr id="854" name="Text 116">
            <a:extLst>
              <a:ext uri="{FF2B5EF4-FFF2-40B4-BE49-F238E27FC236}">
                <a16:creationId xmlns:a16="http://schemas.microsoft.com/office/drawing/2014/main" id="{1F50DA0C-BF04-B2C9-6B51-98A3826D6ED9}"/>
              </a:ext>
            </a:extLst>
          </p:cNvPr>
          <p:cNvSpPr/>
          <p:nvPr/>
        </p:nvSpPr>
        <p:spPr>
          <a:xfrm>
            <a:off x="7392686" y="1394460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SOCIAL</a:t>
            </a:r>
            <a:endParaRPr lang="en-US" sz="1100" dirty="0"/>
          </a:p>
        </p:txBody>
      </p:sp>
      <p:sp>
        <p:nvSpPr>
          <p:cNvPr id="855" name="Text 117">
            <a:extLst>
              <a:ext uri="{FF2B5EF4-FFF2-40B4-BE49-F238E27FC236}">
                <a16:creationId xmlns:a16="http://schemas.microsoft.com/office/drawing/2014/main" id="{CF534686-D1BF-CADF-A874-59BF4F9CC19F}"/>
              </a:ext>
            </a:extLst>
          </p:cNvPr>
          <p:cNvSpPr/>
          <p:nvPr/>
        </p:nvSpPr>
        <p:spPr>
          <a:xfrm>
            <a:off x="7392686" y="1641348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Identity &amp; Trust</a:t>
            </a:r>
            <a:endParaRPr lang="en-US" sz="850" dirty="0"/>
          </a:p>
        </p:txBody>
      </p:sp>
      <p:sp>
        <p:nvSpPr>
          <p:cNvPr id="856" name="Shape 118">
            <a:extLst>
              <a:ext uri="{FF2B5EF4-FFF2-40B4-BE49-F238E27FC236}">
                <a16:creationId xmlns:a16="http://schemas.microsoft.com/office/drawing/2014/main" id="{A32B9760-C4B1-7D2A-64EE-04500BF64B07}"/>
              </a:ext>
            </a:extLst>
          </p:cNvPr>
          <p:cNvSpPr/>
          <p:nvPr/>
        </p:nvSpPr>
        <p:spPr>
          <a:xfrm>
            <a:off x="7392686" y="1883664"/>
            <a:ext cx="2231136" cy="10973"/>
          </a:xfrm>
          <a:prstGeom prst="rect">
            <a:avLst/>
          </a:prstGeom>
          <a:solidFill>
            <a:srgbClr val="243049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7" name="Text 119">
            <a:extLst>
              <a:ext uri="{FF2B5EF4-FFF2-40B4-BE49-F238E27FC236}">
                <a16:creationId xmlns:a16="http://schemas.microsoft.com/office/drawing/2014/main" id="{B6E23272-5064-3ADD-D5E7-DA978A99F967}"/>
              </a:ext>
            </a:extLst>
          </p:cNvPr>
          <p:cNvSpPr/>
          <p:nvPr/>
        </p:nvSpPr>
        <p:spPr>
          <a:xfrm>
            <a:off x="7392686" y="19751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01</a:t>
            </a:r>
            <a:endParaRPr lang="en-US" sz="850" dirty="0"/>
          </a:p>
        </p:txBody>
      </p:sp>
      <p:sp>
        <p:nvSpPr>
          <p:cNvPr id="858" name="Text 120">
            <a:extLst>
              <a:ext uri="{FF2B5EF4-FFF2-40B4-BE49-F238E27FC236}">
                <a16:creationId xmlns:a16="http://schemas.microsoft.com/office/drawing/2014/main" id="{161CA7D0-1A41-789F-2A4A-0E1E0E7EBB5B}"/>
              </a:ext>
            </a:extLst>
          </p:cNvPr>
          <p:cNvSpPr/>
          <p:nvPr/>
        </p:nvSpPr>
        <p:spPr>
          <a:xfrm>
            <a:off x="7685294" y="195681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Player identity is not impersonable</a:t>
            </a:r>
            <a:endParaRPr lang="en-US" sz="800" dirty="0"/>
          </a:p>
        </p:txBody>
      </p:sp>
      <p:sp>
        <p:nvSpPr>
          <p:cNvPr id="859" name="Text 121">
            <a:extLst>
              <a:ext uri="{FF2B5EF4-FFF2-40B4-BE49-F238E27FC236}">
                <a16:creationId xmlns:a16="http://schemas.microsoft.com/office/drawing/2014/main" id="{98FEB6E6-C024-4F82-5C4F-174641296F2C}"/>
              </a:ext>
            </a:extLst>
          </p:cNvPr>
          <p:cNvSpPr/>
          <p:nvPr/>
        </p:nvSpPr>
        <p:spPr>
          <a:xfrm>
            <a:off x="7685294" y="217627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identity_create_or_rename</a:t>
            </a:r>
            <a:endParaRPr lang="en-US" sz="750" dirty="0"/>
          </a:p>
        </p:txBody>
      </p:sp>
      <p:sp>
        <p:nvSpPr>
          <p:cNvPr id="860" name="Text 122">
            <a:extLst>
              <a:ext uri="{FF2B5EF4-FFF2-40B4-BE49-F238E27FC236}">
                <a16:creationId xmlns:a16="http://schemas.microsoft.com/office/drawing/2014/main" id="{21424B61-C8F0-B984-8F03-AA4BA8005069}"/>
              </a:ext>
            </a:extLst>
          </p:cNvPr>
          <p:cNvSpPr/>
          <p:nvPr/>
        </p:nvSpPr>
        <p:spPr>
          <a:xfrm>
            <a:off x="7392686" y="24323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02</a:t>
            </a:r>
            <a:endParaRPr lang="en-US" sz="850" dirty="0"/>
          </a:p>
        </p:txBody>
      </p:sp>
      <p:sp>
        <p:nvSpPr>
          <p:cNvPr id="861" name="Text 123">
            <a:extLst>
              <a:ext uri="{FF2B5EF4-FFF2-40B4-BE49-F238E27FC236}">
                <a16:creationId xmlns:a16="http://schemas.microsoft.com/office/drawing/2014/main" id="{B188D8C3-B9A0-DED8-9994-7BFD8D1110D9}"/>
              </a:ext>
            </a:extLst>
          </p:cNvPr>
          <p:cNvSpPr/>
          <p:nvPr/>
        </p:nvSpPr>
        <p:spPr>
          <a:xfrm>
            <a:off x="7685294" y="241401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Trust and reputation are difficult to game</a:t>
            </a:r>
            <a:endParaRPr lang="en-US" sz="800" dirty="0"/>
          </a:p>
        </p:txBody>
      </p:sp>
      <p:sp>
        <p:nvSpPr>
          <p:cNvPr id="862" name="Text 124">
            <a:extLst>
              <a:ext uri="{FF2B5EF4-FFF2-40B4-BE49-F238E27FC236}">
                <a16:creationId xmlns:a16="http://schemas.microsoft.com/office/drawing/2014/main" id="{F6F9C10F-C89D-695F-A1A4-656AB0692C14}"/>
              </a:ext>
            </a:extLst>
          </p:cNvPr>
          <p:cNvSpPr/>
          <p:nvPr/>
        </p:nvSpPr>
        <p:spPr>
          <a:xfrm>
            <a:off x="7685294" y="263347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reputation_delta</a:t>
            </a:r>
            <a:endParaRPr lang="en-US" sz="750" dirty="0"/>
          </a:p>
        </p:txBody>
      </p:sp>
      <p:sp>
        <p:nvSpPr>
          <p:cNvPr id="863" name="Text 125">
            <a:extLst>
              <a:ext uri="{FF2B5EF4-FFF2-40B4-BE49-F238E27FC236}">
                <a16:creationId xmlns:a16="http://schemas.microsoft.com/office/drawing/2014/main" id="{106920FE-E736-943B-8C0B-72BC1FF43282}"/>
              </a:ext>
            </a:extLst>
          </p:cNvPr>
          <p:cNvSpPr/>
          <p:nvPr/>
        </p:nvSpPr>
        <p:spPr>
          <a:xfrm>
            <a:off x="7392686" y="28895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03</a:t>
            </a:r>
            <a:endParaRPr lang="en-US" sz="850" dirty="0"/>
          </a:p>
        </p:txBody>
      </p:sp>
      <p:sp>
        <p:nvSpPr>
          <p:cNvPr id="864" name="Text 126">
            <a:extLst>
              <a:ext uri="{FF2B5EF4-FFF2-40B4-BE49-F238E27FC236}">
                <a16:creationId xmlns:a16="http://schemas.microsoft.com/office/drawing/2014/main" id="{8BAEBBA8-F013-9EB9-9C2D-63043CB412AE}"/>
              </a:ext>
            </a:extLst>
          </p:cNvPr>
          <p:cNvSpPr/>
          <p:nvPr/>
        </p:nvSpPr>
        <p:spPr>
          <a:xfrm>
            <a:off x="7685294" y="287121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Group behavior cannot bypass safeguards</a:t>
            </a:r>
            <a:endParaRPr lang="en-US" sz="800" dirty="0"/>
          </a:p>
        </p:txBody>
      </p:sp>
      <p:sp>
        <p:nvSpPr>
          <p:cNvPr id="865" name="Text 127">
            <a:extLst>
              <a:ext uri="{FF2B5EF4-FFF2-40B4-BE49-F238E27FC236}">
                <a16:creationId xmlns:a16="http://schemas.microsoft.com/office/drawing/2014/main" id="{0194D39F-8136-9B82-A303-AEE0D7796DD0}"/>
              </a:ext>
            </a:extLst>
          </p:cNvPr>
          <p:cNvSpPr/>
          <p:nvPr/>
        </p:nvSpPr>
        <p:spPr>
          <a:xfrm>
            <a:off x="7685294" y="309067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group_action</a:t>
            </a:r>
            <a:endParaRPr lang="en-US" sz="750" dirty="0"/>
          </a:p>
        </p:txBody>
      </p:sp>
      <p:sp>
        <p:nvSpPr>
          <p:cNvPr id="866" name="Text 128">
            <a:extLst>
              <a:ext uri="{FF2B5EF4-FFF2-40B4-BE49-F238E27FC236}">
                <a16:creationId xmlns:a16="http://schemas.microsoft.com/office/drawing/2014/main" id="{F6C7E59A-5D3F-781B-0892-B3CB6F2B9CB8}"/>
              </a:ext>
            </a:extLst>
          </p:cNvPr>
          <p:cNvSpPr/>
          <p:nvPr/>
        </p:nvSpPr>
        <p:spPr>
          <a:xfrm>
            <a:off x="7392686" y="33467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04</a:t>
            </a:r>
            <a:endParaRPr lang="en-US" sz="850" dirty="0"/>
          </a:p>
        </p:txBody>
      </p:sp>
      <p:sp>
        <p:nvSpPr>
          <p:cNvPr id="867" name="Text 129">
            <a:extLst>
              <a:ext uri="{FF2B5EF4-FFF2-40B4-BE49-F238E27FC236}">
                <a16:creationId xmlns:a16="http://schemas.microsoft.com/office/drawing/2014/main" id="{49FB92B5-4658-2F07-277D-AD8A4F29E6BD}"/>
              </a:ext>
            </a:extLst>
          </p:cNvPr>
          <p:cNvSpPr/>
          <p:nvPr/>
        </p:nvSpPr>
        <p:spPr>
          <a:xfrm>
            <a:off x="7685294" y="332841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Coordination patterns are observable</a:t>
            </a:r>
            <a:endParaRPr lang="en-US" sz="800" dirty="0"/>
          </a:p>
        </p:txBody>
      </p:sp>
      <p:sp>
        <p:nvSpPr>
          <p:cNvPr id="868" name="Text 130">
            <a:extLst>
              <a:ext uri="{FF2B5EF4-FFF2-40B4-BE49-F238E27FC236}">
                <a16:creationId xmlns:a16="http://schemas.microsoft.com/office/drawing/2014/main" id="{E640D884-D3E6-AC28-0AAC-7321BD596D15}"/>
              </a:ext>
            </a:extLst>
          </p:cNvPr>
          <p:cNvSpPr/>
          <p:nvPr/>
        </p:nvSpPr>
        <p:spPr>
          <a:xfrm>
            <a:off x="7685294" y="354787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coordination_signal</a:t>
            </a:r>
            <a:endParaRPr lang="en-US" sz="750" dirty="0"/>
          </a:p>
        </p:txBody>
      </p:sp>
      <p:sp>
        <p:nvSpPr>
          <p:cNvPr id="869" name="Text 131">
            <a:extLst>
              <a:ext uri="{FF2B5EF4-FFF2-40B4-BE49-F238E27FC236}">
                <a16:creationId xmlns:a16="http://schemas.microsoft.com/office/drawing/2014/main" id="{2FD7B7C9-0687-7097-5270-B07DC782E73B}"/>
              </a:ext>
            </a:extLst>
          </p:cNvPr>
          <p:cNvSpPr/>
          <p:nvPr/>
        </p:nvSpPr>
        <p:spPr>
          <a:xfrm>
            <a:off x="7392686" y="38039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05</a:t>
            </a:r>
            <a:endParaRPr lang="en-US" sz="850" dirty="0"/>
          </a:p>
        </p:txBody>
      </p:sp>
      <p:sp>
        <p:nvSpPr>
          <p:cNvPr id="870" name="Text 132">
            <a:extLst>
              <a:ext uri="{FF2B5EF4-FFF2-40B4-BE49-F238E27FC236}">
                <a16:creationId xmlns:a16="http://schemas.microsoft.com/office/drawing/2014/main" id="{FFE9FD07-AE08-9A02-024D-0C5BCDDF3F73}"/>
              </a:ext>
            </a:extLst>
          </p:cNvPr>
          <p:cNvSpPr/>
          <p:nvPr/>
        </p:nvSpPr>
        <p:spPr>
          <a:xfrm>
            <a:off x="7685294" y="378561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New identities do not gain instant influence</a:t>
            </a:r>
            <a:endParaRPr lang="en-US" sz="800" dirty="0"/>
          </a:p>
        </p:txBody>
      </p:sp>
      <p:sp>
        <p:nvSpPr>
          <p:cNvPr id="871" name="Text 133">
            <a:extLst>
              <a:ext uri="{FF2B5EF4-FFF2-40B4-BE49-F238E27FC236}">
                <a16:creationId xmlns:a16="http://schemas.microsoft.com/office/drawing/2014/main" id="{282E2571-735B-5647-B92B-41C415881284}"/>
              </a:ext>
            </a:extLst>
          </p:cNvPr>
          <p:cNvSpPr/>
          <p:nvPr/>
        </p:nvSpPr>
        <p:spPr>
          <a:xfrm>
            <a:off x="7685294" y="400507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privilege_check</a:t>
            </a:r>
            <a:endParaRPr lang="en-US" sz="750" dirty="0"/>
          </a:p>
        </p:txBody>
      </p:sp>
      <p:sp>
        <p:nvSpPr>
          <p:cNvPr id="872" name="Text 134">
            <a:extLst>
              <a:ext uri="{FF2B5EF4-FFF2-40B4-BE49-F238E27FC236}">
                <a16:creationId xmlns:a16="http://schemas.microsoft.com/office/drawing/2014/main" id="{6C13DC32-BE66-94B5-FB11-DE4AF6D172B1}"/>
              </a:ext>
            </a:extLst>
          </p:cNvPr>
          <p:cNvSpPr/>
          <p:nvPr/>
        </p:nvSpPr>
        <p:spPr>
          <a:xfrm>
            <a:off x="7392686" y="42611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06</a:t>
            </a:r>
            <a:endParaRPr lang="en-US" sz="850" dirty="0"/>
          </a:p>
        </p:txBody>
      </p:sp>
      <p:sp>
        <p:nvSpPr>
          <p:cNvPr id="873" name="Text 135">
            <a:extLst>
              <a:ext uri="{FF2B5EF4-FFF2-40B4-BE49-F238E27FC236}">
                <a16:creationId xmlns:a16="http://schemas.microsoft.com/office/drawing/2014/main" id="{0A1A34C8-EF3E-DED9-53D6-7F3699359556}"/>
              </a:ext>
            </a:extLst>
          </p:cNvPr>
          <p:cNvSpPr/>
          <p:nvPr/>
        </p:nvSpPr>
        <p:spPr>
          <a:xfrm>
            <a:off x="7685294" y="424281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Reputation changes are attributable</a:t>
            </a:r>
            <a:endParaRPr lang="en-US" sz="800" dirty="0"/>
          </a:p>
        </p:txBody>
      </p:sp>
      <p:sp>
        <p:nvSpPr>
          <p:cNvPr id="874" name="Text 136">
            <a:extLst>
              <a:ext uri="{FF2B5EF4-FFF2-40B4-BE49-F238E27FC236}">
                <a16:creationId xmlns:a16="http://schemas.microsoft.com/office/drawing/2014/main" id="{67CF06B7-13C8-4803-1444-53B410D5C2D8}"/>
              </a:ext>
            </a:extLst>
          </p:cNvPr>
          <p:cNvSpPr/>
          <p:nvPr/>
        </p:nvSpPr>
        <p:spPr>
          <a:xfrm>
            <a:off x="7685294" y="446227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reputation_event</a:t>
            </a:r>
            <a:endParaRPr lang="en-US" sz="750" dirty="0"/>
          </a:p>
        </p:txBody>
      </p:sp>
      <p:sp>
        <p:nvSpPr>
          <p:cNvPr id="875" name="Text 137">
            <a:extLst>
              <a:ext uri="{FF2B5EF4-FFF2-40B4-BE49-F238E27FC236}">
                <a16:creationId xmlns:a16="http://schemas.microsoft.com/office/drawing/2014/main" id="{5B4D744C-A3AE-F073-A077-8D9143E9B15E}"/>
              </a:ext>
            </a:extLst>
          </p:cNvPr>
          <p:cNvSpPr/>
          <p:nvPr/>
        </p:nvSpPr>
        <p:spPr>
          <a:xfrm>
            <a:off x="7392686" y="47183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07</a:t>
            </a:r>
            <a:endParaRPr lang="en-US" sz="850" dirty="0"/>
          </a:p>
        </p:txBody>
      </p:sp>
      <p:sp>
        <p:nvSpPr>
          <p:cNvPr id="876" name="Text 138">
            <a:extLst>
              <a:ext uri="{FF2B5EF4-FFF2-40B4-BE49-F238E27FC236}">
                <a16:creationId xmlns:a16="http://schemas.microsoft.com/office/drawing/2014/main" id="{BE30196C-4CA6-C76C-1A90-B3CD13B78502}"/>
              </a:ext>
            </a:extLst>
          </p:cNvPr>
          <p:cNvSpPr/>
          <p:nvPr/>
        </p:nvSpPr>
        <p:spPr>
          <a:xfrm>
            <a:off x="7685294" y="470001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Social hierarchies resist abuse</a:t>
            </a:r>
            <a:endParaRPr lang="en-US" sz="800" dirty="0"/>
          </a:p>
        </p:txBody>
      </p:sp>
      <p:sp>
        <p:nvSpPr>
          <p:cNvPr id="877" name="Text 139">
            <a:extLst>
              <a:ext uri="{FF2B5EF4-FFF2-40B4-BE49-F238E27FC236}">
                <a16:creationId xmlns:a16="http://schemas.microsoft.com/office/drawing/2014/main" id="{3BE06D07-CB93-6C91-D80E-24F745734F50}"/>
              </a:ext>
            </a:extLst>
          </p:cNvPr>
          <p:cNvSpPr/>
          <p:nvPr/>
        </p:nvSpPr>
        <p:spPr>
          <a:xfrm>
            <a:off x="7685294" y="491947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role_action</a:t>
            </a:r>
            <a:endParaRPr lang="en-US" sz="750" dirty="0"/>
          </a:p>
        </p:txBody>
      </p:sp>
      <p:sp>
        <p:nvSpPr>
          <p:cNvPr id="878" name="Text 140">
            <a:extLst>
              <a:ext uri="{FF2B5EF4-FFF2-40B4-BE49-F238E27FC236}">
                <a16:creationId xmlns:a16="http://schemas.microsoft.com/office/drawing/2014/main" id="{9EEC98E2-C078-CAB3-AC9F-A0DCE1BEA752}"/>
              </a:ext>
            </a:extLst>
          </p:cNvPr>
          <p:cNvSpPr/>
          <p:nvPr/>
        </p:nvSpPr>
        <p:spPr>
          <a:xfrm>
            <a:off x="7392686" y="51755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08</a:t>
            </a:r>
            <a:endParaRPr lang="en-US" sz="850" dirty="0"/>
          </a:p>
        </p:txBody>
      </p:sp>
      <p:sp>
        <p:nvSpPr>
          <p:cNvPr id="879" name="Text 141">
            <a:extLst>
              <a:ext uri="{FF2B5EF4-FFF2-40B4-BE49-F238E27FC236}">
                <a16:creationId xmlns:a16="http://schemas.microsoft.com/office/drawing/2014/main" id="{C3C6A2ED-B152-2ED2-4252-DA59F2905029}"/>
              </a:ext>
            </a:extLst>
          </p:cNvPr>
          <p:cNvSpPr/>
          <p:nvPr/>
        </p:nvSpPr>
        <p:spPr>
          <a:xfrm>
            <a:off x="7685294" y="515721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Harassment is distinguishable from normal play</a:t>
            </a:r>
            <a:endParaRPr lang="en-US" sz="800" dirty="0"/>
          </a:p>
        </p:txBody>
      </p:sp>
      <p:sp>
        <p:nvSpPr>
          <p:cNvPr id="880" name="Text 142">
            <a:extLst>
              <a:ext uri="{FF2B5EF4-FFF2-40B4-BE49-F238E27FC236}">
                <a16:creationId xmlns:a16="http://schemas.microsoft.com/office/drawing/2014/main" id="{B733EBE2-79EB-D8C2-8F01-FBCFCB5F270A}"/>
              </a:ext>
            </a:extLst>
          </p:cNvPr>
          <p:cNvSpPr/>
          <p:nvPr/>
        </p:nvSpPr>
        <p:spPr>
          <a:xfrm>
            <a:off x="7685294" y="537667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interaction_pair_signal</a:t>
            </a:r>
            <a:endParaRPr lang="en-US" sz="750" dirty="0"/>
          </a:p>
        </p:txBody>
      </p:sp>
      <p:sp>
        <p:nvSpPr>
          <p:cNvPr id="881" name="Text 143">
            <a:extLst>
              <a:ext uri="{FF2B5EF4-FFF2-40B4-BE49-F238E27FC236}">
                <a16:creationId xmlns:a16="http://schemas.microsoft.com/office/drawing/2014/main" id="{75AE0338-7FA1-490D-639D-EF77DACC4C1A}"/>
              </a:ext>
            </a:extLst>
          </p:cNvPr>
          <p:cNvSpPr/>
          <p:nvPr/>
        </p:nvSpPr>
        <p:spPr>
          <a:xfrm>
            <a:off x="7392686" y="56327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09</a:t>
            </a:r>
            <a:endParaRPr lang="en-US" sz="850" dirty="0"/>
          </a:p>
        </p:txBody>
      </p:sp>
      <p:sp>
        <p:nvSpPr>
          <p:cNvPr id="882" name="Text 144">
            <a:extLst>
              <a:ext uri="{FF2B5EF4-FFF2-40B4-BE49-F238E27FC236}">
                <a16:creationId xmlns:a16="http://schemas.microsoft.com/office/drawing/2014/main" id="{E6EAF684-9EAA-11AA-FB90-F3A6578B1D73}"/>
              </a:ext>
            </a:extLst>
          </p:cNvPr>
          <p:cNvSpPr/>
          <p:nvPr/>
        </p:nvSpPr>
        <p:spPr>
          <a:xfrm>
            <a:off x="7685294" y="561441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Community actions are auditable</a:t>
            </a:r>
            <a:endParaRPr lang="en-US" sz="800" dirty="0"/>
          </a:p>
        </p:txBody>
      </p:sp>
      <p:sp>
        <p:nvSpPr>
          <p:cNvPr id="883" name="Text 145">
            <a:extLst>
              <a:ext uri="{FF2B5EF4-FFF2-40B4-BE49-F238E27FC236}">
                <a16:creationId xmlns:a16="http://schemas.microsoft.com/office/drawing/2014/main" id="{F6F212D7-36DA-BF72-AE2C-D92065335FCE}"/>
              </a:ext>
            </a:extLst>
          </p:cNvPr>
          <p:cNvSpPr/>
          <p:nvPr/>
        </p:nvSpPr>
        <p:spPr>
          <a:xfrm>
            <a:off x="7685294" y="583387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community_action_log</a:t>
            </a:r>
            <a:endParaRPr lang="en-US" sz="750" dirty="0"/>
          </a:p>
        </p:txBody>
      </p:sp>
      <p:sp>
        <p:nvSpPr>
          <p:cNvPr id="884" name="Text 146">
            <a:extLst>
              <a:ext uri="{FF2B5EF4-FFF2-40B4-BE49-F238E27FC236}">
                <a16:creationId xmlns:a16="http://schemas.microsoft.com/office/drawing/2014/main" id="{A6352CA9-F87E-1B9B-AD42-8725881142C0}"/>
              </a:ext>
            </a:extLst>
          </p:cNvPr>
          <p:cNvSpPr/>
          <p:nvPr/>
        </p:nvSpPr>
        <p:spPr>
          <a:xfrm>
            <a:off x="7392686" y="60899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10</a:t>
            </a:r>
            <a:endParaRPr lang="en-US" sz="850" dirty="0"/>
          </a:p>
        </p:txBody>
      </p:sp>
      <p:sp>
        <p:nvSpPr>
          <p:cNvPr id="885" name="Text 147">
            <a:extLst>
              <a:ext uri="{FF2B5EF4-FFF2-40B4-BE49-F238E27FC236}">
                <a16:creationId xmlns:a16="http://schemas.microsoft.com/office/drawing/2014/main" id="{75F9D511-5354-5EBA-A0D3-19B6277DB237}"/>
              </a:ext>
            </a:extLst>
          </p:cNvPr>
          <p:cNvSpPr/>
          <p:nvPr/>
        </p:nvSpPr>
        <p:spPr>
          <a:xfrm>
            <a:off x="7685294" y="607161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Social enforcement is visible</a:t>
            </a:r>
            <a:endParaRPr lang="en-US" sz="800" dirty="0"/>
          </a:p>
        </p:txBody>
      </p:sp>
      <p:sp>
        <p:nvSpPr>
          <p:cNvPr id="886" name="Text 148">
            <a:extLst>
              <a:ext uri="{FF2B5EF4-FFF2-40B4-BE49-F238E27FC236}">
                <a16:creationId xmlns:a16="http://schemas.microsoft.com/office/drawing/2014/main" id="{BDD58372-7AF2-2E68-1504-057F36B4888E}"/>
              </a:ext>
            </a:extLst>
          </p:cNvPr>
          <p:cNvSpPr/>
          <p:nvPr/>
        </p:nvSpPr>
        <p:spPr>
          <a:xfrm>
            <a:off x="7685294" y="629107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enforcement_visible</a:t>
            </a:r>
            <a:endParaRPr lang="en-US" sz="750" dirty="0"/>
          </a:p>
        </p:txBody>
      </p:sp>
      <p:sp>
        <p:nvSpPr>
          <p:cNvPr id="887" name="Shape 149">
            <a:extLst>
              <a:ext uri="{FF2B5EF4-FFF2-40B4-BE49-F238E27FC236}">
                <a16:creationId xmlns:a16="http://schemas.microsoft.com/office/drawing/2014/main" id="{407D357D-2284-017A-B8DD-CFCC3051E34B}"/>
              </a:ext>
            </a:extLst>
          </p:cNvPr>
          <p:cNvSpPr/>
          <p:nvPr/>
        </p:nvSpPr>
        <p:spPr>
          <a:xfrm>
            <a:off x="9704213" y="1394460"/>
            <a:ext cx="2414016" cy="5463540"/>
          </a:xfrm>
          <a:prstGeom prst="rect">
            <a:avLst/>
          </a:prstGeom>
          <a:solidFill>
            <a:srgbClr val="121C2E"/>
          </a:solidFill>
          <a:ln w="12700">
            <a:solidFill>
              <a:srgbClr val="121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9" name="Text 151">
            <a:extLst>
              <a:ext uri="{FF2B5EF4-FFF2-40B4-BE49-F238E27FC236}">
                <a16:creationId xmlns:a16="http://schemas.microsoft.com/office/drawing/2014/main" id="{7F0EDF2A-B39B-8E12-C947-78ABFCF69D1F}"/>
              </a:ext>
            </a:extLst>
          </p:cNvPr>
          <p:cNvSpPr/>
          <p:nvPr/>
        </p:nvSpPr>
        <p:spPr>
          <a:xfrm>
            <a:off x="11373374" y="132130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20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T</a:t>
            </a:r>
            <a:endParaRPr lang="en-US" sz="4200" dirty="0"/>
          </a:p>
        </p:txBody>
      </p:sp>
      <p:sp>
        <p:nvSpPr>
          <p:cNvPr id="890" name="Text 152">
            <a:extLst>
              <a:ext uri="{FF2B5EF4-FFF2-40B4-BE49-F238E27FC236}">
                <a16:creationId xmlns:a16="http://schemas.microsoft.com/office/drawing/2014/main" id="{5D29E99D-6DC7-F7D5-4F66-43F1EB1CDAF1}"/>
              </a:ext>
            </a:extLst>
          </p:cNvPr>
          <p:cNvSpPr/>
          <p:nvPr/>
        </p:nvSpPr>
        <p:spPr>
          <a:xfrm>
            <a:off x="9795653" y="1394460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ECONOMY</a:t>
            </a:r>
            <a:endParaRPr lang="en-US" sz="1100" dirty="0"/>
          </a:p>
        </p:txBody>
      </p:sp>
      <p:sp>
        <p:nvSpPr>
          <p:cNvPr id="891" name="Text 153">
            <a:extLst>
              <a:ext uri="{FF2B5EF4-FFF2-40B4-BE49-F238E27FC236}">
                <a16:creationId xmlns:a16="http://schemas.microsoft.com/office/drawing/2014/main" id="{20BE98DB-49C8-9F3C-BAE8-6669A801AADF}"/>
              </a:ext>
            </a:extLst>
          </p:cNvPr>
          <p:cNvSpPr/>
          <p:nvPr/>
        </p:nvSpPr>
        <p:spPr>
          <a:xfrm>
            <a:off x="9795653" y="1641348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Value Integrity</a:t>
            </a:r>
            <a:endParaRPr lang="en-US" sz="850" dirty="0"/>
          </a:p>
        </p:txBody>
      </p:sp>
      <p:sp>
        <p:nvSpPr>
          <p:cNvPr id="892" name="Shape 154">
            <a:extLst>
              <a:ext uri="{FF2B5EF4-FFF2-40B4-BE49-F238E27FC236}">
                <a16:creationId xmlns:a16="http://schemas.microsoft.com/office/drawing/2014/main" id="{7A56DBD6-FE6F-ABD3-24D5-F7EB5627F764}"/>
              </a:ext>
            </a:extLst>
          </p:cNvPr>
          <p:cNvSpPr/>
          <p:nvPr/>
        </p:nvSpPr>
        <p:spPr>
          <a:xfrm>
            <a:off x="9795653" y="1883664"/>
            <a:ext cx="2231136" cy="10973"/>
          </a:xfrm>
          <a:prstGeom prst="rect">
            <a:avLst/>
          </a:prstGeom>
          <a:solidFill>
            <a:srgbClr val="243049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3" name="Text 155">
            <a:extLst>
              <a:ext uri="{FF2B5EF4-FFF2-40B4-BE49-F238E27FC236}">
                <a16:creationId xmlns:a16="http://schemas.microsoft.com/office/drawing/2014/main" id="{5176C74F-C8C5-32F1-EABE-5F5764E088AA}"/>
              </a:ext>
            </a:extLst>
          </p:cNvPr>
          <p:cNvSpPr/>
          <p:nvPr/>
        </p:nvSpPr>
        <p:spPr>
          <a:xfrm>
            <a:off x="9795653" y="19751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01</a:t>
            </a:r>
            <a:endParaRPr lang="en-US" sz="850" dirty="0"/>
          </a:p>
        </p:txBody>
      </p:sp>
      <p:sp>
        <p:nvSpPr>
          <p:cNvPr id="894" name="Text 156">
            <a:extLst>
              <a:ext uri="{FF2B5EF4-FFF2-40B4-BE49-F238E27FC236}">
                <a16:creationId xmlns:a16="http://schemas.microsoft.com/office/drawing/2014/main" id="{0C27EA5C-899A-4A50-B120-FC1335B787F1}"/>
              </a:ext>
            </a:extLst>
          </p:cNvPr>
          <p:cNvSpPr/>
          <p:nvPr/>
        </p:nvSpPr>
        <p:spPr>
          <a:xfrm>
            <a:off x="10088261" y="195681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Value cannot be duplicated</a:t>
            </a:r>
            <a:endParaRPr lang="en-US" sz="800" dirty="0"/>
          </a:p>
        </p:txBody>
      </p:sp>
      <p:sp>
        <p:nvSpPr>
          <p:cNvPr id="895" name="Text 157">
            <a:extLst>
              <a:ext uri="{FF2B5EF4-FFF2-40B4-BE49-F238E27FC236}">
                <a16:creationId xmlns:a16="http://schemas.microsoft.com/office/drawing/2014/main" id="{8B5B235A-21A9-FC5D-9DA1-C964A29A72C9}"/>
              </a:ext>
            </a:extLst>
          </p:cNvPr>
          <p:cNvSpPr/>
          <p:nvPr/>
        </p:nvSpPr>
        <p:spPr>
          <a:xfrm>
            <a:off x="10088261" y="217627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value_transfer</a:t>
            </a:r>
            <a:endParaRPr lang="en-US" sz="750" dirty="0"/>
          </a:p>
        </p:txBody>
      </p:sp>
      <p:sp>
        <p:nvSpPr>
          <p:cNvPr id="896" name="Text 158">
            <a:extLst>
              <a:ext uri="{FF2B5EF4-FFF2-40B4-BE49-F238E27FC236}">
                <a16:creationId xmlns:a16="http://schemas.microsoft.com/office/drawing/2014/main" id="{85ED57D1-CBE6-D338-29C3-29B3C52627D6}"/>
              </a:ext>
            </a:extLst>
          </p:cNvPr>
          <p:cNvSpPr/>
          <p:nvPr/>
        </p:nvSpPr>
        <p:spPr>
          <a:xfrm>
            <a:off x="9795653" y="24323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02</a:t>
            </a:r>
            <a:endParaRPr lang="en-US" sz="850" dirty="0"/>
          </a:p>
        </p:txBody>
      </p:sp>
      <p:sp>
        <p:nvSpPr>
          <p:cNvPr id="897" name="Text 159">
            <a:extLst>
              <a:ext uri="{FF2B5EF4-FFF2-40B4-BE49-F238E27FC236}">
                <a16:creationId xmlns:a16="http://schemas.microsoft.com/office/drawing/2014/main" id="{9266A39B-1F2A-370B-4166-3B78265095D0}"/>
              </a:ext>
            </a:extLst>
          </p:cNvPr>
          <p:cNvSpPr/>
          <p:nvPr/>
        </p:nvSpPr>
        <p:spPr>
          <a:xfrm>
            <a:off x="10088261" y="241401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Economic state has a single source of truth</a:t>
            </a:r>
            <a:endParaRPr lang="en-US" sz="800" dirty="0"/>
          </a:p>
        </p:txBody>
      </p:sp>
      <p:sp>
        <p:nvSpPr>
          <p:cNvPr id="898" name="Text 160">
            <a:extLst>
              <a:ext uri="{FF2B5EF4-FFF2-40B4-BE49-F238E27FC236}">
                <a16:creationId xmlns:a16="http://schemas.microsoft.com/office/drawing/2014/main" id="{3F659D6B-DC33-EF19-4C6C-7D3794F3380F}"/>
              </a:ext>
            </a:extLst>
          </p:cNvPr>
          <p:cNvSpPr/>
          <p:nvPr/>
        </p:nvSpPr>
        <p:spPr>
          <a:xfrm>
            <a:off x="10088261" y="263347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balance_snapshot</a:t>
            </a:r>
            <a:endParaRPr lang="en-US" sz="750" dirty="0"/>
          </a:p>
        </p:txBody>
      </p:sp>
      <p:sp>
        <p:nvSpPr>
          <p:cNvPr id="899" name="Text 161">
            <a:extLst>
              <a:ext uri="{FF2B5EF4-FFF2-40B4-BE49-F238E27FC236}">
                <a16:creationId xmlns:a16="http://schemas.microsoft.com/office/drawing/2014/main" id="{FEF533A0-611B-8D09-41E2-52CC8ED5B5BD}"/>
              </a:ext>
            </a:extLst>
          </p:cNvPr>
          <p:cNvSpPr/>
          <p:nvPr/>
        </p:nvSpPr>
        <p:spPr>
          <a:xfrm>
            <a:off x="9795653" y="28895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03</a:t>
            </a:r>
            <a:endParaRPr lang="en-US" sz="850" dirty="0"/>
          </a:p>
        </p:txBody>
      </p:sp>
      <p:sp>
        <p:nvSpPr>
          <p:cNvPr id="900" name="Text 162">
            <a:extLst>
              <a:ext uri="{FF2B5EF4-FFF2-40B4-BE49-F238E27FC236}">
                <a16:creationId xmlns:a16="http://schemas.microsoft.com/office/drawing/2014/main" id="{571F3D03-18F1-CF7C-C1B2-C15C85EEC5F9}"/>
              </a:ext>
            </a:extLst>
          </p:cNvPr>
          <p:cNvSpPr/>
          <p:nvPr/>
        </p:nvSpPr>
        <p:spPr>
          <a:xfrm>
            <a:off x="10088261" y="287121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Transfers are atomic and consistent</a:t>
            </a:r>
            <a:endParaRPr lang="en-US" sz="800" dirty="0"/>
          </a:p>
        </p:txBody>
      </p:sp>
      <p:sp>
        <p:nvSpPr>
          <p:cNvPr id="901" name="Text 163">
            <a:extLst>
              <a:ext uri="{FF2B5EF4-FFF2-40B4-BE49-F238E27FC236}">
                <a16:creationId xmlns:a16="http://schemas.microsoft.com/office/drawing/2014/main" id="{87BC2C95-E027-6493-C556-31523E045F75}"/>
              </a:ext>
            </a:extLst>
          </p:cNvPr>
          <p:cNvSpPr/>
          <p:nvPr/>
        </p:nvSpPr>
        <p:spPr>
          <a:xfrm>
            <a:off x="10088261" y="309067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transfer_outcome</a:t>
            </a:r>
            <a:endParaRPr lang="en-US" sz="750" dirty="0"/>
          </a:p>
        </p:txBody>
      </p:sp>
      <p:sp>
        <p:nvSpPr>
          <p:cNvPr id="902" name="Text 164">
            <a:extLst>
              <a:ext uri="{FF2B5EF4-FFF2-40B4-BE49-F238E27FC236}">
                <a16:creationId xmlns:a16="http://schemas.microsoft.com/office/drawing/2014/main" id="{95803636-BB7B-565A-7656-71D4BEDFD966}"/>
              </a:ext>
            </a:extLst>
          </p:cNvPr>
          <p:cNvSpPr/>
          <p:nvPr/>
        </p:nvSpPr>
        <p:spPr>
          <a:xfrm>
            <a:off x="9795653" y="33467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04</a:t>
            </a:r>
            <a:endParaRPr lang="en-US" sz="850" dirty="0"/>
          </a:p>
        </p:txBody>
      </p:sp>
      <p:sp>
        <p:nvSpPr>
          <p:cNvPr id="903" name="Text 165">
            <a:extLst>
              <a:ext uri="{FF2B5EF4-FFF2-40B4-BE49-F238E27FC236}">
                <a16:creationId xmlns:a16="http://schemas.microsoft.com/office/drawing/2014/main" id="{471285AE-1116-65F6-AC99-B08A9CDD3B10}"/>
              </a:ext>
            </a:extLst>
          </p:cNvPr>
          <p:cNvSpPr/>
          <p:nvPr/>
        </p:nvSpPr>
        <p:spPr>
          <a:xfrm>
            <a:off x="10088261" y="332841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Trades cannot be replayed</a:t>
            </a:r>
            <a:endParaRPr lang="en-US" sz="800" dirty="0"/>
          </a:p>
        </p:txBody>
      </p:sp>
      <p:sp>
        <p:nvSpPr>
          <p:cNvPr id="904" name="Text 166">
            <a:extLst>
              <a:ext uri="{FF2B5EF4-FFF2-40B4-BE49-F238E27FC236}">
                <a16:creationId xmlns:a16="http://schemas.microsoft.com/office/drawing/2014/main" id="{EFDB6236-50C7-3C14-BF82-4F31C8641F46}"/>
              </a:ext>
            </a:extLst>
          </p:cNvPr>
          <p:cNvSpPr/>
          <p:nvPr/>
        </p:nvSpPr>
        <p:spPr>
          <a:xfrm>
            <a:off x="10088261" y="354787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trade_submission</a:t>
            </a:r>
            <a:endParaRPr lang="en-US" sz="750" dirty="0"/>
          </a:p>
        </p:txBody>
      </p:sp>
      <p:sp>
        <p:nvSpPr>
          <p:cNvPr id="905" name="Text 167">
            <a:extLst>
              <a:ext uri="{FF2B5EF4-FFF2-40B4-BE49-F238E27FC236}">
                <a16:creationId xmlns:a16="http://schemas.microsoft.com/office/drawing/2014/main" id="{D8198C7C-2C0B-9C31-C411-5487C74718BF}"/>
              </a:ext>
            </a:extLst>
          </p:cNvPr>
          <p:cNvSpPr/>
          <p:nvPr/>
        </p:nvSpPr>
        <p:spPr>
          <a:xfrm>
            <a:off x="9795653" y="38039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05</a:t>
            </a:r>
            <a:endParaRPr lang="en-US" sz="850" dirty="0"/>
          </a:p>
        </p:txBody>
      </p:sp>
      <p:sp>
        <p:nvSpPr>
          <p:cNvPr id="906" name="Text 168">
            <a:extLst>
              <a:ext uri="{FF2B5EF4-FFF2-40B4-BE49-F238E27FC236}">
                <a16:creationId xmlns:a16="http://schemas.microsoft.com/office/drawing/2014/main" id="{6338D28E-0EE7-BCBF-6A52-3C39E2B97432}"/>
              </a:ext>
            </a:extLst>
          </p:cNvPr>
          <p:cNvSpPr/>
          <p:nvPr/>
        </p:nvSpPr>
        <p:spPr>
          <a:xfrm>
            <a:off x="10088261" y="378561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Economic actions are attributable</a:t>
            </a:r>
            <a:endParaRPr lang="en-US" sz="800" dirty="0"/>
          </a:p>
        </p:txBody>
      </p:sp>
      <p:sp>
        <p:nvSpPr>
          <p:cNvPr id="907" name="Text 169">
            <a:extLst>
              <a:ext uri="{FF2B5EF4-FFF2-40B4-BE49-F238E27FC236}">
                <a16:creationId xmlns:a16="http://schemas.microsoft.com/office/drawing/2014/main" id="{F3491BA6-A3FB-BBC1-665E-8C5C06E2B91B}"/>
              </a:ext>
            </a:extLst>
          </p:cNvPr>
          <p:cNvSpPr/>
          <p:nvPr/>
        </p:nvSpPr>
        <p:spPr>
          <a:xfrm>
            <a:off x="10088261" y="400507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economic_action_log</a:t>
            </a:r>
            <a:endParaRPr lang="en-US" sz="750" dirty="0"/>
          </a:p>
        </p:txBody>
      </p:sp>
      <p:sp>
        <p:nvSpPr>
          <p:cNvPr id="908" name="Text 170">
            <a:extLst>
              <a:ext uri="{FF2B5EF4-FFF2-40B4-BE49-F238E27FC236}">
                <a16:creationId xmlns:a16="http://schemas.microsoft.com/office/drawing/2014/main" id="{A63A6EA6-3035-3ED5-4621-840D8F5C2022}"/>
              </a:ext>
            </a:extLst>
          </p:cNvPr>
          <p:cNvSpPr/>
          <p:nvPr/>
        </p:nvSpPr>
        <p:spPr>
          <a:xfrm>
            <a:off x="9795653" y="42611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06</a:t>
            </a:r>
            <a:endParaRPr lang="en-US" sz="850" dirty="0"/>
          </a:p>
        </p:txBody>
      </p:sp>
      <p:sp>
        <p:nvSpPr>
          <p:cNvPr id="909" name="Text 171">
            <a:extLst>
              <a:ext uri="{FF2B5EF4-FFF2-40B4-BE49-F238E27FC236}">
                <a16:creationId xmlns:a16="http://schemas.microsoft.com/office/drawing/2014/main" id="{97769524-B2EF-8E22-C0E5-AC30B7254951}"/>
              </a:ext>
            </a:extLst>
          </p:cNvPr>
          <p:cNvSpPr/>
          <p:nvPr/>
        </p:nvSpPr>
        <p:spPr>
          <a:xfrm>
            <a:off x="10088261" y="424281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Market manipulation is detectable</a:t>
            </a:r>
            <a:endParaRPr lang="en-US" sz="800" dirty="0"/>
          </a:p>
        </p:txBody>
      </p:sp>
      <p:sp>
        <p:nvSpPr>
          <p:cNvPr id="910" name="Text 172">
            <a:extLst>
              <a:ext uri="{FF2B5EF4-FFF2-40B4-BE49-F238E27FC236}">
                <a16:creationId xmlns:a16="http://schemas.microsoft.com/office/drawing/2014/main" id="{4A281C0F-5F66-0D40-532F-AD2025393F3D}"/>
              </a:ext>
            </a:extLst>
          </p:cNvPr>
          <p:cNvSpPr/>
          <p:nvPr/>
        </p:nvSpPr>
        <p:spPr>
          <a:xfrm>
            <a:off x="10088261" y="446227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market_pattern_signal</a:t>
            </a:r>
            <a:endParaRPr lang="en-US" sz="750" dirty="0"/>
          </a:p>
        </p:txBody>
      </p:sp>
      <p:sp>
        <p:nvSpPr>
          <p:cNvPr id="911" name="Text 173">
            <a:extLst>
              <a:ext uri="{FF2B5EF4-FFF2-40B4-BE49-F238E27FC236}">
                <a16:creationId xmlns:a16="http://schemas.microsoft.com/office/drawing/2014/main" id="{EC4CEF80-DED6-50DE-21C7-C67A589149FE}"/>
              </a:ext>
            </a:extLst>
          </p:cNvPr>
          <p:cNvSpPr/>
          <p:nvPr/>
        </p:nvSpPr>
        <p:spPr>
          <a:xfrm>
            <a:off x="9795653" y="47183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07</a:t>
            </a:r>
            <a:endParaRPr lang="en-US" sz="850" dirty="0"/>
          </a:p>
        </p:txBody>
      </p:sp>
      <p:sp>
        <p:nvSpPr>
          <p:cNvPr id="912" name="Text 174">
            <a:extLst>
              <a:ext uri="{FF2B5EF4-FFF2-40B4-BE49-F238E27FC236}">
                <a16:creationId xmlns:a16="http://schemas.microsoft.com/office/drawing/2014/main" id="{115385D5-637C-3293-52EE-8585F2027DD7}"/>
              </a:ext>
            </a:extLst>
          </p:cNvPr>
          <p:cNvSpPr/>
          <p:nvPr/>
        </p:nvSpPr>
        <p:spPr>
          <a:xfrm>
            <a:off x="10088261" y="470001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Collusive behavior leaves observable signals</a:t>
            </a:r>
            <a:endParaRPr lang="en-US" sz="800" dirty="0"/>
          </a:p>
        </p:txBody>
      </p:sp>
      <p:sp>
        <p:nvSpPr>
          <p:cNvPr id="913" name="Text 175">
            <a:extLst>
              <a:ext uri="{FF2B5EF4-FFF2-40B4-BE49-F238E27FC236}">
                <a16:creationId xmlns:a16="http://schemas.microsoft.com/office/drawing/2014/main" id="{F26AE0BD-9F7C-715B-E7E9-48F5AA731F39}"/>
              </a:ext>
            </a:extLst>
          </p:cNvPr>
          <p:cNvSpPr/>
          <p:nvPr/>
        </p:nvSpPr>
        <p:spPr>
          <a:xfrm>
            <a:off x="10088261" y="491947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match_outcome_correlation</a:t>
            </a:r>
            <a:endParaRPr lang="en-US" sz="750" dirty="0"/>
          </a:p>
        </p:txBody>
      </p:sp>
      <p:sp>
        <p:nvSpPr>
          <p:cNvPr id="914" name="Text 176">
            <a:extLst>
              <a:ext uri="{FF2B5EF4-FFF2-40B4-BE49-F238E27FC236}">
                <a16:creationId xmlns:a16="http://schemas.microsoft.com/office/drawing/2014/main" id="{B29F1C97-11E7-00A7-9BAE-84A4B20DA028}"/>
              </a:ext>
            </a:extLst>
          </p:cNvPr>
          <p:cNvSpPr/>
          <p:nvPr/>
        </p:nvSpPr>
        <p:spPr>
          <a:xfrm>
            <a:off x="9795653" y="51755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08</a:t>
            </a:r>
            <a:endParaRPr lang="en-US" sz="850" dirty="0"/>
          </a:p>
        </p:txBody>
      </p:sp>
      <p:sp>
        <p:nvSpPr>
          <p:cNvPr id="915" name="Text 177">
            <a:extLst>
              <a:ext uri="{FF2B5EF4-FFF2-40B4-BE49-F238E27FC236}">
                <a16:creationId xmlns:a16="http://schemas.microsoft.com/office/drawing/2014/main" id="{5E3A333F-E739-2F0F-9DA8-CAE6BBCDB74E}"/>
              </a:ext>
            </a:extLst>
          </p:cNvPr>
          <p:cNvSpPr/>
          <p:nvPr/>
        </p:nvSpPr>
        <p:spPr>
          <a:xfrm>
            <a:off x="10088261" y="515721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High-value operations are logged</a:t>
            </a:r>
            <a:endParaRPr lang="en-US" sz="800" dirty="0"/>
          </a:p>
        </p:txBody>
      </p:sp>
      <p:sp>
        <p:nvSpPr>
          <p:cNvPr id="916" name="Text 178">
            <a:extLst>
              <a:ext uri="{FF2B5EF4-FFF2-40B4-BE49-F238E27FC236}">
                <a16:creationId xmlns:a16="http://schemas.microsoft.com/office/drawing/2014/main" id="{DDEC2F11-8343-28B8-8542-C3A9E8B7E17A}"/>
              </a:ext>
            </a:extLst>
          </p:cNvPr>
          <p:cNvSpPr/>
          <p:nvPr/>
        </p:nvSpPr>
        <p:spPr>
          <a:xfrm>
            <a:off x="10088261" y="537667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high_value_action</a:t>
            </a:r>
            <a:endParaRPr lang="en-US" sz="750" dirty="0"/>
          </a:p>
        </p:txBody>
      </p:sp>
      <p:sp>
        <p:nvSpPr>
          <p:cNvPr id="917" name="Text 179">
            <a:extLst>
              <a:ext uri="{FF2B5EF4-FFF2-40B4-BE49-F238E27FC236}">
                <a16:creationId xmlns:a16="http://schemas.microsoft.com/office/drawing/2014/main" id="{23086BCB-01FC-50ED-8FB8-CA6A2477593B}"/>
              </a:ext>
            </a:extLst>
          </p:cNvPr>
          <p:cNvSpPr/>
          <p:nvPr/>
        </p:nvSpPr>
        <p:spPr>
          <a:xfrm>
            <a:off x="9795653" y="56327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09</a:t>
            </a:r>
            <a:endParaRPr lang="en-US" sz="850" dirty="0"/>
          </a:p>
        </p:txBody>
      </p:sp>
      <p:sp>
        <p:nvSpPr>
          <p:cNvPr id="918" name="Text 180">
            <a:extLst>
              <a:ext uri="{FF2B5EF4-FFF2-40B4-BE49-F238E27FC236}">
                <a16:creationId xmlns:a16="http://schemas.microsoft.com/office/drawing/2014/main" id="{9D5E4AA9-D6DE-5E60-2B90-C3242C8DD7DD}"/>
              </a:ext>
            </a:extLst>
          </p:cNvPr>
          <p:cNvSpPr/>
          <p:nvPr/>
        </p:nvSpPr>
        <p:spPr>
          <a:xfrm>
            <a:off x="10088261" y="561441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Rollbacks and reversals are auditable</a:t>
            </a:r>
            <a:endParaRPr lang="en-US" sz="800" dirty="0"/>
          </a:p>
        </p:txBody>
      </p:sp>
      <p:sp>
        <p:nvSpPr>
          <p:cNvPr id="919" name="Text 181">
            <a:extLst>
              <a:ext uri="{FF2B5EF4-FFF2-40B4-BE49-F238E27FC236}">
                <a16:creationId xmlns:a16="http://schemas.microsoft.com/office/drawing/2014/main" id="{4535EDA4-2668-978D-4A6C-4A2C918C4B45}"/>
              </a:ext>
            </a:extLst>
          </p:cNvPr>
          <p:cNvSpPr/>
          <p:nvPr/>
        </p:nvSpPr>
        <p:spPr>
          <a:xfrm>
            <a:off x="10088261" y="583387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reversal_event</a:t>
            </a:r>
            <a:endParaRPr lang="en-US" sz="750" dirty="0"/>
          </a:p>
        </p:txBody>
      </p:sp>
      <p:sp>
        <p:nvSpPr>
          <p:cNvPr id="920" name="Text 182">
            <a:extLst>
              <a:ext uri="{FF2B5EF4-FFF2-40B4-BE49-F238E27FC236}">
                <a16:creationId xmlns:a16="http://schemas.microsoft.com/office/drawing/2014/main" id="{7C24F6C2-89EB-D288-D381-FA74615F38B3}"/>
              </a:ext>
            </a:extLst>
          </p:cNvPr>
          <p:cNvSpPr/>
          <p:nvPr/>
        </p:nvSpPr>
        <p:spPr>
          <a:xfrm>
            <a:off x="9795653" y="608990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10</a:t>
            </a:r>
            <a:endParaRPr lang="en-US" sz="850" dirty="0"/>
          </a:p>
        </p:txBody>
      </p:sp>
      <p:sp>
        <p:nvSpPr>
          <p:cNvPr id="921" name="Text 183">
            <a:extLst>
              <a:ext uri="{FF2B5EF4-FFF2-40B4-BE49-F238E27FC236}">
                <a16:creationId xmlns:a16="http://schemas.microsoft.com/office/drawing/2014/main" id="{18F08C8B-AE09-6BE0-2330-AE710FBF1237}"/>
              </a:ext>
            </a:extLst>
          </p:cNvPr>
          <p:cNvSpPr/>
          <p:nvPr/>
        </p:nvSpPr>
        <p:spPr>
          <a:xfrm>
            <a:off x="10088261" y="607161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Economy-wide anomalies are detectable</a:t>
            </a:r>
            <a:endParaRPr lang="en-US" sz="800" dirty="0"/>
          </a:p>
        </p:txBody>
      </p:sp>
      <p:sp>
        <p:nvSpPr>
          <p:cNvPr id="922" name="Text 184">
            <a:extLst>
              <a:ext uri="{FF2B5EF4-FFF2-40B4-BE49-F238E27FC236}">
                <a16:creationId xmlns:a16="http://schemas.microsoft.com/office/drawing/2014/main" id="{966B2381-C6C9-FA68-7395-6A90A68FB42C}"/>
              </a:ext>
            </a:extLst>
          </p:cNvPr>
          <p:cNvSpPr/>
          <p:nvPr/>
        </p:nvSpPr>
        <p:spPr>
          <a:xfrm>
            <a:off x="10088261" y="6291072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economy_health_sample</a:t>
            </a:r>
            <a:endParaRPr lang="en-US" sz="750" dirty="0"/>
          </a:p>
        </p:txBody>
      </p:sp>
      <p:sp>
        <p:nvSpPr>
          <p:cNvPr id="923" name="Text 185">
            <a:extLst>
              <a:ext uri="{FF2B5EF4-FFF2-40B4-BE49-F238E27FC236}">
                <a16:creationId xmlns:a16="http://schemas.microsoft.com/office/drawing/2014/main" id="{6A3FF9E0-6ADC-4CE2-11B8-2D8D286E3DFF}"/>
              </a:ext>
            </a:extLst>
          </p:cNvPr>
          <p:cNvSpPr/>
          <p:nvPr/>
        </p:nvSpPr>
        <p:spPr>
          <a:xfrm>
            <a:off x="55345" y="6636620"/>
            <a:ext cx="1207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>
                <a:solidFill>
                  <a:srgbClr val="D0D0D8"/>
                </a:solidFill>
                <a:latin typeface="Overpass" pitchFamily="34" charset="0"/>
              </a:rPr>
              <a:t>Each invariant anchors a telemetry event. Threats bind to filters on those events. Activation status records whether the telemetry is present, latent, collapsed into another signal, or N/A.</a:t>
            </a:r>
          </a:p>
        </p:txBody>
      </p:sp>
      <p:sp>
        <p:nvSpPr>
          <p:cNvPr id="926" name="Shape 6">
            <a:extLst>
              <a:ext uri="{FF2B5EF4-FFF2-40B4-BE49-F238E27FC236}">
                <a16:creationId xmlns:a16="http://schemas.microsoft.com/office/drawing/2014/main" id="{FC3F3EA1-CBE9-5E60-B5BB-3A5E5B911F7C}"/>
              </a:ext>
            </a:extLst>
          </p:cNvPr>
          <p:cNvSpPr/>
          <p:nvPr/>
        </p:nvSpPr>
        <p:spPr>
          <a:xfrm>
            <a:off x="2448096" y="1370110"/>
            <a:ext cx="41564" cy="5160991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7" name="Shape 6">
            <a:extLst>
              <a:ext uri="{FF2B5EF4-FFF2-40B4-BE49-F238E27FC236}">
                <a16:creationId xmlns:a16="http://schemas.microsoft.com/office/drawing/2014/main" id="{7C5DB808-D675-38CF-5A8B-D42745005157}"/>
              </a:ext>
            </a:extLst>
          </p:cNvPr>
          <p:cNvSpPr/>
          <p:nvPr/>
        </p:nvSpPr>
        <p:spPr>
          <a:xfrm>
            <a:off x="4884647" y="1323992"/>
            <a:ext cx="41564" cy="5160991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8" name="Shape 6">
            <a:extLst>
              <a:ext uri="{FF2B5EF4-FFF2-40B4-BE49-F238E27FC236}">
                <a16:creationId xmlns:a16="http://schemas.microsoft.com/office/drawing/2014/main" id="{0C3D83E5-3401-F5E9-0FCE-760D17E85E89}"/>
              </a:ext>
            </a:extLst>
          </p:cNvPr>
          <p:cNvSpPr/>
          <p:nvPr/>
        </p:nvSpPr>
        <p:spPr>
          <a:xfrm>
            <a:off x="7285590" y="1382010"/>
            <a:ext cx="41564" cy="5160991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9" name="Shape 6">
            <a:extLst>
              <a:ext uri="{FF2B5EF4-FFF2-40B4-BE49-F238E27FC236}">
                <a16:creationId xmlns:a16="http://schemas.microsoft.com/office/drawing/2014/main" id="{F3258BAD-FBC2-F88B-6FA8-1539D6FEC4B1}"/>
              </a:ext>
            </a:extLst>
          </p:cNvPr>
          <p:cNvSpPr/>
          <p:nvPr/>
        </p:nvSpPr>
        <p:spPr>
          <a:xfrm>
            <a:off x="9704559" y="1382010"/>
            <a:ext cx="41564" cy="5160991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935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>
          <a:extLst>
            <a:ext uri="{FF2B5EF4-FFF2-40B4-BE49-F238E27FC236}">
              <a16:creationId xmlns:a16="http://schemas.microsoft.com/office/drawing/2014/main" id="{2168843D-330B-36DD-7AF5-C9B9B916D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7">
            <a:extLst>
              <a:ext uri="{FF2B5EF4-FFF2-40B4-BE49-F238E27FC236}">
                <a16:creationId xmlns:a16="http://schemas.microsoft.com/office/drawing/2014/main" id="{374C7CCA-2613-A7E3-5DB4-98877A11C42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71399" y="590500"/>
            <a:ext cx="10176705" cy="304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The same fifty, organized two ways</a:t>
            </a:r>
            <a:endParaRPr sz="32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9661C12A-C860-52F8-3FA6-3E65BECE144E}"/>
              </a:ext>
            </a:extLst>
          </p:cNvPr>
          <p:cNvSpPr/>
          <p:nvPr/>
        </p:nvSpPr>
        <p:spPr>
          <a:xfrm>
            <a:off x="411480" y="221006"/>
            <a:ext cx="10036624" cy="30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G.H.O.S.T  |  ORGANIZING THE INVARIANTS TO DOMAINS &amp; SURFACES</a:t>
            </a:r>
            <a:endParaRPr lang="en-US" sz="1000" b="1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72C5DD7E-345A-BD59-C6F9-E7061F8F063A}"/>
              </a:ext>
            </a:extLst>
          </p:cNvPr>
          <p:cNvSpPr/>
          <p:nvPr/>
        </p:nvSpPr>
        <p:spPr>
          <a:xfrm>
            <a:off x="365760" y="1078992"/>
            <a:ext cx="11521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By domain (G·H·O·S·T) — what the invariant protects. By surface — where it lives. Two valid pivots on the same artifact.</a:t>
            </a:r>
            <a:endParaRPr lang="en-US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7B736140-C16C-D67C-F207-05E126D14E5A}"/>
              </a:ext>
            </a:extLst>
          </p:cNvPr>
          <p:cNvSpPr/>
          <p:nvPr/>
        </p:nvSpPr>
        <p:spPr>
          <a:xfrm>
            <a:off x="2148840" y="1645920"/>
            <a:ext cx="809244" cy="502920"/>
          </a:xfrm>
          <a:prstGeom prst="rect">
            <a:avLst/>
          </a:prstGeom>
          <a:solidFill>
            <a:srgbClr val="1F3055"/>
          </a:solidFill>
          <a:ln w="12700">
            <a:solidFill>
              <a:srgbClr val="4A6F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851CBD9B-954A-DCFD-E343-D819478B4DE7}"/>
              </a:ext>
            </a:extLst>
          </p:cNvPr>
          <p:cNvSpPr/>
          <p:nvPr/>
        </p:nvSpPr>
        <p:spPr>
          <a:xfrm>
            <a:off x="2148840" y="1645920"/>
            <a:ext cx="8092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FD8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USER</a:t>
            </a:r>
            <a:endParaRPr lang="en-US" sz="750" dirty="0"/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276A4BBA-3BC1-9CF9-643F-B617AD729F30}"/>
              </a:ext>
            </a:extLst>
          </p:cNvPr>
          <p:cNvSpPr/>
          <p:nvPr/>
        </p:nvSpPr>
        <p:spPr>
          <a:xfrm>
            <a:off x="2994660" y="1645920"/>
            <a:ext cx="809244" cy="502920"/>
          </a:xfrm>
          <a:prstGeom prst="rect">
            <a:avLst/>
          </a:prstGeom>
          <a:solidFill>
            <a:srgbClr val="4A1F2E"/>
          </a:solidFill>
          <a:ln w="12700">
            <a:solidFill>
              <a:srgbClr val="8A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FEF7655A-D43A-1950-F815-239A5C56A704}"/>
              </a:ext>
            </a:extLst>
          </p:cNvPr>
          <p:cNvSpPr/>
          <p:nvPr/>
        </p:nvSpPr>
        <p:spPr>
          <a:xfrm>
            <a:off x="2994660" y="1645920"/>
            <a:ext cx="8092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CFD9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INTERACTION</a:t>
            </a:r>
            <a:endParaRPr lang="en-US" sz="750" dirty="0"/>
          </a:p>
        </p:txBody>
      </p:sp>
      <p:sp>
        <p:nvSpPr>
          <p:cNvPr id="8" name="Shape 9">
            <a:extLst>
              <a:ext uri="{FF2B5EF4-FFF2-40B4-BE49-F238E27FC236}">
                <a16:creationId xmlns:a16="http://schemas.microsoft.com/office/drawing/2014/main" id="{A75F4977-C205-AFC2-1090-5CA1C5D88724}"/>
              </a:ext>
            </a:extLst>
          </p:cNvPr>
          <p:cNvSpPr/>
          <p:nvPr/>
        </p:nvSpPr>
        <p:spPr>
          <a:xfrm>
            <a:off x="3840480" y="1645920"/>
            <a:ext cx="809244" cy="502920"/>
          </a:xfrm>
          <a:prstGeom prst="rect">
            <a:avLst/>
          </a:prstGeom>
          <a:solidFill>
            <a:srgbClr val="1F3A2A"/>
          </a:solidFill>
          <a:ln w="12700">
            <a:solidFill>
              <a:srgbClr val="458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1D3FD7B5-101F-EA63-F18A-6155BB3701AE}"/>
              </a:ext>
            </a:extLst>
          </p:cNvPr>
          <p:cNvSpPr/>
          <p:nvPr/>
        </p:nvSpPr>
        <p:spPr>
          <a:xfrm>
            <a:off x="3840480" y="1645920"/>
            <a:ext cx="8092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8E5C5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ENVIRONMENT</a:t>
            </a:r>
            <a:endParaRPr lang="en-US" sz="800" dirty="0"/>
          </a:p>
        </p:txBody>
      </p:sp>
      <p:sp>
        <p:nvSpPr>
          <p:cNvPr id="10" name="Shape 11">
            <a:extLst>
              <a:ext uri="{FF2B5EF4-FFF2-40B4-BE49-F238E27FC236}">
                <a16:creationId xmlns:a16="http://schemas.microsoft.com/office/drawing/2014/main" id="{A03DC8D1-458F-EFDB-5DE9-E16C7EF10F84}"/>
              </a:ext>
            </a:extLst>
          </p:cNvPr>
          <p:cNvSpPr/>
          <p:nvPr/>
        </p:nvSpPr>
        <p:spPr>
          <a:xfrm>
            <a:off x="4686300" y="1645920"/>
            <a:ext cx="809244" cy="502920"/>
          </a:xfrm>
          <a:prstGeom prst="rect">
            <a:avLst/>
          </a:prstGeom>
          <a:solidFill>
            <a:srgbClr val="4A3414"/>
          </a:solidFill>
          <a:ln w="12700">
            <a:solidFill>
              <a:srgbClr val="8C6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C564C3CC-F7CE-4B0E-7A2D-0DA9EA021A8F}"/>
              </a:ext>
            </a:extLst>
          </p:cNvPr>
          <p:cNvSpPr/>
          <p:nvPr/>
        </p:nvSpPr>
        <p:spPr>
          <a:xfrm>
            <a:off x="4686300" y="1645920"/>
            <a:ext cx="8092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D79E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VALUE</a:t>
            </a:r>
            <a:endParaRPr lang="en-US" sz="750" dirty="0"/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E32D6B9E-9AE0-D9CA-4E0F-F088C5C3159B}"/>
              </a:ext>
            </a:extLst>
          </p:cNvPr>
          <p:cNvSpPr/>
          <p:nvPr/>
        </p:nvSpPr>
        <p:spPr>
          <a:xfrm>
            <a:off x="5532120" y="1645920"/>
            <a:ext cx="809244" cy="502920"/>
          </a:xfrm>
          <a:prstGeom prst="rect">
            <a:avLst/>
          </a:prstGeom>
          <a:solidFill>
            <a:srgbClr val="351F4D"/>
          </a:solidFill>
          <a:ln w="12700">
            <a:solidFill>
              <a:srgbClr val="6B45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7C17FF82-5318-EE5D-E68C-925FFF4FD4BB}"/>
              </a:ext>
            </a:extLst>
          </p:cNvPr>
          <p:cNvSpPr/>
          <p:nvPr/>
        </p:nvSpPr>
        <p:spPr>
          <a:xfrm>
            <a:off x="5532120" y="1645920"/>
            <a:ext cx="8092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9C0F2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CONTENT</a:t>
            </a:r>
            <a:endParaRPr lang="en-US" sz="750" dirty="0"/>
          </a:p>
        </p:txBody>
      </p:sp>
      <p:sp>
        <p:nvSpPr>
          <p:cNvPr id="14" name="Shape 15">
            <a:extLst>
              <a:ext uri="{FF2B5EF4-FFF2-40B4-BE49-F238E27FC236}">
                <a16:creationId xmlns:a16="http://schemas.microsoft.com/office/drawing/2014/main" id="{562AB6ED-8FD8-200A-3C79-088C1FA90294}"/>
              </a:ext>
            </a:extLst>
          </p:cNvPr>
          <p:cNvSpPr/>
          <p:nvPr/>
        </p:nvSpPr>
        <p:spPr>
          <a:xfrm>
            <a:off x="6377940" y="1645920"/>
            <a:ext cx="809244" cy="502920"/>
          </a:xfrm>
          <a:prstGeom prst="rect">
            <a:avLst/>
          </a:prstGeom>
          <a:solidFill>
            <a:srgbClr val="5E2C10"/>
          </a:solidFill>
          <a:ln w="12700">
            <a:solidFill>
              <a:srgbClr val="B05A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FF1F0DFE-66AD-32EF-170C-2778E02F1559}"/>
              </a:ext>
            </a:extLst>
          </p:cNvPr>
          <p:cNvSpPr/>
          <p:nvPr/>
        </p:nvSpPr>
        <p:spPr>
          <a:xfrm>
            <a:off x="6377940" y="1645920"/>
            <a:ext cx="8092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CBA8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OPERATIONS</a:t>
            </a:r>
            <a:endParaRPr lang="en-US" sz="750" dirty="0"/>
          </a:p>
        </p:txBody>
      </p:sp>
      <p:sp>
        <p:nvSpPr>
          <p:cNvPr id="16" name="Shape 17">
            <a:extLst>
              <a:ext uri="{FF2B5EF4-FFF2-40B4-BE49-F238E27FC236}">
                <a16:creationId xmlns:a16="http://schemas.microsoft.com/office/drawing/2014/main" id="{780F4E5E-3324-94E1-EE5E-53976F4BD261}"/>
              </a:ext>
            </a:extLst>
          </p:cNvPr>
          <p:cNvSpPr/>
          <p:nvPr/>
        </p:nvSpPr>
        <p:spPr>
          <a:xfrm>
            <a:off x="7223760" y="1645920"/>
            <a:ext cx="822960" cy="502920"/>
          </a:xfrm>
          <a:prstGeom prst="rect">
            <a:avLst/>
          </a:prstGeom>
          <a:solidFill>
            <a:srgbClr val="1A2540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C158861F-2317-AF7F-3912-2A3D3582E8E1}"/>
              </a:ext>
            </a:extLst>
          </p:cNvPr>
          <p:cNvSpPr/>
          <p:nvPr/>
        </p:nvSpPr>
        <p:spPr>
          <a:xfrm>
            <a:off x="7223760" y="16459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TOTAL</a:t>
            </a:r>
            <a:endParaRPr lang="en-US" sz="900" dirty="0"/>
          </a:p>
        </p:txBody>
      </p:sp>
      <p:sp>
        <p:nvSpPr>
          <p:cNvPr id="18" name="Shape 19">
            <a:extLst>
              <a:ext uri="{FF2B5EF4-FFF2-40B4-BE49-F238E27FC236}">
                <a16:creationId xmlns:a16="http://schemas.microsoft.com/office/drawing/2014/main" id="{29273703-5939-A069-6C7A-44AAE16D669A}"/>
              </a:ext>
            </a:extLst>
          </p:cNvPr>
          <p:cNvSpPr/>
          <p:nvPr/>
        </p:nvSpPr>
        <p:spPr>
          <a:xfrm>
            <a:off x="365760" y="2148840"/>
            <a:ext cx="1737360" cy="640080"/>
          </a:xfrm>
          <a:prstGeom prst="rect">
            <a:avLst/>
          </a:prstGeom>
          <a:solidFill>
            <a:srgbClr val="121C2E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20">
            <a:extLst>
              <a:ext uri="{FF2B5EF4-FFF2-40B4-BE49-F238E27FC236}">
                <a16:creationId xmlns:a16="http://schemas.microsoft.com/office/drawing/2014/main" id="{AC69569C-600B-47D9-EEEF-B3830C9658C1}"/>
              </a:ext>
            </a:extLst>
          </p:cNvPr>
          <p:cNvSpPr/>
          <p:nvPr/>
        </p:nvSpPr>
        <p:spPr>
          <a:xfrm>
            <a:off x="365760" y="2148840"/>
            <a:ext cx="54864" cy="640080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51735D06-1E9E-6CFA-07E5-55BAB15CA704}"/>
              </a:ext>
            </a:extLst>
          </p:cNvPr>
          <p:cNvSpPr/>
          <p:nvPr/>
        </p:nvSpPr>
        <p:spPr>
          <a:xfrm>
            <a:off x="475488" y="214884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G</a:t>
            </a:r>
            <a:endParaRPr lang="en-US" sz="2200" dirty="0"/>
          </a:p>
        </p:txBody>
      </p:sp>
      <p:sp>
        <p:nvSpPr>
          <p:cNvPr id="21" name="Text 22">
            <a:extLst>
              <a:ext uri="{FF2B5EF4-FFF2-40B4-BE49-F238E27FC236}">
                <a16:creationId xmlns:a16="http://schemas.microsoft.com/office/drawing/2014/main" id="{EBF07132-AC90-0457-8A95-F5F9C9050ABF}"/>
              </a:ext>
            </a:extLst>
          </p:cNvPr>
          <p:cNvSpPr/>
          <p:nvPr/>
        </p:nvSpPr>
        <p:spPr>
          <a:xfrm>
            <a:off x="822960" y="214884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Gameplay</a:t>
            </a:r>
            <a:endParaRPr lang="en-US" sz="1100" dirty="0"/>
          </a:p>
        </p:txBody>
      </p:sp>
      <p:sp>
        <p:nvSpPr>
          <p:cNvPr id="22" name="Shape 23">
            <a:extLst>
              <a:ext uri="{FF2B5EF4-FFF2-40B4-BE49-F238E27FC236}">
                <a16:creationId xmlns:a16="http://schemas.microsoft.com/office/drawing/2014/main" id="{39F14158-86A0-16E8-C754-1EFE23FFC429}"/>
              </a:ext>
            </a:extLst>
          </p:cNvPr>
          <p:cNvSpPr/>
          <p:nvPr/>
        </p:nvSpPr>
        <p:spPr>
          <a:xfrm>
            <a:off x="2148840" y="2148840"/>
            <a:ext cx="809244" cy="640080"/>
          </a:xfrm>
          <a:prstGeom prst="rect">
            <a:avLst/>
          </a:prstGeom>
          <a:solidFill>
            <a:srgbClr val="1F3055">
              <a:alpha val="38000"/>
            </a:srgbClr>
          </a:solidFill>
          <a:ln w="12700">
            <a:solidFill>
              <a:srgbClr val="4A6F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4">
            <a:extLst>
              <a:ext uri="{FF2B5EF4-FFF2-40B4-BE49-F238E27FC236}">
                <a16:creationId xmlns:a16="http://schemas.microsoft.com/office/drawing/2014/main" id="{87373788-988A-8AE9-B2E0-5C7E335D5E73}"/>
              </a:ext>
            </a:extLst>
          </p:cNvPr>
          <p:cNvSpPr/>
          <p:nvPr/>
        </p:nvSpPr>
        <p:spPr>
          <a:xfrm>
            <a:off x="2148840" y="2148840"/>
            <a:ext cx="8092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Shape 25">
            <a:extLst>
              <a:ext uri="{FF2B5EF4-FFF2-40B4-BE49-F238E27FC236}">
                <a16:creationId xmlns:a16="http://schemas.microsoft.com/office/drawing/2014/main" id="{0CC759A4-24A6-83D9-0CF9-64F95442F24C}"/>
              </a:ext>
            </a:extLst>
          </p:cNvPr>
          <p:cNvSpPr/>
          <p:nvPr/>
        </p:nvSpPr>
        <p:spPr>
          <a:xfrm>
            <a:off x="2994660" y="2148840"/>
            <a:ext cx="809244" cy="640080"/>
          </a:xfrm>
          <a:prstGeom prst="rect">
            <a:avLst/>
          </a:prstGeom>
          <a:solidFill>
            <a:srgbClr val="0B1220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6">
            <a:extLst>
              <a:ext uri="{FF2B5EF4-FFF2-40B4-BE49-F238E27FC236}">
                <a16:creationId xmlns:a16="http://schemas.microsoft.com/office/drawing/2014/main" id="{8DB1E69F-F4F0-4FF1-2F67-A50172BAD256}"/>
              </a:ext>
            </a:extLst>
          </p:cNvPr>
          <p:cNvSpPr/>
          <p:nvPr/>
        </p:nvSpPr>
        <p:spPr>
          <a:xfrm>
            <a:off x="2994660" y="2148840"/>
            <a:ext cx="8092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A92A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—</a:t>
            </a:r>
            <a:endParaRPr lang="en-US" sz="1400" dirty="0"/>
          </a:p>
        </p:txBody>
      </p:sp>
      <p:sp>
        <p:nvSpPr>
          <p:cNvPr id="26" name="Shape 27">
            <a:extLst>
              <a:ext uri="{FF2B5EF4-FFF2-40B4-BE49-F238E27FC236}">
                <a16:creationId xmlns:a16="http://schemas.microsoft.com/office/drawing/2014/main" id="{700220FC-42F1-9E0D-7E1A-4989D3556617}"/>
              </a:ext>
            </a:extLst>
          </p:cNvPr>
          <p:cNvSpPr/>
          <p:nvPr/>
        </p:nvSpPr>
        <p:spPr>
          <a:xfrm>
            <a:off x="3840480" y="2148840"/>
            <a:ext cx="809244" cy="640080"/>
          </a:xfrm>
          <a:prstGeom prst="rect">
            <a:avLst/>
          </a:prstGeom>
          <a:solidFill>
            <a:srgbClr val="1F3A2A">
              <a:alpha val="47000"/>
            </a:srgbClr>
          </a:solidFill>
          <a:ln w="12700">
            <a:solidFill>
              <a:srgbClr val="458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8">
            <a:extLst>
              <a:ext uri="{FF2B5EF4-FFF2-40B4-BE49-F238E27FC236}">
                <a16:creationId xmlns:a16="http://schemas.microsoft.com/office/drawing/2014/main" id="{B27DCBE9-C1DB-E6A7-E311-7036BC56D002}"/>
              </a:ext>
            </a:extLst>
          </p:cNvPr>
          <p:cNvSpPr/>
          <p:nvPr/>
        </p:nvSpPr>
        <p:spPr>
          <a:xfrm>
            <a:off x="3840480" y="2148840"/>
            <a:ext cx="8092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8E5C5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Shape 29">
            <a:extLst>
              <a:ext uri="{FF2B5EF4-FFF2-40B4-BE49-F238E27FC236}">
                <a16:creationId xmlns:a16="http://schemas.microsoft.com/office/drawing/2014/main" id="{73A94CA8-071D-FEF1-BE58-74B8CE50F981}"/>
              </a:ext>
            </a:extLst>
          </p:cNvPr>
          <p:cNvSpPr/>
          <p:nvPr/>
        </p:nvSpPr>
        <p:spPr>
          <a:xfrm>
            <a:off x="4686300" y="2148840"/>
            <a:ext cx="809244" cy="640080"/>
          </a:xfrm>
          <a:prstGeom prst="rect">
            <a:avLst/>
          </a:prstGeom>
          <a:solidFill>
            <a:srgbClr val="0B1220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30">
            <a:extLst>
              <a:ext uri="{FF2B5EF4-FFF2-40B4-BE49-F238E27FC236}">
                <a16:creationId xmlns:a16="http://schemas.microsoft.com/office/drawing/2014/main" id="{BD6E5768-819E-74A7-C523-1B2A79EEBCB4}"/>
              </a:ext>
            </a:extLst>
          </p:cNvPr>
          <p:cNvSpPr/>
          <p:nvPr/>
        </p:nvSpPr>
        <p:spPr>
          <a:xfrm>
            <a:off x="4686300" y="2148840"/>
            <a:ext cx="8092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A92A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—</a:t>
            </a:r>
            <a:endParaRPr lang="en-US" sz="1400" dirty="0"/>
          </a:p>
        </p:txBody>
      </p:sp>
      <p:sp>
        <p:nvSpPr>
          <p:cNvPr id="30" name="Shape 31">
            <a:extLst>
              <a:ext uri="{FF2B5EF4-FFF2-40B4-BE49-F238E27FC236}">
                <a16:creationId xmlns:a16="http://schemas.microsoft.com/office/drawing/2014/main" id="{03FD4DFF-2C55-430C-17E0-AA478CE0677C}"/>
              </a:ext>
            </a:extLst>
          </p:cNvPr>
          <p:cNvSpPr/>
          <p:nvPr/>
        </p:nvSpPr>
        <p:spPr>
          <a:xfrm>
            <a:off x="5532120" y="2148840"/>
            <a:ext cx="809244" cy="640080"/>
          </a:xfrm>
          <a:prstGeom prst="rect">
            <a:avLst/>
          </a:prstGeom>
          <a:solidFill>
            <a:srgbClr val="0B1220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6302929B-2D8E-15CA-847C-3EB4B828C3C8}"/>
              </a:ext>
            </a:extLst>
          </p:cNvPr>
          <p:cNvSpPr/>
          <p:nvPr/>
        </p:nvSpPr>
        <p:spPr>
          <a:xfrm>
            <a:off x="5532120" y="2148840"/>
            <a:ext cx="8092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A92A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—</a:t>
            </a:r>
            <a:endParaRPr lang="en-US" sz="1400" dirty="0"/>
          </a:p>
        </p:txBody>
      </p:sp>
      <p:sp>
        <p:nvSpPr>
          <p:cNvPr id="32" name="Shape 33">
            <a:extLst>
              <a:ext uri="{FF2B5EF4-FFF2-40B4-BE49-F238E27FC236}">
                <a16:creationId xmlns:a16="http://schemas.microsoft.com/office/drawing/2014/main" id="{5DDF39CF-D45C-1F0A-D410-14A21053E3DD}"/>
              </a:ext>
            </a:extLst>
          </p:cNvPr>
          <p:cNvSpPr/>
          <p:nvPr/>
        </p:nvSpPr>
        <p:spPr>
          <a:xfrm>
            <a:off x="6377940" y="2148840"/>
            <a:ext cx="809244" cy="640080"/>
          </a:xfrm>
          <a:prstGeom prst="rect">
            <a:avLst/>
          </a:prstGeom>
          <a:solidFill>
            <a:srgbClr val="5E2C10">
              <a:alpha val="9000"/>
            </a:srgbClr>
          </a:solidFill>
          <a:ln w="12700">
            <a:solidFill>
              <a:srgbClr val="B05A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4">
            <a:extLst>
              <a:ext uri="{FF2B5EF4-FFF2-40B4-BE49-F238E27FC236}">
                <a16:creationId xmlns:a16="http://schemas.microsoft.com/office/drawing/2014/main" id="{3607E660-455D-9B31-19FB-10D33E12ED0A}"/>
              </a:ext>
            </a:extLst>
          </p:cNvPr>
          <p:cNvSpPr/>
          <p:nvPr/>
        </p:nvSpPr>
        <p:spPr>
          <a:xfrm>
            <a:off x="6377940" y="2148840"/>
            <a:ext cx="8092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1</a:t>
            </a:r>
            <a:endParaRPr lang="en-US" sz="2000" dirty="0"/>
          </a:p>
        </p:txBody>
      </p:sp>
      <p:sp>
        <p:nvSpPr>
          <p:cNvPr id="34" name="Shape 35">
            <a:extLst>
              <a:ext uri="{FF2B5EF4-FFF2-40B4-BE49-F238E27FC236}">
                <a16:creationId xmlns:a16="http://schemas.microsoft.com/office/drawing/2014/main" id="{CDD06802-0472-043A-1B32-B9F5C97F91D8}"/>
              </a:ext>
            </a:extLst>
          </p:cNvPr>
          <p:cNvSpPr/>
          <p:nvPr/>
        </p:nvSpPr>
        <p:spPr>
          <a:xfrm>
            <a:off x="7223760" y="2148840"/>
            <a:ext cx="822960" cy="640080"/>
          </a:xfrm>
          <a:prstGeom prst="rect">
            <a:avLst/>
          </a:prstGeom>
          <a:solidFill>
            <a:srgbClr val="1A2540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6">
            <a:extLst>
              <a:ext uri="{FF2B5EF4-FFF2-40B4-BE49-F238E27FC236}">
                <a16:creationId xmlns:a16="http://schemas.microsoft.com/office/drawing/2014/main" id="{EFF0D996-2F03-8F7C-0CCC-296A1EC04B91}"/>
              </a:ext>
            </a:extLst>
          </p:cNvPr>
          <p:cNvSpPr/>
          <p:nvPr/>
        </p:nvSpPr>
        <p:spPr>
          <a:xfrm>
            <a:off x="7223760" y="21488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10</a:t>
            </a:r>
            <a:endParaRPr lang="en-US" sz="1800" dirty="0"/>
          </a:p>
        </p:txBody>
      </p:sp>
      <p:sp>
        <p:nvSpPr>
          <p:cNvPr id="36" name="Shape 37">
            <a:extLst>
              <a:ext uri="{FF2B5EF4-FFF2-40B4-BE49-F238E27FC236}">
                <a16:creationId xmlns:a16="http://schemas.microsoft.com/office/drawing/2014/main" id="{0A7FDF37-5E4B-124B-664D-5424F0D3573D}"/>
              </a:ext>
            </a:extLst>
          </p:cNvPr>
          <p:cNvSpPr/>
          <p:nvPr/>
        </p:nvSpPr>
        <p:spPr>
          <a:xfrm>
            <a:off x="365760" y="2788920"/>
            <a:ext cx="1737360" cy="640080"/>
          </a:xfrm>
          <a:prstGeom prst="rect">
            <a:avLst/>
          </a:prstGeom>
          <a:solidFill>
            <a:srgbClr val="121C2E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8">
            <a:extLst>
              <a:ext uri="{FF2B5EF4-FFF2-40B4-BE49-F238E27FC236}">
                <a16:creationId xmlns:a16="http://schemas.microsoft.com/office/drawing/2014/main" id="{F45799E5-000E-E537-5811-1112E218D0BA}"/>
              </a:ext>
            </a:extLst>
          </p:cNvPr>
          <p:cNvSpPr/>
          <p:nvPr/>
        </p:nvSpPr>
        <p:spPr>
          <a:xfrm>
            <a:off x="365760" y="2788920"/>
            <a:ext cx="54864" cy="640080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9">
            <a:extLst>
              <a:ext uri="{FF2B5EF4-FFF2-40B4-BE49-F238E27FC236}">
                <a16:creationId xmlns:a16="http://schemas.microsoft.com/office/drawing/2014/main" id="{3CA98A29-AE15-42C0-42C2-A2DF299CA09C}"/>
              </a:ext>
            </a:extLst>
          </p:cNvPr>
          <p:cNvSpPr/>
          <p:nvPr/>
        </p:nvSpPr>
        <p:spPr>
          <a:xfrm>
            <a:off x="475488" y="27889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H</a:t>
            </a:r>
            <a:endParaRPr lang="en-US" sz="2200" dirty="0"/>
          </a:p>
        </p:txBody>
      </p:sp>
      <p:sp>
        <p:nvSpPr>
          <p:cNvPr id="39" name="Text 40">
            <a:extLst>
              <a:ext uri="{FF2B5EF4-FFF2-40B4-BE49-F238E27FC236}">
                <a16:creationId xmlns:a16="http://schemas.microsoft.com/office/drawing/2014/main" id="{8E50DC42-2260-13F0-BC41-2D4652DACC3C}"/>
              </a:ext>
            </a:extLst>
          </p:cNvPr>
          <p:cNvSpPr/>
          <p:nvPr/>
        </p:nvSpPr>
        <p:spPr>
          <a:xfrm>
            <a:off x="822960" y="27889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Harm</a:t>
            </a:r>
            <a:endParaRPr lang="en-US" sz="1100" dirty="0"/>
          </a:p>
        </p:txBody>
      </p:sp>
      <p:sp>
        <p:nvSpPr>
          <p:cNvPr id="40" name="Shape 41">
            <a:extLst>
              <a:ext uri="{FF2B5EF4-FFF2-40B4-BE49-F238E27FC236}">
                <a16:creationId xmlns:a16="http://schemas.microsoft.com/office/drawing/2014/main" id="{55A67F7F-4CED-0F64-4018-B4817E395984}"/>
              </a:ext>
            </a:extLst>
          </p:cNvPr>
          <p:cNvSpPr/>
          <p:nvPr/>
        </p:nvSpPr>
        <p:spPr>
          <a:xfrm>
            <a:off x="2148840" y="2788920"/>
            <a:ext cx="809244" cy="640080"/>
          </a:xfrm>
          <a:prstGeom prst="rect">
            <a:avLst/>
          </a:prstGeom>
          <a:solidFill>
            <a:srgbClr val="1F3055">
              <a:alpha val="19000"/>
            </a:srgbClr>
          </a:solidFill>
          <a:ln w="12700">
            <a:solidFill>
              <a:srgbClr val="4A6F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42">
            <a:extLst>
              <a:ext uri="{FF2B5EF4-FFF2-40B4-BE49-F238E27FC236}">
                <a16:creationId xmlns:a16="http://schemas.microsoft.com/office/drawing/2014/main" id="{5FACD581-1CCA-F878-6317-EFF3791684A2}"/>
              </a:ext>
            </a:extLst>
          </p:cNvPr>
          <p:cNvSpPr/>
          <p:nvPr/>
        </p:nvSpPr>
        <p:spPr>
          <a:xfrm>
            <a:off x="2148840" y="2788920"/>
            <a:ext cx="8092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2</a:t>
            </a:r>
            <a:endParaRPr lang="en-US" sz="2000" dirty="0"/>
          </a:p>
        </p:txBody>
      </p:sp>
      <p:sp>
        <p:nvSpPr>
          <p:cNvPr id="42" name="Shape 43">
            <a:extLst>
              <a:ext uri="{FF2B5EF4-FFF2-40B4-BE49-F238E27FC236}">
                <a16:creationId xmlns:a16="http://schemas.microsoft.com/office/drawing/2014/main" id="{6F6D11B7-0B31-7B13-ACAC-DE466498A65A}"/>
              </a:ext>
            </a:extLst>
          </p:cNvPr>
          <p:cNvSpPr/>
          <p:nvPr/>
        </p:nvSpPr>
        <p:spPr>
          <a:xfrm>
            <a:off x="2994660" y="2788920"/>
            <a:ext cx="809244" cy="640080"/>
          </a:xfrm>
          <a:prstGeom prst="rect">
            <a:avLst/>
          </a:prstGeom>
          <a:solidFill>
            <a:srgbClr val="4A1F2E">
              <a:alpha val="28000"/>
            </a:srgbClr>
          </a:solidFill>
          <a:ln w="12700">
            <a:solidFill>
              <a:srgbClr val="8A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4">
            <a:extLst>
              <a:ext uri="{FF2B5EF4-FFF2-40B4-BE49-F238E27FC236}">
                <a16:creationId xmlns:a16="http://schemas.microsoft.com/office/drawing/2014/main" id="{81C9A72B-1DD4-4C98-86A7-4DB18E9D902D}"/>
              </a:ext>
            </a:extLst>
          </p:cNvPr>
          <p:cNvSpPr/>
          <p:nvPr/>
        </p:nvSpPr>
        <p:spPr>
          <a:xfrm>
            <a:off x="2994660" y="2788920"/>
            <a:ext cx="8092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3</a:t>
            </a:r>
            <a:endParaRPr lang="en-US" sz="2000" dirty="0"/>
          </a:p>
        </p:txBody>
      </p:sp>
      <p:sp>
        <p:nvSpPr>
          <p:cNvPr id="44" name="Shape 45">
            <a:extLst>
              <a:ext uri="{FF2B5EF4-FFF2-40B4-BE49-F238E27FC236}">
                <a16:creationId xmlns:a16="http://schemas.microsoft.com/office/drawing/2014/main" id="{FE356901-7621-B493-41A0-DC3590D4EE73}"/>
              </a:ext>
            </a:extLst>
          </p:cNvPr>
          <p:cNvSpPr/>
          <p:nvPr/>
        </p:nvSpPr>
        <p:spPr>
          <a:xfrm>
            <a:off x="3840480" y="2788920"/>
            <a:ext cx="809244" cy="640080"/>
          </a:xfrm>
          <a:prstGeom prst="rect">
            <a:avLst/>
          </a:prstGeom>
          <a:solidFill>
            <a:srgbClr val="0B1220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6">
            <a:extLst>
              <a:ext uri="{FF2B5EF4-FFF2-40B4-BE49-F238E27FC236}">
                <a16:creationId xmlns:a16="http://schemas.microsoft.com/office/drawing/2014/main" id="{B986E758-A394-EBDA-43E1-8003CFCFB1ED}"/>
              </a:ext>
            </a:extLst>
          </p:cNvPr>
          <p:cNvSpPr/>
          <p:nvPr/>
        </p:nvSpPr>
        <p:spPr>
          <a:xfrm>
            <a:off x="3840480" y="2788920"/>
            <a:ext cx="8092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A92A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—</a:t>
            </a:r>
            <a:endParaRPr lang="en-US" sz="1400" dirty="0"/>
          </a:p>
        </p:txBody>
      </p:sp>
      <p:sp>
        <p:nvSpPr>
          <p:cNvPr id="46" name="Shape 47">
            <a:extLst>
              <a:ext uri="{FF2B5EF4-FFF2-40B4-BE49-F238E27FC236}">
                <a16:creationId xmlns:a16="http://schemas.microsoft.com/office/drawing/2014/main" id="{D00C4621-8EF3-39D2-F899-05232917987A}"/>
              </a:ext>
            </a:extLst>
          </p:cNvPr>
          <p:cNvSpPr/>
          <p:nvPr/>
        </p:nvSpPr>
        <p:spPr>
          <a:xfrm>
            <a:off x="4686300" y="2788920"/>
            <a:ext cx="809244" cy="640080"/>
          </a:xfrm>
          <a:prstGeom prst="rect">
            <a:avLst/>
          </a:prstGeom>
          <a:solidFill>
            <a:srgbClr val="0B1220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8">
            <a:extLst>
              <a:ext uri="{FF2B5EF4-FFF2-40B4-BE49-F238E27FC236}">
                <a16:creationId xmlns:a16="http://schemas.microsoft.com/office/drawing/2014/main" id="{D1D7DE91-D02B-E8FF-0CF5-55863EFEC63E}"/>
              </a:ext>
            </a:extLst>
          </p:cNvPr>
          <p:cNvSpPr/>
          <p:nvPr/>
        </p:nvSpPr>
        <p:spPr>
          <a:xfrm>
            <a:off x="4686300" y="2788920"/>
            <a:ext cx="8092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A92A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—</a:t>
            </a:r>
            <a:endParaRPr lang="en-US" sz="1400" dirty="0"/>
          </a:p>
        </p:txBody>
      </p:sp>
      <p:sp>
        <p:nvSpPr>
          <p:cNvPr id="48" name="Shape 49">
            <a:extLst>
              <a:ext uri="{FF2B5EF4-FFF2-40B4-BE49-F238E27FC236}">
                <a16:creationId xmlns:a16="http://schemas.microsoft.com/office/drawing/2014/main" id="{F4822CEE-DC43-2016-A1F3-AF3E81A45254}"/>
              </a:ext>
            </a:extLst>
          </p:cNvPr>
          <p:cNvSpPr/>
          <p:nvPr/>
        </p:nvSpPr>
        <p:spPr>
          <a:xfrm>
            <a:off x="5532120" y="2788920"/>
            <a:ext cx="809244" cy="640080"/>
          </a:xfrm>
          <a:prstGeom prst="rect">
            <a:avLst/>
          </a:prstGeom>
          <a:solidFill>
            <a:srgbClr val="351F4D">
              <a:alpha val="19000"/>
            </a:srgbClr>
          </a:solidFill>
          <a:ln w="12700">
            <a:solidFill>
              <a:srgbClr val="6B45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50">
            <a:extLst>
              <a:ext uri="{FF2B5EF4-FFF2-40B4-BE49-F238E27FC236}">
                <a16:creationId xmlns:a16="http://schemas.microsoft.com/office/drawing/2014/main" id="{270A9A68-EBFE-73E5-5491-7E36E2755BBA}"/>
              </a:ext>
            </a:extLst>
          </p:cNvPr>
          <p:cNvSpPr/>
          <p:nvPr/>
        </p:nvSpPr>
        <p:spPr>
          <a:xfrm>
            <a:off x="5532120" y="2788920"/>
            <a:ext cx="8092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2</a:t>
            </a:r>
            <a:endParaRPr lang="en-US" sz="2000" dirty="0"/>
          </a:p>
        </p:txBody>
      </p:sp>
      <p:sp>
        <p:nvSpPr>
          <p:cNvPr id="50" name="Shape 51">
            <a:extLst>
              <a:ext uri="{FF2B5EF4-FFF2-40B4-BE49-F238E27FC236}">
                <a16:creationId xmlns:a16="http://schemas.microsoft.com/office/drawing/2014/main" id="{BBF620A4-E862-EDF2-F811-F0BCD33F8EB4}"/>
              </a:ext>
            </a:extLst>
          </p:cNvPr>
          <p:cNvSpPr/>
          <p:nvPr/>
        </p:nvSpPr>
        <p:spPr>
          <a:xfrm>
            <a:off x="6377940" y="2788920"/>
            <a:ext cx="809244" cy="640080"/>
          </a:xfrm>
          <a:prstGeom prst="rect">
            <a:avLst/>
          </a:prstGeom>
          <a:solidFill>
            <a:srgbClr val="5E2C10">
              <a:alpha val="28000"/>
            </a:srgbClr>
          </a:solidFill>
          <a:ln w="12700">
            <a:solidFill>
              <a:srgbClr val="B05A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52">
            <a:extLst>
              <a:ext uri="{FF2B5EF4-FFF2-40B4-BE49-F238E27FC236}">
                <a16:creationId xmlns:a16="http://schemas.microsoft.com/office/drawing/2014/main" id="{D1F1E163-E8FB-25DC-0995-9B9C7A91EEE8}"/>
              </a:ext>
            </a:extLst>
          </p:cNvPr>
          <p:cNvSpPr/>
          <p:nvPr/>
        </p:nvSpPr>
        <p:spPr>
          <a:xfrm>
            <a:off x="6377940" y="2788920"/>
            <a:ext cx="8092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3</a:t>
            </a:r>
            <a:endParaRPr lang="en-US" sz="2000" dirty="0"/>
          </a:p>
        </p:txBody>
      </p:sp>
      <p:sp>
        <p:nvSpPr>
          <p:cNvPr id="52" name="Shape 53">
            <a:extLst>
              <a:ext uri="{FF2B5EF4-FFF2-40B4-BE49-F238E27FC236}">
                <a16:creationId xmlns:a16="http://schemas.microsoft.com/office/drawing/2014/main" id="{09B1E4FF-3408-8733-79E0-A4B5EB8EF12E}"/>
              </a:ext>
            </a:extLst>
          </p:cNvPr>
          <p:cNvSpPr/>
          <p:nvPr/>
        </p:nvSpPr>
        <p:spPr>
          <a:xfrm>
            <a:off x="7223760" y="2788920"/>
            <a:ext cx="822960" cy="640080"/>
          </a:xfrm>
          <a:prstGeom prst="rect">
            <a:avLst/>
          </a:prstGeom>
          <a:solidFill>
            <a:srgbClr val="1A2540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4">
            <a:extLst>
              <a:ext uri="{FF2B5EF4-FFF2-40B4-BE49-F238E27FC236}">
                <a16:creationId xmlns:a16="http://schemas.microsoft.com/office/drawing/2014/main" id="{E52108DC-446D-E252-32AE-93EBD880C1CB}"/>
              </a:ext>
            </a:extLst>
          </p:cNvPr>
          <p:cNvSpPr/>
          <p:nvPr/>
        </p:nvSpPr>
        <p:spPr>
          <a:xfrm>
            <a:off x="7223760" y="27889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10</a:t>
            </a:r>
            <a:endParaRPr lang="en-US" sz="1800" dirty="0"/>
          </a:p>
        </p:txBody>
      </p:sp>
      <p:sp>
        <p:nvSpPr>
          <p:cNvPr id="54" name="Shape 55">
            <a:extLst>
              <a:ext uri="{FF2B5EF4-FFF2-40B4-BE49-F238E27FC236}">
                <a16:creationId xmlns:a16="http://schemas.microsoft.com/office/drawing/2014/main" id="{4E99C4A1-9446-87DF-8E36-DB1BCABAAA64}"/>
              </a:ext>
            </a:extLst>
          </p:cNvPr>
          <p:cNvSpPr/>
          <p:nvPr/>
        </p:nvSpPr>
        <p:spPr>
          <a:xfrm>
            <a:off x="365760" y="3429000"/>
            <a:ext cx="1737360" cy="640080"/>
          </a:xfrm>
          <a:prstGeom prst="rect">
            <a:avLst/>
          </a:prstGeom>
          <a:solidFill>
            <a:srgbClr val="121C2E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6">
            <a:extLst>
              <a:ext uri="{FF2B5EF4-FFF2-40B4-BE49-F238E27FC236}">
                <a16:creationId xmlns:a16="http://schemas.microsoft.com/office/drawing/2014/main" id="{F7A663DB-05AB-D220-DA1B-19A3064665B1}"/>
              </a:ext>
            </a:extLst>
          </p:cNvPr>
          <p:cNvSpPr/>
          <p:nvPr/>
        </p:nvSpPr>
        <p:spPr>
          <a:xfrm>
            <a:off x="365760" y="3429000"/>
            <a:ext cx="54864" cy="640080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7">
            <a:extLst>
              <a:ext uri="{FF2B5EF4-FFF2-40B4-BE49-F238E27FC236}">
                <a16:creationId xmlns:a16="http://schemas.microsoft.com/office/drawing/2014/main" id="{C496F779-B572-46DE-94D5-7DC43D563D13}"/>
              </a:ext>
            </a:extLst>
          </p:cNvPr>
          <p:cNvSpPr/>
          <p:nvPr/>
        </p:nvSpPr>
        <p:spPr>
          <a:xfrm>
            <a:off x="475488" y="342900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O</a:t>
            </a:r>
            <a:endParaRPr lang="en-US" sz="2200" dirty="0"/>
          </a:p>
        </p:txBody>
      </p:sp>
      <p:sp>
        <p:nvSpPr>
          <p:cNvPr id="57" name="Text 58">
            <a:extLst>
              <a:ext uri="{FF2B5EF4-FFF2-40B4-BE49-F238E27FC236}">
                <a16:creationId xmlns:a16="http://schemas.microsoft.com/office/drawing/2014/main" id="{7CD34D72-C0C0-4631-E3E4-AE94CDD9D6E5}"/>
              </a:ext>
            </a:extLst>
          </p:cNvPr>
          <p:cNvSpPr/>
          <p:nvPr/>
        </p:nvSpPr>
        <p:spPr>
          <a:xfrm>
            <a:off x="822960" y="34290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58" name="Shape 59">
            <a:extLst>
              <a:ext uri="{FF2B5EF4-FFF2-40B4-BE49-F238E27FC236}">
                <a16:creationId xmlns:a16="http://schemas.microsoft.com/office/drawing/2014/main" id="{8D1BABC3-5BB7-FF66-DC12-0C36D0CF907E}"/>
              </a:ext>
            </a:extLst>
          </p:cNvPr>
          <p:cNvSpPr/>
          <p:nvPr/>
        </p:nvSpPr>
        <p:spPr>
          <a:xfrm>
            <a:off x="2148840" y="3429000"/>
            <a:ext cx="809244" cy="640080"/>
          </a:xfrm>
          <a:prstGeom prst="rect">
            <a:avLst/>
          </a:prstGeom>
          <a:solidFill>
            <a:srgbClr val="0B1220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60">
            <a:extLst>
              <a:ext uri="{FF2B5EF4-FFF2-40B4-BE49-F238E27FC236}">
                <a16:creationId xmlns:a16="http://schemas.microsoft.com/office/drawing/2014/main" id="{97081803-AE22-7D6E-B71B-CA1C0CE3CECD}"/>
              </a:ext>
            </a:extLst>
          </p:cNvPr>
          <p:cNvSpPr/>
          <p:nvPr/>
        </p:nvSpPr>
        <p:spPr>
          <a:xfrm>
            <a:off x="2148840" y="3429000"/>
            <a:ext cx="8092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A92A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—</a:t>
            </a:r>
            <a:endParaRPr lang="en-US" sz="1400" dirty="0"/>
          </a:p>
        </p:txBody>
      </p:sp>
      <p:sp>
        <p:nvSpPr>
          <p:cNvPr id="60" name="Shape 61">
            <a:extLst>
              <a:ext uri="{FF2B5EF4-FFF2-40B4-BE49-F238E27FC236}">
                <a16:creationId xmlns:a16="http://schemas.microsoft.com/office/drawing/2014/main" id="{9F8310FA-6363-7B33-7AA4-D8D8462AC57F}"/>
              </a:ext>
            </a:extLst>
          </p:cNvPr>
          <p:cNvSpPr/>
          <p:nvPr/>
        </p:nvSpPr>
        <p:spPr>
          <a:xfrm>
            <a:off x="2994660" y="3429000"/>
            <a:ext cx="809244" cy="640080"/>
          </a:xfrm>
          <a:prstGeom prst="rect">
            <a:avLst/>
          </a:prstGeom>
          <a:solidFill>
            <a:srgbClr val="0B1220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62">
            <a:extLst>
              <a:ext uri="{FF2B5EF4-FFF2-40B4-BE49-F238E27FC236}">
                <a16:creationId xmlns:a16="http://schemas.microsoft.com/office/drawing/2014/main" id="{B70A7420-C842-282A-2838-6F4D817EF3B9}"/>
              </a:ext>
            </a:extLst>
          </p:cNvPr>
          <p:cNvSpPr/>
          <p:nvPr/>
        </p:nvSpPr>
        <p:spPr>
          <a:xfrm>
            <a:off x="2994660" y="3429000"/>
            <a:ext cx="8092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A92A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—</a:t>
            </a:r>
            <a:endParaRPr lang="en-US" sz="1400" dirty="0"/>
          </a:p>
        </p:txBody>
      </p:sp>
      <p:sp>
        <p:nvSpPr>
          <p:cNvPr id="62" name="Shape 63">
            <a:extLst>
              <a:ext uri="{FF2B5EF4-FFF2-40B4-BE49-F238E27FC236}">
                <a16:creationId xmlns:a16="http://schemas.microsoft.com/office/drawing/2014/main" id="{D9B5FF57-3FE5-1078-7076-EF08FFDC99A6}"/>
              </a:ext>
            </a:extLst>
          </p:cNvPr>
          <p:cNvSpPr/>
          <p:nvPr/>
        </p:nvSpPr>
        <p:spPr>
          <a:xfrm>
            <a:off x="3840480" y="3429000"/>
            <a:ext cx="809244" cy="640080"/>
          </a:xfrm>
          <a:prstGeom prst="rect">
            <a:avLst/>
          </a:prstGeom>
          <a:solidFill>
            <a:srgbClr val="0B1220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4">
            <a:extLst>
              <a:ext uri="{FF2B5EF4-FFF2-40B4-BE49-F238E27FC236}">
                <a16:creationId xmlns:a16="http://schemas.microsoft.com/office/drawing/2014/main" id="{EA26E31B-CA02-6823-1B89-5B2014BFE8C6}"/>
              </a:ext>
            </a:extLst>
          </p:cNvPr>
          <p:cNvSpPr/>
          <p:nvPr/>
        </p:nvSpPr>
        <p:spPr>
          <a:xfrm>
            <a:off x="3840480" y="3429000"/>
            <a:ext cx="8092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A92A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—</a:t>
            </a:r>
            <a:endParaRPr lang="en-US" sz="1400" dirty="0"/>
          </a:p>
        </p:txBody>
      </p:sp>
      <p:sp>
        <p:nvSpPr>
          <p:cNvPr id="924" name="Shape 65">
            <a:extLst>
              <a:ext uri="{FF2B5EF4-FFF2-40B4-BE49-F238E27FC236}">
                <a16:creationId xmlns:a16="http://schemas.microsoft.com/office/drawing/2014/main" id="{97B3867F-51C6-C4B7-61CB-69AA8ECA43D9}"/>
              </a:ext>
            </a:extLst>
          </p:cNvPr>
          <p:cNvSpPr/>
          <p:nvPr/>
        </p:nvSpPr>
        <p:spPr>
          <a:xfrm>
            <a:off x="4686300" y="3429000"/>
            <a:ext cx="809244" cy="640080"/>
          </a:xfrm>
          <a:prstGeom prst="rect">
            <a:avLst/>
          </a:prstGeom>
          <a:solidFill>
            <a:srgbClr val="0B1220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5" name="Text 66">
            <a:extLst>
              <a:ext uri="{FF2B5EF4-FFF2-40B4-BE49-F238E27FC236}">
                <a16:creationId xmlns:a16="http://schemas.microsoft.com/office/drawing/2014/main" id="{8AC37EFD-6BC4-F3BF-9189-546D055FCE55}"/>
              </a:ext>
            </a:extLst>
          </p:cNvPr>
          <p:cNvSpPr/>
          <p:nvPr/>
        </p:nvSpPr>
        <p:spPr>
          <a:xfrm>
            <a:off x="4686300" y="3429000"/>
            <a:ext cx="8092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A92A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—</a:t>
            </a:r>
            <a:endParaRPr lang="en-US" sz="1400" dirty="0"/>
          </a:p>
        </p:txBody>
      </p:sp>
      <p:sp>
        <p:nvSpPr>
          <p:cNvPr id="930" name="Shape 67">
            <a:extLst>
              <a:ext uri="{FF2B5EF4-FFF2-40B4-BE49-F238E27FC236}">
                <a16:creationId xmlns:a16="http://schemas.microsoft.com/office/drawing/2014/main" id="{E35C81D1-18FA-385C-2AC3-3F8F0253AF29}"/>
              </a:ext>
            </a:extLst>
          </p:cNvPr>
          <p:cNvSpPr/>
          <p:nvPr/>
        </p:nvSpPr>
        <p:spPr>
          <a:xfrm>
            <a:off x="5532120" y="3429000"/>
            <a:ext cx="809244" cy="640080"/>
          </a:xfrm>
          <a:prstGeom prst="rect">
            <a:avLst/>
          </a:prstGeom>
          <a:solidFill>
            <a:srgbClr val="0B1220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1" name="Text 68">
            <a:extLst>
              <a:ext uri="{FF2B5EF4-FFF2-40B4-BE49-F238E27FC236}">
                <a16:creationId xmlns:a16="http://schemas.microsoft.com/office/drawing/2014/main" id="{E35FD10F-2287-FA55-4A25-4D238D7BA8F5}"/>
              </a:ext>
            </a:extLst>
          </p:cNvPr>
          <p:cNvSpPr/>
          <p:nvPr/>
        </p:nvSpPr>
        <p:spPr>
          <a:xfrm>
            <a:off x="5532120" y="3429000"/>
            <a:ext cx="8092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A92A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—</a:t>
            </a:r>
            <a:endParaRPr lang="en-US" sz="1400" dirty="0"/>
          </a:p>
        </p:txBody>
      </p:sp>
      <p:sp>
        <p:nvSpPr>
          <p:cNvPr id="932" name="Shape 69">
            <a:extLst>
              <a:ext uri="{FF2B5EF4-FFF2-40B4-BE49-F238E27FC236}">
                <a16:creationId xmlns:a16="http://schemas.microsoft.com/office/drawing/2014/main" id="{4855ECBF-F35D-7685-8A76-74B27D0D773B}"/>
              </a:ext>
            </a:extLst>
          </p:cNvPr>
          <p:cNvSpPr/>
          <p:nvPr/>
        </p:nvSpPr>
        <p:spPr>
          <a:xfrm>
            <a:off x="6377940" y="3429000"/>
            <a:ext cx="809244" cy="640080"/>
          </a:xfrm>
          <a:prstGeom prst="rect">
            <a:avLst/>
          </a:prstGeom>
          <a:solidFill>
            <a:srgbClr val="5E2C10">
              <a:alpha val="95000"/>
            </a:srgbClr>
          </a:solidFill>
          <a:ln w="12700">
            <a:solidFill>
              <a:srgbClr val="B05A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3" name="Text 70">
            <a:extLst>
              <a:ext uri="{FF2B5EF4-FFF2-40B4-BE49-F238E27FC236}">
                <a16:creationId xmlns:a16="http://schemas.microsoft.com/office/drawing/2014/main" id="{E7E82605-D85B-E356-06D8-9E8BA0382976}"/>
              </a:ext>
            </a:extLst>
          </p:cNvPr>
          <p:cNvSpPr/>
          <p:nvPr/>
        </p:nvSpPr>
        <p:spPr>
          <a:xfrm>
            <a:off x="6377940" y="3429000"/>
            <a:ext cx="8092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BA8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10</a:t>
            </a:r>
            <a:endParaRPr lang="en-US" sz="2200" dirty="0"/>
          </a:p>
        </p:txBody>
      </p:sp>
      <p:sp>
        <p:nvSpPr>
          <p:cNvPr id="934" name="Shape 71">
            <a:extLst>
              <a:ext uri="{FF2B5EF4-FFF2-40B4-BE49-F238E27FC236}">
                <a16:creationId xmlns:a16="http://schemas.microsoft.com/office/drawing/2014/main" id="{BE524889-C6DA-FD43-5DCF-D6CE72CF4596}"/>
              </a:ext>
            </a:extLst>
          </p:cNvPr>
          <p:cNvSpPr/>
          <p:nvPr/>
        </p:nvSpPr>
        <p:spPr>
          <a:xfrm>
            <a:off x="7223760" y="3429000"/>
            <a:ext cx="822960" cy="640080"/>
          </a:xfrm>
          <a:prstGeom prst="rect">
            <a:avLst/>
          </a:prstGeom>
          <a:solidFill>
            <a:srgbClr val="1A2540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5" name="Text 72">
            <a:extLst>
              <a:ext uri="{FF2B5EF4-FFF2-40B4-BE49-F238E27FC236}">
                <a16:creationId xmlns:a16="http://schemas.microsoft.com/office/drawing/2014/main" id="{4E8EE8F3-36AB-F9EC-D3A3-BF690AEE3BAE}"/>
              </a:ext>
            </a:extLst>
          </p:cNvPr>
          <p:cNvSpPr/>
          <p:nvPr/>
        </p:nvSpPr>
        <p:spPr>
          <a:xfrm>
            <a:off x="7223760" y="34290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10</a:t>
            </a:r>
            <a:endParaRPr lang="en-US" sz="1800" dirty="0"/>
          </a:p>
        </p:txBody>
      </p:sp>
      <p:sp>
        <p:nvSpPr>
          <p:cNvPr id="936" name="Shape 73">
            <a:extLst>
              <a:ext uri="{FF2B5EF4-FFF2-40B4-BE49-F238E27FC236}">
                <a16:creationId xmlns:a16="http://schemas.microsoft.com/office/drawing/2014/main" id="{BFAE6841-023C-8EEC-51FB-7C731C0CDB52}"/>
              </a:ext>
            </a:extLst>
          </p:cNvPr>
          <p:cNvSpPr/>
          <p:nvPr/>
        </p:nvSpPr>
        <p:spPr>
          <a:xfrm>
            <a:off x="365760" y="4069080"/>
            <a:ext cx="1737360" cy="640080"/>
          </a:xfrm>
          <a:prstGeom prst="rect">
            <a:avLst/>
          </a:prstGeom>
          <a:solidFill>
            <a:srgbClr val="121C2E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7" name="Shape 74">
            <a:extLst>
              <a:ext uri="{FF2B5EF4-FFF2-40B4-BE49-F238E27FC236}">
                <a16:creationId xmlns:a16="http://schemas.microsoft.com/office/drawing/2014/main" id="{75F9089F-A3C2-C55A-98E8-756239181216}"/>
              </a:ext>
            </a:extLst>
          </p:cNvPr>
          <p:cNvSpPr/>
          <p:nvPr/>
        </p:nvSpPr>
        <p:spPr>
          <a:xfrm>
            <a:off x="365760" y="4069080"/>
            <a:ext cx="54864" cy="640080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8" name="Text 75">
            <a:extLst>
              <a:ext uri="{FF2B5EF4-FFF2-40B4-BE49-F238E27FC236}">
                <a16:creationId xmlns:a16="http://schemas.microsoft.com/office/drawing/2014/main" id="{BCD63C09-182F-1482-3796-5D75592E7CAC}"/>
              </a:ext>
            </a:extLst>
          </p:cNvPr>
          <p:cNvSpPr/>
          <p:nvPr/>
        </p:nvSpPr>
        <p:spPr>
          <a:xfrm>
            <a:off x="475488" y="406908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S</a:t>
            </a:r>
            <a:endParaRPr lang="en-US" sz="2200" dirty="0"/>
          </a:p>
        </p:txBody>
      </p:sp>
      <p:sp>
        <p:nvSpPr>
          <p:cNvPr id="939" name="Text 76">
            <a:extLst>
              <a:ext uri="{FF2B5EF4-FFF2-40B4-BE49-F238E27FC236}">
                <a16:creationId xmlns:a16="http://schemas.microsoft.com/office/drawing/2014/main" id="{550646E9-E030-3481-B788-DB9CD50F4F00}"/>
              </a:ext>
            </a:extLst>
          </p:cNvPr>
          <p:cNvSpPr/>
          <p:nvPr/>
        </p:nvSpPr>
        <p:spPr>
          <a:xfrm>
            <a:off x="822960" y="406908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Social</a:t>
            </a:r>
            <a:endParaRPr lang="en-US" sz="1100" dirty="0"/>
          </a:p>
        </p:txBody>
      </p:sp>
      <p:sp>
        <p:nvSpPr>
          <p:cNvPr id="940" name="Shape 77">
            <a:extLst>
              <a:ext uri="{FF2B5EF4-FFF2-40B4-BE49-F238E27FC236}">
                <a16:creationId xmlns:a16="http://schemas.microsoft.com/office/drawing/2014/main" id="{D5F86A5D-2894-597A-851E-CA9C6853F6DC}"/>
              </a:ext>
            </a:extLst>
          </p:cNvPr>
          <p:cNvSpPr/>
          <p:nvPr/>
        </p:nvSpPr>
        <p:spPr>
          <a:xfrm>
            <a:off x="2148840" y="4069080"/>
            <a:ext cx="809244" cy="640080"/>
          </a:xfrm>
          <a:prstGeom prst="rect">
            <a:avLst/>
          </a:prstGeom>
          <a:solidFill>
            <a:srgbClr val="1F3055">
              <a:alpha val="38000"/>
            </a:srgbClr>
          </a:solidFill>
          <a:ln w="12700">
            <a:solidFill>
              <a:srgbClr val="4A6F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1" name="Text 78">
            <a:extLst>
              <a:ext uri="{FF2B5EF4-FFF2-40B4-BE49-F238E27FC236}">
                <a16:creationId xmlns:a16="http://schemas.microsoft.com/office/drawing/2014/main" id="{5B12A046-4C53-7FAA-3716-8882988CD38A}"/>
              </a:ext>
            </a:extLst>
          </p:cNvPr>
          <p:cNvSpPr/>
          <p:nvPr/>
        </p:nvSpPr>
        <p:spPr>
          <a:xfrm>
            <a:off x="2148840" y="4069080"/>
            <a:ext cx="8092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4</a:t>
            </a:r>
            <a:endParaRPr lang="en-US" sz="2000" dirty="0"/>
          </a:p>
        </p:txBody>
      </p:sp>
      <p:sp>
        <p:nvSpPr>
          <p:cNvPr id="942" name="Shape 79">
            <a:extLst>
              <a:ext uri="{FF2B5EF4-FFF2-40B4-BE49-F238E27FC236}">
                <a16:creationId xmlns:a16="http://schemas.microsoft.com/office/drawing/2014/main" id="{D95DDAE7-0FAB-229D-BC72-D2F6C46AA253}"/>
              </a:ext>
            </a:extLst>
          </p:cNvPr>
          <p:cNvSpPr/>
          <p:nvPr/>
        </p:nvSpPr>
        <p:spPr>
          <a:xfrm>
            <a:off x="2994660" y="4069080"/>
            <a:ext cx="809244" cy="640080"/>
          </a:xfrm>
          <a:prstGeom prst="rect">
            <a:avLst/>
          </a:prstGeom>
          <a:solidFill>
            <a:srgbClr val="4A1F2E">
              <a:alpha val="47000"/>
            </a:srgbClr>
          </a:solidFill>
          <a:ln w="12700">
            <a:solidFill>
              <a:srgbClr val="8A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3" name="Text 80">
            <a:extLst>
              <a:ext uri="{FF2B5EF4-FFF2-40B4-BE49-F238E27FC236}">
                <a16:creationId xmlns:a16="http://schemas.microsoft.com/office/drawing/2014/main" id="{1BEEF668-6746-1DC9-25B1-CB11502837BE}"/>
              </a:ext>
            </a:extLst>
          </p:cNvPr>
          <p:cNvSpPr/>
          <p:nvPr/>
        </p:nvSpPr>
        <p:spPr>
          <a:xfrm>
            <a:off x="2994660" y="4069080"/>
            <a:ext cx="8092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CFD9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5</a:t>
            </a:r>
            <a:endParaRPr lang="en-US" sz="2000" dirty="0"/>
          </a:p>
        </p:txBody>
      </p:sp>
      <p:sp>
        <p:nvSpPr>
          <p:cNvPr id="944" name="Shape 81">
            <a:extLst>
              <a:ext uri="{FF2B5EF4-FFF2-40B4-BE49-F238E27FC236}">
                <a16:creationId xmlns:a16="http://schemas.microsoft.com/office/drawing/2014/main" id="{B4039F3B-995E-C303-5534-AA4C59CA532E}"/>
              </a:ext>
            </a:extLst>
          </p:cNvPr>
          <p:cNvSpPr/>
          <p:nvPr/>
        </p:nvSpPr>
        <p:spPr>
          <a:xfrm>
            <a:off x="3840480" y="4069080"/>
            <a:ext cx="809244" cy="640080"/>
          </a:xfrm>
          <a:prstGeom prst="rect">
            <a:avLst/>
          </a:prstGeom>
          <a:solidFill>
            <a:srgbClr val="0B1220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5" name="Text 82">
            <a:extLst>
              <a:ext uri="{FF2B5EF4-FFF2-40B4-BE49-F238E27FC236}">
                <a16:creationId xmlns:a16="http://schemas.microsoft.com/office/drawing/2014/main" id="{3E0C2047-DB2C-1472-6C4F-9BC46F74FE20}"/>
              </a:ext>
            </a:extLst>
          </p:cNvPr>
          <p:cNvSpPr/>
          <p:nvPr/>
        </p:nvSpPr>
        <p:spPr>
          <a:xfrm>
            <a:off x="3840480" y="4069080"/>
            <a:ext cx="8092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A92A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—</a:t>
            </a:r>
            <a:endParaRPr lang="en-US" sz="1400" dirty="0"/>
          </a:p>
        </p:txBody>
      </p:sp>
      <p:sp>
        <p:nvSpPr>
          <p:cNvPr id="946" name="Shape 83">
            <a:extLst>
              <a:ext uri="{FF2B5EF4-FFF2-40B4-BE49-F238E27FC236}">
                <a16:creationId xmlns:a16="http://schemas.microsoft.com/office/drawing/2014/main" id="{98AB176A-EB29-F386-FAB4-EF0005F0BB72}"/>
              </a:ext>
            </a:extLst>
          </p:cNvPr>
          <p:cNvSpPr/>
          <p:nvPr/>
        </p:nvSpPr>
        <p:spPr>
          <a:xfrm>
            <a:off x="4686300" y="4069080"/>
            <a:ext cx="809244" cy="640080"/>
          </a:xfrm>
          <a:prstGeom prst="rect">
            <a:avLst/>
          </a:prstGeom>
          <a:solidFill>
            <a:srgbClr val="0B1220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7" name="Text 84">
            <a:extLst>
              <a:ext uri="{FF2B5EF4-FFF2-40B4-BE49-F238E27FC236}">
                <a16:creationId xmlns:a16="http://schemas.microsoft.com/office/drawing/2014/main" id="{CD255175-224F-4D54-4B8F-10162D076EF3}"/>
              </a:ext>
            </a:extLst>
          </p:cNvPr>
          <p:cNvSpPr/>
          <p:nvPr/>
        </p:nvSpPr>
        <p:spPr>
          <a:xfrm>
            <a:off x="4686300" y="4069080"/>
            <a:ext cx="8092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A92A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—</a:t>
            </a:r>
            <a:endParaRPr lang="en-US" sz="1400" dirty="0"/>
          </a:p>
        </p:txBody>
      </p:sp>
      <p:sp>
        <p:nvSpPr>
          <p:cNvPr id="948" name="Shape 85">
            <a:extLst>
              <a:ext uri="{FF2B5EF4-FFF2-40B4-BE49-F238E27FC236}">
                <a16:creationId xmlns:a16="http://schemas.microsoft.com/office/drawing/2014/main" id="{296068CD-4C5E-5766-6E0F-DDD886365E8F}"/>
              </a:ext>
            </a:extLst>
          </p:cNvPr>
          <p:cNvSpPr/>
          <p:nvPr/>
        </p:nvSpPr>
        <p:spPr>
          <a:xfrm>
            <a:off x="5532120" y="4069080"/>
            <a:ext cx="809244" cy="640080"/>
          </a:xfrm>
          <a:prstGeom prst="rect">
            <a:avLst/>
          </a:prstGeom>
          <a:solidFill>
            <a:srgbClr val="0B1220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9" name="Text 86">
            <a:extLst>
              <a:ext uri="{FF2B5EF4-FFF2-40B4-BE49-F238E27FC236}">
                <a16:creationId xmlns:a16="http://schemas.microsoft.com/office/drawing/2014/main" id="{12A1B9CB-4C2F-457C-812D-7D58C1A6B29B}"/>
              </a:ext>
            </a:extLst>
          </p:cNvPr>
          <p:cNvSpPr/>
          <p:nvPr/>
        </p:nvSpPr>
        <p:spPr>
          <a:xfrm>
            <a:off x="5532120" y="4069080"/>
            <a:ext cx="8092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A92A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—</a:t>
            </a:r>
            <a:endParaRPr lang="en-US" sz="1400" dirty="0"/>
          </a:p>
        </p:txBody>
      </p:sp>
      <p:sp>
        <p:nvSpPr>
          <p:cNvPr id="950" name="Shape 87">
            <a:extLst>
              <a:ext uri="{FF2B5EF4-FFF2-40B4-BE49-F238E27FC236}">
                <a16:creationId xmlns:a16="http://schemas.microsoft.com/office/drawing/2014/main" id="{F9B1D60E-4F0B-2E69-2D39-93350786B8FB}"/>
              </a:ext>
            </a:extLst>
          </p:cNvPr>
          <p:cNvSpPr/>
          <p:nvPr/>
        </p:nvSpPr>
        <p:spPr>
          <a:xfrm>
            <a:off x="6377940" y="4069080"/>
            <a:ext cx="809244" cy="640080"/>
          </a:xfrm>
          <a:prstGeom prst="rect">
            <a:avLst/>
          </a:prstGeom>
          <a:solidFill>
            <a:srgbClr val="5E2C10">
              <a:alpha val="9000"/>
            </a:srgbClr>
          </a:solidFill>
          <a:ln w="12700">
            <a:solidFill>
              <a:srgbClr val="B05A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1" name="Text 88">
            <a:extLst>
              <a:ext uri="{FF2B5EF4-FFF2-40B4-BE49-F238E27FC236}">
                <a16:creationId xmlns:a16="http://schemas.microsoft.com/office/drawing/2014/main" id="{3C859198-24EA-77B1-64A6-C90E9C5B7FA6}"/>
              </a:ext>
            </a:extLst>
          </p:cNvPr>
          <p:cNvSpPr/>
          <p:nvPr/>
        </p:nvSpPr>
        <p:spPr>
          <a:xfrm>
            <a:off x="6377940" y="4069080"/>
            <a:ext cx="8092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1</a:t>
            </a:r>
            <a:endParaRPr lang="en-US" sz="2000" dirty="0"/>
          </a:p>
        </p:txBody>
      </p:sp>
      <p:sp>
        <p:nvSpPr>
          <p:cNvPr id="952" name="Shape 89">
            <a:extLst>
              <a:ext uri="{FF2B5EF4-FFF2-40B4-BE49-F238E27FC236}">
                <a16:creationId xmlns:a16="http://schemas.microsoft.com/office/drawing/2014/main" id="{2667F522-C352-2CC2-1289-626320DB78C5}"/>
              </a:ext>
            </a:extLst>
          </p:cNvPr>
          <p:cNvSpPr/>
          <p:nvPr/>
        </p:nvSpPr>
        <p:spPr>
          <a:xfrm>
            <a:off x="7223760" y="4069080"/>
            <a:ext cx="822960" cy="640080"/>
          </a:xfrm>
          <a:prstGeom prst="rect">
            <a:avLst/>
          </a:prstGeom>
          <a:solidFill>
            <a:srgbClr val="1A2540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3" name="Text 90">
            <a:extLst>
              <a:ext uri="{FF2B5EF4-FFF2-40B4-BE49-F238E27FC236}">
                <a16:creationId xmlns:a16="http://schemas.microsoft.com/office/drawing/2014/main" id="{2DE6B9C3-72FE-B5F6-1472-9C0257DF9E64}"/>
              </a:ext>
            </a:extLst>
          </p:cNvPr>
          <p:cNvSpPr/>
          <p:nvPr/>
        </p:nvSpPr>
        <p:spPr>
          <a:xfrm>
            <a:off x="7223760" y="40690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10</a:t>
            </a:r>
            <a:endParaRPr lang="en-US" sz="1800" dirty="0"/>
          </a:p>
        </p:txBody>
      </p:sp>
      <p:sp>
        <p:nvSpPr>
          <p:cNvPr id="954" name="Shape 91">
            <a:extLst>
              <a:ext uri="{FF2B5EF4-FFF2-40B4-BE49-F238E27FC236}">
                <a16:creationId xmlns:a16="http://schemas.microsoft.com/office/drawing/2014/main" id="{84CE9D85-837F-0525-F7A9-D2D0F6F32E10}"/>
              </a:ext>
            </a:extLst>
          </p:cNvPr>
          <p:cNvSpPr/>
          <p:nvPr/>
        </p:nvSpPr>
        <p:spPr>
          <a:xfrm>
            <a:off x="365760" y="4709160"/>
            <a:ext cx="1737360" cy="640080"/>
          </a:xfrm>
          <a:prstGeom prst="rect">
            <a:avLst/>
          </a:prstGeom>
          <a:solidFill>
            <a:srgbClr val="121C2E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5" name="Shape 92">
            <a:extLst>
              <a:ext uri="{FF2B5EF4-FFF2-40B4-BE49-F238E27FC236}">
                <a16:creationId xmlns:a16="http://schemas.microsoft.com/office/drawing/2014/main" id="{FF02A11A-204A-E262-6BEA-52358B44CDA7}"/>
              </a:ext>
            </a:extLst>
          </p:cNvPr>
          <p:cNvSpPr/>
          <p:nvPr/>
        </p:nvSpPr>
        <p:spPr>
          <a:xfrm>
            <a:off x="365760" y="4709160"/>
            <a:ext cx="54864" cy="640080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6" name="Text 93">
            <a:extLst>
              <a:ext uri="{FF2B5EF4-FFF2-40B4-BE49-F238E27FC236}">
                <a16:creationId xmlns:a16="http://schemas.microsoft.com/office/drawing/2014/main" id="{B470B96B-01B2-EF0F-DB62-E3F2C1B1BE3D}"/>
              </a:ext>
            </a:extLst>
          </p:cNvPr>
          <p:cNvSpPr/>
          <p:nvPr/>
        </p:nvSpPr>
        <p:spPr>
          <a:xfrm>
            <a:off x="475488" y="470916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T</a:t>
            </a:r>
            <a:endParaRPr lang="en-US" sz="2200" dirty="0"/>
          </a:p>
        </p:txBody>
      </p:sp>
      <p:sp>
        <p:nvSpPr>
          <p:cNvPr id="957" name="Text 94">
            <a:extLst>
              <a:ext uri="{FF2B5EF4-FFF2-40B4-BE49-F238E27FC236}">
                <a16:creationId xmlns:a16="http://schemas.microsoft.com/office/drawing/2014/main" id="{49F8250E-868F-2D27-184E-C82151005AC9}"/>
              </a:ext>
            </a:extLst>
          </p:cNvPr>
          <p:cNvSpPr/>
          <p:nvPr/>
        </p:nvSpPr>
        <p:spPr>
          <a:xfrm>
            <a:off x="822960" y="470916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Trade</a:t>
            </a:r>
            <a:endParaRPr lang="en-US" sz="1100" dirty="0"/>
          </a:p>
        </p:txBody>
      </p:sp>
      <p:sp>
        <p:nvSpPr>
          <p:cNvPr id="958" name="Shape 95">
            <a:extLst>
              <a:ext uri="{FF2B5EF4-FFF2-40B4-BE49-F238E27FC236}">
                <a16:creationId xmlns:a16="http://schemas.microsoft.com/office/drawing/2014/main" id="{16D4E3A8-5C9C-79F0-924F-4FF6AA9EBA59}"/>
              </a:ext>
            </a:extLst>
          </p:cNvPr>
          <p:cNvSpPr/>
          <p:nvPr/>
        </p:nvSpPr>
        <p:spPr>
          <a:xfrm>
            <a:off x="2148840" y="4709160"/>
            <a:ext cx="809244" cy="640080"/>
          </a:xfrm>
          <a:prstGeom prst="rect">
            <a:avLst/>
          </a:prstGeom>
          <a:solidFill>
            <a:srgbClr val="0B1220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9" name="Text 96">
            <a:extLst>
              <a:ext uri="{FF2B5EF4-FFF2-40B4-BE49-F238E27FC236}">
                <a16:creationId xmlns:a16="http://schemas.microsoft.com/office/drawing/2014/main" id="{574D2F43-BA30-9AE8-02DB-42E67E9B46B4}"/>
              </a:ext>
            </a:extLst>
          </p:cNvPr>
          <p:cNvSpPr/>
          <p:nvPr/>
        </p:nvSpPr>
        <p:spPr>
          <a:xfrm>
            <a:off x="2148840" y="4709160"/>
            <a:ext cx="8092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A92A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—</a:t>
            </a:r>
            <a:endParaRPr lang="en-US" sz="1400" dirty="0"/>
          </a:p>
        </p:txBody>
      </p:sp>
      <p:sp>
        <p:nvSpPr>
          <p:cNvPr id="256" name="Shape 97">
            <a:extLst>
              <a:ext uri="{FF2B5EF4-FFF2-40B4-BE49-F238E27FC236}">
                <a16:creationId xmlns:a16="http://schemas.microsoft.com/office/drawing/2014/main" id="{B246F510-583B-3B1D-E55B-ADAC956DBE0F}"/>
              </a:ext>
            </a:extLst>
          </p:cNvPr>
          <p:cNvSpPr/>
          <p:nvPr/>
        </p:nvSpPr>
        <p:spPr>
          <a:xfrm>
            <a:off x="2994660" y="4709160"/>
            <a:ext cx="809244" cy="640080"/>
          </a:xfrm>
          <a:prstGeom prst="rect">
            <a:avLst/>
          </a:prstGeom>
          <a:solidFill>
            <a:srgbClr val="0B1220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7" name="Text 98">
            <a:extLst>
              <a:ext uri="{FF2B5EF4-FFF2-40B4-BE49-F238E27FC236}">
                <a16:creationId xmlns:a16="http://schemas.microsoft.com/office/drawing/2014/main" id="{E3299B3F-C39D-6552-3B98-B9E8DFCEB371}"/>
              </a:ext>
            </a:extLst>
          </p:cNvPr>
          <p:cNvSpPr/>
          <p:nvPr/>
        </p:nvSpPr>
        <p:spPr>
          <a:xfrm>
            <a:off x="2994660" y="4709160"/>
            <a:ext cx="8092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A92A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—</a:t>
            </a:r>
            <a:endParaRPr lang="en-US" sz="1400" dirty="0"/>
          </a:p>
        </p:txBody>
      </p:sp>
      <p:sp>
        <p:nvSpPr>
          <p:cNvPr id="258" name="Shape 99">
            <a:extLst>
              <a:ext uri="{FF2B5EF4-FFF2-40B4-BE49-F238E27FC236}">
                <a16:creationId xmlns:a16="http://schemas.microsoft.com/office/drawing/2014/main" id="{F0A0075E-0E85-9A97-8B79-36E133B5AF75}"/>
              </a:ext>
            </a:extLst>
          </p:cNvPr>
          <p:cNvSpPr/>
          <p:nvPr/>
        </p:nvSpPr>
        <p:spPr>
          <a:xfrm>
            <a:off x="3840480" y="4709160"/>
            <a:ext cx="809244" cy="640080"/>
          </a:xfrm>
          <a:prstGeom prst="rect">
            <a:avLst/>
          </a:prstGeom>
          <a:solidFill>
            <a:srgbClr val="0B1220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9" name="Text 100">
            <a:extLst>
              <a:ext uri="{FF2B5EF4-FFF2-40B4-BE49-F238E27FC236}">
                <a16:creationId xmlns:a16="http://schemas.microsoft.com/office/drawing/2014/main" id="{7D8C89F9-E1B8-275F-A986-E4614FC76C8B}"/>
              </a:ext>
            </a:extLst>
          </p:cNvPr>
          <p:cNvSpPr/>
          <p:nvPr/>
        </p:nvSpPr>
        <p:spPr>
          <a:xfrm>
            <a:off x="3840480" y="4709160"/>
            <a:ext cx="8092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A92A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—</a:t>
            </a:r>
            <a:endParaRPr lang="en-US" sz="1400" dirty="0"/>
          </a:p>
        </p:txBody>
      </p:sp>
      <p:sp>
        <p:nvSpPr>
          <p:cNvPr id="260" name="Shape 101">
            <a:extLst>
              <a:ext uri="{FF2B5EF4-FFF2-40B4-BE49-F238E27FC236}">
                <a16:creationId xmlns:a16="http://schemas.microsoft.com/office/drawing/2014/main" id="{3C4882E9-642F-C011-7276-FEFFECC10186}"/>
              </a:ext>
            </a:extLst>
          </p:cNvPr>
          <p:cNvSpPr/>
          <p:nvPr/>
        </p:nvSpPr>
        <p:spPr>
          <a:xfrm>
            <a:off x="4686300" y="4709160"/>
            <a:ext cx="809244" cy="640080"/>
          </a:xfrm>
          <a:prstGeom prst="rect">
            <a:avLst/>
          </a:prstGeom>
          <a:solidFill>
            <a:srgbClr val="4A3414">
              <a:alpha val="95000"/>
            </a:srgbClr>
          </a:solidFill>
          <a:ln w="12700">
            <a:solidFill>
              <a:srgbClr val="8C6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1" name="Text 102">
            <a:extLst>
              <a:ext uri="{FF2B5EF4-FFF2-40B4-BE49-F238E27FC236}">
                <a16:creationId xmlns:a16="http://schemas.microsoft.com/office/drawing/2014/main" id="{9CAAA7DC-96BB-0E70-5D45-6092F3B1D96A}"/>
              </a:ext>
            </a:extLst>
          </p:cNvPr>
          <p:cNvSpPr/>
          <p:nvPr/>
        </p:nvSpPr>
        <p:spPr>
          <a:xfrm>
            <a:off x="4686300" y="4709160"/>
            <a:ext cx="8092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79E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10</a:t>
            </a:r>
            <a:endParaRPr lang="en-US" sz="2200" dirty="0"/>
          </a:p>
        </p:txBody>
      </p:sp>
      <p:sp>
        <p:nvSpPr>
          <p:cNvPr id="262" name="Shape 103">
            <a:extLst>
              <a:ext uri="{FF2B5EF4-FFF2-40B4-BE49-F238E27FC236}">
                <a16:creationId xmlns:a16="http://schemas.microsoft.com/office/drawing/2014/main" id="{5AE19B93-6F31-9F97-6156-CA8FCC1880E1}"/>
              </a:ext>
            </a:extLst>
          </p:cNvPr>
          <p:cNvSpPr/>
          <p:nvPr/>
        </p:nvSpPr>
        <p:spPr>
          <a:xfrm>
            <a:off x="5532120" y="4709160"/>
            <a:ext cx="809244" cy="640080"/>
          </a:xfrm>
          <a:prstGeom prst="rect">
            <a:avLst/>
          </a:prstGeom>
          <a:solidFill>
            <a:srgbClr val="0B1220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3" name="Text 104">
            <a:extLst>
              <a:ext uri="{FF2B5EF4-FFF2-40B4-BE49-F238E27FC236}">
                <a16:creationId xmlns:a16="http://schemas.microsoft.com/office/drawing/2014/main" id="{C780CBD3-0020-FA13-8A5A-DC2A9DC1D2DC}"/>
              </a:ext>
            </a:extLst>
          </p:cNvPr>
          <p:cNvSpPr/>
          <p:nvPr/>
        </p:nvSpPr>
        <p:spPr>
          <a:xfrm>
            <a:off x="5532120" y="4709160"/>
            <a:ext cx="8092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A92A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—</a:t>
            </a:r>
            <a:endParaRPr lang="en-US" sz="1400" dirty="0"/>
          </a:p>
        </p:txBody>
      </p:sp>
      <p:sp>
        <p:nvSpPr>
          <p:cNvPr id="264" name="Shape 105">
            <a:extLst>
              <a:ext uri="{FF2B5EF4-FFF2-40B4-BE49-F238E27FC236}">
                <a16:creationId xmlns:a16="http://schemas.microsoft.com/office/drawing/2014/main" id="{7DE3B6DB-ED9B-1D53-49EA-16D3901AC3D7}"/>
              </a:ext>
            </a:extLst>
          </p:cNvPr>
          <p:cNvSpPr/>
          <p:nvPr/>
        </p:nvSpPr>
        <p:spPr>
          <a:xfrm>
            <a:off x="6377940" y="4709160"/>
            <a:ext cx="809244" cy="640080"/>
          </a:xfrm>
          <a:prstGeom prst="rect">
            <a:avLst/>
          </a:prstGeom>
          <a:solidFill>
            <a:srgbClr val="0B1220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5" name="Text 106">
            <a:extLst>
              <a:ext uri="{FF2B5EF4-FFF2-40B4-BE49-F238E27FC236}">
                <a16:creationId xmlns:a16="http://schemas.microsoft.com/office/drawing/2014/main" id="{52DB6B82-E6D5-FC83-1007-5418A1FB1651}"/>
              </a:ext>
            </a:extLst>
          </p:cNvPr>
          <p:cNvSpPr/>
          <p:nvPr/>
        </p:nvSpPr>
        <p:spPr>
          <a:xfrm>
            <a:off x="6377940" y="4709160"/>
            <a:ext cx="8092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A92A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—</a:t>
            </a:r>
            <a:endParaRPr lang="en-US" sz="1400" dirty="0"/>
          </a:p>
        </p:txBody>
      </p:sp>
      <p:sp>
        <p:nvSpPr>
          <p:cNvPr id="266" name="Shape 107">
            <a:extLst>
              <a:ext uri="{FF2B5EF4-FFF2-40B4-BE49-F238E27FC236}">
                <a16:creationId xmlns:a16="http://schemas.microsoft.com/office/drawing/2014/main" id="{5FE1D62E-0621-24B5-5C3F-C781FDF5DFCD}"/>
              </a:ext>
            </a:extLst>
          </p:cNvPr>
          <p:cNvSpPr/>
          <p:nvPr/>
        </p:nvSpPr>
        <p:spPr>
          <a:xfrm>
            <a:off x="7223760" y="4709160"/>
            <a:ext cx="822960" cy="640080"/>
          </a:xfrm>
          <a:prstGeom prst="rect">
            <a:avLst/>
          </a:prstGeom>
          <a:solidFill>
            <a:srgbClr val="1A2540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7" name="Text 108">
            <a:extLst>
              <a:ext uri="{FF2B5EF4-FFF2-40B4-BE49-F238E27FC236}">
                <a16:creationId xmlns:a16="http://schemas.microsoft.com/office/drawing/2014/main" id="{0674B5FC-FD63-98C2-C7DD-9948E0DB9080}"/>
              </a:ext>
            </a:extLst>
          </p:cNvPr>
          <p:cNvSpPr/>
          <p:nvPr/>
        </p:nvSpPr>
        <p:spPr>
          <a:xfrm>
            <a:off x="7223760" y="47091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10</a:t>
            </a:r>
            <a:endParaRPr lang="en-US" sz="1800" dirty="0"/>
          </a:p>
        </p:txBody>
      </p:sp>
      <p:sp>
        <p:nvSpPr>
          <p:cNvPr id="268" name="Shape 109">
            <a:extLst>
              <a:ext uri="{FF2B5EF4-FFF2-40B4-BE49-F238E27FC236}">
                <a16:creationId xmlns:a16="http://schemas.microsoft.com/office/drawing/2014/main" id="{1339374B-321D-DA2A-F8BC-E2FE81AFDF1E}"/>
              </a:ext>
            </a:extLst>
          </p:cNvPr>
          <p:cNvSpPr/>
          <p:nvPr/>
        </p:nvSpPr>
        <p:spPr>
          <a:xfrm>
            <a:off x="365760" y="5349240"/>
            <a:ext cx="1737360" cy="502920"/>
          </a:xfrm>
          <a:prstGeom prst="rect">
            <a:avLst/>
          </a:prstGeom>
          <a:solidFill>
            <a:srgbClr val="1A2540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9" name="Text 110">
            <a:extLst>
              <a:ext uri="{FF2B5EF4-FFF2-40B4-BE49-F238E27FC236}">
                <a16:creationId xmlns:a16="http://schemas.microsoft.com/office/drawing/2014/main" id="{30756D38-EE28-F72F-F876-EFD4B0B0BE20}"/>
              </a:ext>
            </a:extLst>
          </p:cNvPr>
          <p:cNvSpPr/>
          <p:nvPr/>
        </p:nvSpPr>
        <p:spPr>
          <a:xfrm>
            <a:off x="365760" y="5349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TOTAL</a:t>
            </a:r>
            <a:endParaRPr lang="en-US" sz="1000" dirty="0"/>
          </a:p>
        </p:txBody>
      </p:sp>
      <p:sp>
        <p:nvSpPr>
          <p:cNvPr id="270" name="Shape 111">
            <a:extLst>
              <a:ext uri="{FF2B5EF4-FFF2-40B4-BE49-F238E27FC236}">
                <a16:creationId xmlns:a16="http://schemas.microsoft.com/office/drawing/2014/main" id="{B10576AD-00A4-A240-386A-9D10E93A58AE}"/>
              </a:ext>
            </a:extLst>
          </p:cNvPr>
          <p:cNvSpPr/>
          <p:nvPr/>
        </p:nvSpPr>
        <p:spPr>
          <a:xfrm>
            <a:off x="2148840" y="5349240"/>
            <a:ext cx="809244" cy="502920"/>
          </a:xfrm>
          <a:prstGeom prst="rect">
            <a:avLst/>
          </a:prstGeom>
          <a:solidFill>
            <a:srgbClr val="1F3055"/>
          </a:solidFill>
          <a:ln w="12700">
            <a:solidFill>
              <a:srgbClr val="4A6F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1" name="Text 112">
            <a:extLst>
              <a:ext uri="{FF2B5EF4-FFF2-40B4-BE49-F238E27FC236}">
                <a16:creationId xmlns:a16="http://schemas.microsoft.com/office/drawing/2014/main" id="{AD572E64-4C95-AE04-5E1B-1CAA0584968B}"/>
              </a:ext>
            </a:extLst>
          </p:cNvPr>
          <p:cNvSpPr/>
          <p:nvPr/>
        </p:nvSpPr>
        <p:spPr>
          <a:xfrm>
            <a:off x="2148840" y="5349240"/>
            <a:ext cx="8092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FD8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10</a:t>
            </a:r>
            <a:endParaRPr lang="en-US" sz="1600" dirty="0"/>
          </a:p>
        </p:txBody>
      </p:sp>
      <p:sp>
        <p:nvSpPr>
          <p:cNvPr id="272" name="Shape 113">
            <a:extLst>
              <a:ext uri="{FF2B5EF4-FFF2-40B4-BE49-F238E27FC236}">
                <a16:creationId xmlns:a16="http://schemas.microsoft.com/office/drawing/2014/main" id="{F1F09AAE-B6A2-96C0-3B97-8DB3EC622A07}"/>
              </a:ext>
            </a:extLst>
          </p:cNvPr>
          <p:cNvSpPr/>
          <p:nvPr/>
        </p:nvSpPr>
        <p:spPr>
          <a:xfrm>
            <a:off x="2994660" y="5349240"/>
            <a:ext cx="809244" cy="502920"/>
          </a:xfrm>
          <a:prstGeom prst="rect">
            <a:avLst/>
          </a:prstGeom>
          <a:solidFill>
            <a:srgbClr val="4A1F2E"/>
          </a:solidFill>
          <a:ln w="12700">
            <a:solidFill>
              <a:srgbClr val="8A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3" name="Text 114">
            <a:extLst>
              <a:ext uri="{FF2B5EF4-FFF2-40B4-BE49-F238E27FC236}">
                <a16:creationId xmlns:a16="http://schemas.microsoft.com/office/drawing/2014/main" id="{1AAD28E8-3CA4-60DC-007B-C5FC82ED28D9}"/>
              </a:ext>
            </a:extLst>
          </p:cNvPr>
          <p:cNvSpPr/>
          <p:nvPr/>
        </p:nvSpPr>
        <p:spPr>
          <a:xfrm>
            <a:off x="2994660" y="5349240"/>
            <a:ext cx="8092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FD9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8</a:t>
            </a:r>
            <a:endParaRPr lang="en-US" sz="1600" dirty="0"/>
          </a:p>
        </p:txBody>
      </p:sp>
      <p:sp>
        <p:nvSpPr>
          <p:cNvPr id="274" name="Shape 115">
            <a:extLst>
              <a:ext uri="{FF2B5EF4-FFF2-40B4-BE49-F238E27FC236}">
                <a16:creationId xmlns:a16="http://schemas.microsoft.com/office/drawing/2014/main" id="{194D2453-CAAD-C6FB-44FD-AF6606DD4908}"/>
              </a:ext>
            </a:extLst>
          </p:cNvPr>
          <p:cNvSpPr/>
          <p:nvPr/>
        </p:nvSpPr>
        <p:spPr>
          <a:xfrm>
            <a:off x="3840480" y="5349240"/>
            <a:ext cx="809244" cy="502920"/>
          </a:xfrm>
          <a:prstGeom prst="rect">
            <a:avLst/>
          </a:prstGeom>
          <a:solidFill>
            <a:srgbClr val="1F3A2A"/>
          </a:solidFill>
          <a:ln w="12700">
            <a:solidFill>
              <a:srgbClr val="458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5" name="Text 116">
            <a:extLst>
              <a:ext uri="{FF2B5EF4-FFF2-40B4-BE49-F238E27FC236}">
                <a16:creationId xmlns:a16="http://schemas.microsoft.com/office/drawing/2014/main" id="{84116515-BEC3-4445-4EA6-3294F93F6ADF}"/>
              </a:ext>
            </a:extLst>
          </p:cNvPr>
          <p:cNvSpPr/>
          <p:nvPr/>
        </p:nvSpPr>
        <p:spPr>
          <a:xfrm>
            <a:off x="3840480" y="5349240"/>
            <a:ext cx="8092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8E5C5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5</a:t>
            </a:r>
            <a:endParaRPr lang="en-US" sz="1600" dirty="0"/>
          </a:p>
        </p:txBody>
      </p:sp>
      <p:sp>
        <p:nvSpPr>
          <p:cNvPr id="276" name="Shape 117">
            <a:extLst>
              <a:ext uri="{FF2B5EF4-FFF2-40B4-BE49-F238E27FC236}">
                <a16:creationId xmlns:a16="http://schemas.microsoft.com/office/drawing/2014/main" id="{02E8C83A-C88F-048B-F71C-9110D1FC2FC0}"/>
              </a:ext>
            </a:extLst>
          </p:cNvPr>
          <p:cNvSpPr/>
          <p:nvPr/>
        </p:nvSpPr>
        <p:spPr>
          <a:xfrm>
            <a:off x="4686300" y="5349240"/>
            <a:ext cx="809244" cy="502920"/>
          </a:xfrm>
          <a:prstGeom prst="rect">
            <a:avLst/>
          </a:prstGeom>
          <a:solidFill>
            <a:srgbClr val="4A3414"/>
          </a:solidFill>
          <a:ln w="12700">
            <a:solidFill>
              <a:srgbClr val="8C6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7" name="Text 118">
            <a:extLst>
              <a:ext uri="{FF2B5EF4-FFF2-40B4-BE49-F238E27FC236}">
                <a16:creationId xmlns:a16="http://schemas.microsoft.com/office/drawing/2014/main" id="{BF51C564-B53A-FECE-3B9A-AC3D8130D2B3}"/>
              </a:ext>
            </a:extLst>
          </p:cNvPr>
          <p:cNvSpPr/>
          <p:nvPr/>
        </p:nvSpPr>
        <p:spPr>
          <a:xfrm>
            <a:off x="4686300" y="5349240"/>
            <a:ext cx="8092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79E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10</a:t>
            </a:r>
            <a:endParaRPr lang="en-US" sz="1600" dirty="0"/>
          </a:p>
        </p:txBody>
      </p:sp>
      <p:sp>
        <p:nvSpPr>
          <p:cNvPr id="278" name="Shape 119">
            <a:extLst>
              <a:ext uri="{FF2B5EF4-FFF2-40B4-BE49-F238E27FC236}">
                <a16:creationId xmlns:a16="http://schemas.microsoft.com/office/drawing/2014/main" id="{6B7DB183-E66F-6B17-6590-1B558D1BD0A4}"/>
              </a:ext>
            </a:extLst>
          </p:cNvPr>
          <p:cNvSpPr/>
          <p:nvPr/>
        </p:nvSpPr>
        <p:spPr>
          <a:xfrm>
            <a:off x="5532120" y="5349240"/>
            <a:ext cx="809244" cy="502920"/>
          </a:xfrm>
          <a:prstGeom prst="rect">
            <a:avLst/>
          </a:prstGeom>
          <a:solidFill>
            <a:srgbClr val="351F4D"/>
          </a:solidFill>
          <a:ln w="12700">
            <a:solidFill>
              <a:srgbClr val="6B45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9" name="Text 120">
            <a:extLst>
              <a:ext uri="{FF2B5EF4-FFF2-40B4-BE49-F238E27FC236}">
                <a16:creationId xmlns:a16="http://schemas.microsoft.com/office/drawing/2014/main" id="{ACA004F5-C07D-FC5B-3943-095AA20AD5BE}"/>
              </a:ext>
            </a:extLst>
          </p:cNvPr>
          <p:cNvSpPr/>
          <p:nvPr/>
        </p:nvSpPr>
        <p:spPr>
          <a:xfrm>
            <a:off x="5532120" y="5349240"/>
            <a:ext cx="8092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C0F2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2</a:t>
            </a:r>
            <a:endParaRPr lang="en-US" sz="1600" dirty="0"/>
          </a:p>
        </p:txBody>
      </p:sp>
      <p:sp>
        <p:nvSpPr>
          <p:cNvPr id="280" name="Shape 121">
            <a:extLst>
              <a:ext uri="{FF2B5EF4-FFF2-40B4-BE49-F238E27FC236}">
                <a16:creationId xmlns:a16="http://schemas.microsoft.com/office/drawing/2014/main" id="{120F455E-D520-8D33-90B3-E91C014F52C8}"/>
              </a:ext>
            </a:extLst>
          </p:cNvPr>
          <p:cNvSpPr/>
          <p:nvPr/>
        </p:nvSpPr>
        <p:spPr>
          <a:xfrm>
            <a:off x="6377940" y="5349240"/>
            <a:ext cx="809244" cy="502920"/>
          </a:xfrm>
          <a:prstGeom prst="rect">
            <a:avLst/>
          </a:prstGeom>
          <a:solidFill>
            <a:srgbClr val="5E2C10"/>
          </a:solidFill>
          <a:ln w="12700">
            <a:solidFill>
              <a:srgbClr val="B05A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1" name="Text 122">
            <a:extLst>
              <a:ext uri="{FF2B5EF4-FFF2-40B4-BE49-F238E27FC236}">
                <a16:creationId xmlns:a16="http://schemas.microsoft.com/office/drawing/2014/main" id="{25DDC2EC-5719-8F0F-9AD2-80D5F3E3EBA8}"/>
              </a:ext>
            </a:extLst>
          </p:cNvPr>
          <p:cNvSpPr/>
          <p:nvPr/>
        </p:nvSpPr>
        <p:spPr>
          <a:xfrm>
            <a:off x="6377940" y="5349240"/>
            <a:ext cx="8092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BA8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15</a:t>
            </a:r>
            <a:endParaRPr lang="en-US" sz="1600" dirty="0"/>
          </a:p>
        </p:txBody>
      </p:sp>
      <p:sp>
        <p:nvSpPr>
          <p:cNvPr id="282" name="Shape 123">
            <a:extLst>
              <a:ext uri="{FF2B5EF4-FFF2-40B4-BE49-F238E27FC236}">
                <a16:creationId xmlns:a16="http://schemas.microsoft.com/office/drawing/2014/main" id="{61E95575-A37B-854C-0110-063E1BF1253D}"/>
              </a:ext>
            </a:extLst>
          </p:cNvPr>
          <p:cNvSpPr/>
          <p:nvPr/>
        </p:nvSpPr>
        <p:spPr>
          <a:xfrm>
            <a:off x="7223760" y="5349240"/>
            <a:ext cx="822960" cy="502920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3" name="Text 124">
            <a:extLst>
              <a:ext uri="{FF2B5EF4-FFF2-40B4-BE49-F238E27FC236}">
                <a16:creationId xmlns:a16="http://schemas.microsoft.com/office/drawing/2014/main" id="{F2191566-EA61-9EE9-53A6-F6AD5BA8D8EA}"/>
              </a:ext>
            </a:extLst>
          </p:cNvPr>
          <p:cNvSpPr/>
          <p:nvPr/>
        </p:nvSpPr>
        <p:spPr>
          <a:xfrm>
            <a:off x="7223760" y="53492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220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50</a:t>
            </a:r>
            <a:endParaRPr lang="en-US" sz="2000" dirty="0"/>
          </a:p>
        </p:txBody>
      </p:sp>
      <p:sp>
        <p:nvSpPr>
          <p:cNvPr id="284" name="Text 125">
            <a:extLst>
              <a:ext uri="{FF2B5EF4-FFF2-40B4-BE49-F238E27FC236}">
                <a16:creationId xmlns:a16="http://schemas.microsoft.com/office/drawing/2014/main" id="{8AC15ACE-3CD5-ED24-4D45-A78B2388BDB6}"/>
              </a:ext>
            </a:extLst>
          </p:cNvPr>
          <p:cNvSpPr/>
          <p:nvPr/>
        </p:nvSpPr>
        <p:spPr>
          <a:xfrm>
            <a:off x="8321040" y="164592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WHAT THE DISTRIBUTION SHOWS</a:t>
            </a:r>
            <a:endParaRPr lang="en-US" sz="950" dirty="0"/>
          </a:p>
        </p:txBody>
      </p:sp>
      <p:sp>
        <p:nvSpPr>
          <p:cNvPr id="285" name="Shape 126">
            <a:extLst>
              <a:ext uri="{FF2B5EF4-FFF2-40B4-BE49-F238E27FC236}">
                <a16:creationId xmlns:a16="http://schemas.microsoft.com/office/drawing/2014/main" id="{203CDFCB-DF25-5D31-C81D-B3EF67715256}"/>
              </a:ext>
            </a:extLst>
          </p:cNvPr>
          <p:cNvSpPr/>
          <p:nvPr/>
        </p:nvSpPr>
        <p:spPr>
          <a:xfrm>
            <a:off x="8321040" y="1938528"/>
            <a:ext cx="3611880" cy="1078992"/>
          </a:xfrm>
          <a:prstGeom prst="rect">
            <a:avLst/>
          </a:prstGeom>
          <a:solidFill>
            <a:srgbClr val="121C2E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6" name="Shape 127">
            <a:extLst>
              <a:ext uri="{FF2B5EF4-FFF2-40B4-BE49-F238E27FC236}">
                <a16:creationId xmlns:a16="http://schemas.microsoft.com/office/drawing/2014/main" id="{0F3B4BAE-4C8F-06E1-1412-E8B29993C4F0}"/>
              </a:ext>
            </a:extLst>
          </p:cNvPr>
          <p:cNvSpPr/>
          <p:nvPr/>
        </p:nvSpPr>
        <p:spPr>
          <a:xfrm>
            <a:off x="8321040" y="1938528"/>
            <a:ext cx="54864" cy="1078992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7" name="Text 128">
            <a:extLst>
              <a:ext uri="{FF2B5EF4-FFF2-40B4-BE49-F238E27FC236}">
                <a16:creationId xmlns:a16="http://schemas.microsoft.com/office/drawing/2014/main" id="{0AC66FE2-3DA6-027E-7DD9-DE913F518B93}"/>
              </a:ext>
            </a:extLst>
          </p:cNvPr>
          <p:cNvSpPr/>
          <p:nvPr/>
        </p:nvSpPr>
        <p:spPr>
          <a:xfrm>
            <a:off x="8458200" y="2011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1</a:t>
            </a:r>
            <a:endParaRPr lang="en-US" sz="1600" dirty="0"/>
          </a:p>
        </p:txBody>
      </p:sp>
      <p:sp>
        <p:nvSpPr>
          <p:cNvPr id="288" name="Text 129">
            <a:extLst>
              <a:ext uri="{FF2B5EF4-FFF2-40B4-BE49-F238E27FC236}">
                <a16:creationId xmlns:a16="http://schemas.microsoft.com/office/drawing/2014/main" id="{949E7B3D-C61A-81C6-B7C7-25E06C890335}"/>
              </a:ext>
            </a:extLst>
          </p:cNvPr>
          <p:cNvSpPr/>
          <p:nvPr/>
        </p:nvSpPr>
        <p:spPr>
          <a:xfrm>
            <a:off x="8823960" y="20299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Two domains map to a single surface</a:t>
            </a:r>
            <a:endParaRPr lang="en-US" sz="1050" dirty="0"/>
          </a:p>
        </p:txBody>
      </p:sp>
      <p:sp>
        <p:nvSpPr>
          <p:cNvPr id="289" name="Text 130">
            <a:extLst>
              <a:ext uri="{FF2B5EF4-FFF2-40B4-BE49-F238E27FC236}">
                <a16:creationId xmlns:a16="http://schemas.microsoft.com/office/drawing/2014/main" id="{F6C9BA43-E373-7B60-6A53-235007109785}"/>
              </a:ext>
            </a:extLst>
          </p:cNvPr>
          <p:cNvSpPr/>
          <p:nvPr/>
        </p:nvSpPr>
        <p:spPr>
          <a:xfrm>
            <a:off x="8823960" y="2350008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Operations the domain is 100% on Operations the surface. Trade &amp; Economy is 100% on Value. Those domains ARE their surface — they're not cross-cutting concerns.</a:t>
            </a:r>
            <a:endParaRPr lang="en-US" sz="880" dirty="0"/>
          </a:p>
        </p:txBody>
      </p:sp>
      <p:sp>
        <p:nvSpPr>
          <p:cNvPr id="290" name="Shape 131">
            <a:extLst>
              <a:ext uri="{FF2B5EF4-FFF2-40B4-BE49-F238E27FC236}">
                <a16:creationId xmlns:a16="http://schemas.microsoft.com/office/drawing/2014/main" id="{770401DC-D991-B8C2-DE63-45186ACA2445}"/>
              </a:ext>
            </a:extLst>
          </p:cNvPr>
          <p:cNvSpPr/>
          <p:nvPr/>
        </p:nvSpPr>
        <p:spPr>
          <a:xfrm>
            <a:off x="8321040" y="3081528"/>
            <a:ext cx="3611880" cy="1078992"/>
          </a:xfrm>
          <a:prstGeom prst="rect">
            <a:avLst/>
          </a:prstGeom>
          <a:solidFill>
            <a:srgbClr val="121C2E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1" name="Shape 132">
            <a:extLst>
              <a:ext uri="{FF2B5EF4-FFF2-40B4-BE49-F238E27FC236}">
                <a16:creationId xmlns:a16="http://schemas.microsoft.com/office/drawing/2014/main" id="{25869F22-4BB1-FA23-7896-9221E9E9063B}"/>
              </a:ext>
            </a:extLst>
          </p:cNvPr>
          <p:cNvSpPr/>
          <p:nvPr/>
        </p:nvSpPr>
        <p:spPr>
          <a:xfrm>
            <a:off x="8321040" y="3081528"/>
            <a:ext cx="54864" cy="1078992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2" name="Text 133">
            <a:extLst>
              <a:ext uri="{FF2B5EF4-FFF2-40B4-BE49-F238E27FC236}">
                <a16:creationId xmlns:a16="http://schemas.microsoft.com/office/drawing/2014/main" id="{6A3DBCA0-0822-AE12-3FCD-099215868542}"/>
              </a:ext>
            </a:extLst>
          </p:cNvPr>
          <p:cNvSpPr/>
          <p:nvPr/>
        </p:nvSpPr>
        <p:spPr>
          <a:xfrm>
            <a:off x="8458200" y="3154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2</a:t>
            </a:r>
            <a:endParaRPr lang="en-US" sz="1600" dirty="0"/>
          </a:p>
        </p:txBody>
      </p:sp>
      <p:sp>
        <p:nvSpPr>
          <p:cNvPr id="293" name="Text 134">
            <a:extLst>
              <a:ext uri="{FF2B5EF4-FFF2-40B4-BE49-F238E27FC236}">
                <a16:creationId xmlns:a16="http://schemas.microsoft.com/office/drawing/2014/main" id="{9412EE2A-004B-2804-9402-020CAE8DECEE}"/>
              </a:ext>
            </a:extLst>
          </p:cNvPr>
          <p:cNvSpPr/>
          <p:nvPr/>
        </p:nvSpPr>
        <p:spPr>
          <a:xfrm>
            <a:off x="8823960" y="31729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Three domains are cross-cutting</a:t>
            </a:r>
            <a:endParaRPr lang="en-US" sz="1050" dirty="0"/>
          </a:p>
        </p:txBody>
      </p:sp>
      <p:sp>
        <p:nvSpPr>
          <p:cNvPr id="294" name="Text 135">
            <a:extLst>
              <a:ext uri="{FF2B5EF4-FFF2-40B4-BE49-F238E27FC236}">
                <a16:creationId xmlns:a16="http://schemas.microsoft.com/office/drawing/2014/main" id="{CC11D0DD-E100-9D0E-4BEB-05731D923044}"/>
              </a:ext>
            </a:extLst>
          </p:cNvPr>
          <p:cNvSpPr/>
          <p:nvPr/>
        </p:nvSpPr>
        <p:spPr>
          <a:xfrm>
            <a:off x="8823960" y="3493008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Gameplay, Harm &amp; Safety, and Social Systems each span multiple surfaces. A G-domain invariant might live on User OR Environment OR Operations.</a:t>
            </a:r>
            <a:endParaRPr lang="en-US" sz="880" dirty="0"/>
          </a:p>
        </p:txBody>
      </p:sp>
      <p:sp>
        <p:nvSpPr>
          <p:cNvPr id="306" name="Text 146">
            <a:extLst>
              <a:ext uri="{FF2B5EF4-FFF2-40B4-BE49-F238E27FC236}">
                <a16:creationId xmlns:a16="http://schemas.microsoft.com/office/drawing/2014/main" id="{CD1252AA-6180-716D-FEDB-AADB782E6FCE}"/>
              </a:ext>
            </a:extLst>
          </p:cNvPr>
          <p:cNvSpPr/>
          <p:nvPr/>
        </p:nvSpPr>
        <p:spPr>
          <a:xfrm>
            <a:off x="365760" y="6537960"/>
            <a:ext cx="11475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i="1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One artifact, two pivots. Domain answers what it protects. Surface answers where it lives.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28449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>
          <a:extLst>
            <a:ext uri="{FF2B5EF4-FFF2-40B4-BE49-F238E27FC236}">
              <a16:creationId xmlns:a16="http://schemas.microsoft.com/office/drawing/2014/main" id="{886C60C3-0DBC-253F-B90C-9BBF16F3E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D5A66753-C68A-5FBC-642A-5E1DCCDFEEA4}"/>
              </a:ext>
            </a:extLst>
          </p:cNvPr>
          <p:cNvSpPr/>
          <p:nvPr/>
        </p:nvSpPr>
        <p:spPr>
          <a:xfrm>
            <a:off x="457200" y="18288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How to operationalize</a:t>
            </a:r>
            <a:endParaRPr lang="en-US" sz="44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1D6E283-6C4F-3455-705B-3BCD5898FDC1}"/>
              </a:ext>
            </a:extLst>
          </p:cNvPr>
          <p:cNvSpPr/>
          <p:nvPr/>
        </p:nvSpPr>
        <p:spPr>
          <a:xfrm>
            <a:off x="457200" y="2697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dirty="0">
                <a:solidFill>
                  <a:srgbClr val="FFFFFF"/>
                </a:solidFill>
                <a:latin typeface="Overpass Black" pitchFamily="34" charset="0"/>
              </a:rPr>
              <a:t>the Invariants.</a:t>
            </a: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2A402392-6287-2204-E6EB-9BEA6EAF12BF}"/>
              </a:ext>
            </a:extLst>
          </p:cNvPr>
          <p:cNvSpPr/>
          <p:nvPr/>
        </p:nvSpPr>
        <p:spPr>
          <a:xfrm>
            <a:off x="457200" y="4023360"/>
            <a:ext cx="548640" cy="36576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D2A8B74-1238-E896-6DD5-EB989F90EEAB}"/>
              </a:ext>
            </a:extLst>
          </p:cNvPr>
          <p:cNvSpPr/>
          <p:nvPr/>
        </p:nvSpPr>
        <p:spPr>
          <a:xfrm>
            <a:off x="457200" y="42519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The approach is:</a:t>
            </a:r>
            <a:endParaRPr lang="en-US" sz="24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C2C1B9A-18DF-324D-0CDA-6EEA2D237B12}"/>
              </a:ext>
            </a:extLst>
          </p:cNvPr>
          <p:cNvSpPr/>
          <p:nvPr/>
        </p:nvSpPr>
        <p:spPr>
          <a:xfrm>
            <a:off x="457200" y="480060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Test-Driven Threat Modeling</a:t>
            </a:r>
            <a:endParaRPr lang="en-US" sz="6000" dirty="0"/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30934C8C-2F11-EF48-0A08-E56FDEB754A5}"/>
              </a:ext>
            </a:extLst>
          </p:cNvPr>
          <p:cNvSpPr/>
          <p:nvPr/>
        </p:nvSpPr>
        <p:spPr>
          <a:xfrm>
            <a:off x="411480" y="22100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G.H.O.S.T  |  HOW WE MODEL THREATS</a:t>
            </a:r>
            <a:endParaRPr 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27160381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>
          <a:extLst>
            <a:ext uri="{FF2B5EF4-FFF2-40B4-BE49-F238E27FC236}">
              <a16:creationId xmlns:a16="http://schemas.microsoft.com/office/drawing/2014/main" id="{5D6ABE01-0C7C-610C-860A-0E8BDD531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0">
            <a:extLst>
              <a:ext uri="{FF2B5EF4-FFF2-40B4-BE49-F238E27FC236}">
                <a16:creationId xmlns:a16="http://schemas.microsoft.com/office/drawing/2014/main" id="{FCC47313-0A3C-9EB9-EDE2-E6153B39DB06}"/>
              </a:ext>
            </a:extLst>
          </p:cNvPr>
          <p:cNvSpPr/>
          <p:nvPr/>
        </p:nvSpPr>
        <p:spPr>
          <a:xfrm>
            <a:off x="411480" y="22100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G.H.O.S.T  |  THE OPERATIONALIZATION</a:t>
            </a:r>
            <a:endParaRPr lang="en-US" sz="1000" b="1" dirty="0"/>
          </a:p>
        </p:txBody>
      </p:sp>
      <p:sp>
        <p:nvSpPr>
          <p:cNvPr id="2" name="Google Shape;315;p47">
            <a:extLst>
              <a:ext uri="{FF2B5EF4-FFF2-40B4-BE49-F238E27FC236}">
                <a16:creationId xmlns:a16="http://schemas.microsoft.com/office/drawing/2014/main" id="{0250C7B4-5DE5-E6F0-DE85-290C86F69BA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71399" y="590500"/>
            <a:ext cx="10176705" cy="304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Test-Driven Threat Modeling (TDTM)</a:t>
            </a:r>
            <a:endParaRPr sz="3200" dirty="0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A5AE6366-4B8C-3CB7-D636-87063E843D65}"/>
              </a:ext>
            </a:extLst>
          </p:cNvPr>
          <p:cNvSpPr/>
          <p:nvPr/>
        </p:nvSpPr>
        <p:spPr>
          <a:xfrm>
            <a:off x="365760" y="1078992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Tests bind invariants to telemetry to threats. Walk the chain forward to design defenses. Walk it back to investigate incidents.</a:t>
            </a:r>
            <a:endParaRPr lang="en-US" dirty="0"/>
          </a:p>
        </p:txBody>
      </p:sp>
      <p:sp>
        <p:nvSpPr>
          <p:cNvPr id="120" name="Text 5">
            <a:extLst>
              <a:ext uri="{FF2B5EF4-FFF2-40B4-BE49-F238E27FC236}">
                <a16:creationId xmlns:a16="http://schemas.microsoft.com/office/drawing/2014/main" id="{29E2A6FE-AF17-EB70-9EB6-3D19A21D01E7}"/>
              </a:ext>
            </a:extLst>
          </p:cNvPr>
          <p:cNvSpPr/>
          <p:nvPr/>
        </p:nvSpPr>
        <p:spPr>
          <a:xfrm>
            <a:off x="365760" y="1691640"/>
            <a:ext cx="1152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→  FORWARD: design defenses (invariant → tests → threats caught)</a:t>
            </a:r>
            <a:endParaRPr lang="en-US" sz="1400" dirty="0"/>
          </a:p>
        </p:txBody>
      </p:sp>
      <p:sp>
        <p:nvSpPr>
          <p:cNvPr id="121" name="Text 6">
            <a:extLst>
              <a:ext uri="{FF2B5EF4-FFF2-40B4-BE49-F238E27FC236}">
                <a16:creationId xmlns:a16="http://schemas.microsoft.com/office/drawing/2014/main" id="{F87D826A-5C62-5F88-F3CE-B18C586072CA}"/>
              </a:ext>
            </a:extLst>
          </p:cNvPr>
          <p:cNvSpPr/>
          <p:nvPr/>
        </p:nvSpPr>
        <p:spPr>
          <a:xfrm>
            <a:off x="365760" y="6172200"/>
            <a:ext cx="1152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F0A04B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←  REVERSE: investigate incidents (threat seen → test that fires → invariant violated)</a:t>
            </a:r>
            <a:endParaRPr lang="en-US" sz="1400" dirty="0"/>
          </a:p>
        </p:txBody>
      </p:sp>
      <p:sp>
        <p:nvSpPr>
          <p:cNvPr id="122" name="Text 7">
            <a:extLst>
              <a:ext uri="{FF2B5EF4-FFF2-40B4-BE49-F238E27FC236}">
                <a16:creationId xmlns:a16="http://schemas.microsoft.com/office/drawing/2014/main" id="{D24CB3CF-FF33-DBCB-F34A-0826734D4EDB}"/>
              </a:ext>
            </a:extLst>
          </p:cNvPr>
          <p:cNvSpPr/>
          <p:nvPr/>
        </p:nvSpPr>
        <p:spPr>
          <a:xfrm>
            <a:off x="365760" y="20116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3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01</a:t>
            </a:r>
            <a:endParaRPr lang="en-US" dirty="0"/>
          </a:p>
        </p:txBody>
      </p:sp>
      <p:sp>
        <p:nvSpPr>
          <p:cNvPr id="123" name="Text 8">
            <a:extLst>
              <a:ext uri="{FF2B5EF4-FFF2-40B4-BE49-F238E27FC236}">
                <a16:creationId xmlns:a16="http://schemas.microsoft.com/office/drawing/2014/main" id="{E6AE81AD-40CF-685B-0458-FB6C6E47F15B}"/>
              </a:ext>
            </a:extLst>
          </p:cNvPr>
          <p:cNvSpPr/>
          <p:nvPr/>
        </p:nvSpPr>
        <p:spPr>
          <a:xfrm>
            <a:off x="868680" y="1975104"/>
            <a:ext cx="22379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INVARIANT</a:t>
            </a:r>
            <a:endParaRPr lang="en-US" sz="1400" dirty="0"/>
          </a:p>
        </p:txBody>
      </p:sp>
      <p:sp>
        <p:nvSpPr>
          <p:cNvPr id="124" name="Text 9">
            <a:extLst>
              <a:ext uri="{FF2B5EF4-FFF2-40B4-BE49-F238E27FC236}">
                <a16:creationId xmlns:a16="http://schemas.microsoft.com/office/drawing/2014/main" id="{06B0612D-1DA3-FC7B-05EA-E441CB8C274D}"/>
              </a:ext>
            </a:extLst>
          </p:cNvPr>
          <p:cNvSpPr/>
          <p:nvPr/>
        </p:nvSpPr>
        <p:spPr>
          <a:xfrm>
            <a:off x="365760" y="2304288"/>
            <a:ext cx="27866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What must hold?</a:t>
            </a:r>
            <a:endParaRPr lang="en-US" sz="950" dirty="0"/>
          </a:p>
        </p:txBody>
      </p:sp>
      <p:sp>
        <p:nvSpPr>
          <p:cNvPr id="125" name="Text 10">
            <a:extLst>
              <a:ext uri="{FF2B5EF4-FFF2-40B4-BE49-F238E27FC236}">
                <a16:creationId xmlns:a16="http://schemas.microsoft.com/office/drawing/2014/main" id="{9A3E30CA-6538-7511-044E-AF00DD2F9C37}"/>
              </a:ext>
            </a:extLst>
          </p:cNvPr>
          <p:cNvSpPr/>
          <p:nvPr/>
        </p:nvSpPr>
        <p:spPr>
          <a:xfrm>
            <a:off x="3262122" y="20116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3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02</a:t>
            </a:r>
            <a:endParaRPr lang="en-US" dirty="0"/>
          </a:p>
        </p:txBody>
      </p:sp>
      <p:sp>
        <p:nvSpPr>
          <p:cNvPr id="126" name="Text 11">
            <a:extLst>
              <a:ext uri="{FF2B5EF4-FFF2-40B4-BE49-F238E27FC236}">
                <a16:creationId xmlns:a16="http://schemas.microsoft.com/office/drawing/2014/main" id="{FDE11907-1A8C-AFC2-4A3B-A4FB924761EA}"/>
              </a:ext>
            </a:extLst>
          </p:cNvPr>
          <p:cNvSpPr/>
          <p:nvPr/>
        </p:nvSpPr>
        <p:spPr>
          <a:xfrm>
            <a:off x="3765042" y="1975104"/>
            <a:ext cx="22379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TELEMETRY</a:t>
            </a:r>
            <a:endParaRPr lang="en-US" sz="1400" dirty="0"/>
          </a:p>
        </p:txBody>
      </p:sp>
      <p:sp>
        <p:nvSpPr>
          <p:cNvPr id="127" name="Text 12">
            <a:extLst>
              <a:ext uri="{FF2B5EF4-FFF2-40B4-BE49-F238E27FC236}">
                <a16:creationId xmlns:a16="http://schemas.microsoft.com/office/drawing/2014/main" id="{8E429382-A50B-D5D8-9DBA-ACD4D3A2B77A}"/>
              </a:ext>
            </a:extLst>
          </p:cNvPr>
          <p:cNvSpPr/>
          <p:nvPr/>
        </p:nvSpPr>
        <p:spPr>
          <a:xfrm>
            <a:off x="3262122" y="2304288"/>
            <a:ext cx="27866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What do we measure?</a:t>
            </a:r>
            <a:endParaRPr lang="en-US" sz="950" dirty="0"/>
          </a:p>
        </p:txBody>
      </p:sp>
      <p:sp>
        <p:nvSpPr>
          <p:cNvPr id="128" name="Text 13">
            <a:extLst>
              <a:ext uri="{FF2B5EF4-FFF2-40B4-BE49-F238E27FC236}">
                <a16:creationId xmlns:a16="http://schemas.microsoft.com/office/drawing/2014/main" id="{1DBCD330-F20A-B974-6C54-45241DABD4B3}"/>
              </a:ext>
            </a:extLst>
          </p:cNvPr>
          <p:cNvSpPr/>
          <p:nvPr/>
        </p:nvSpPr>
        <p:spPr>
          <a:xfrm>
            <a:off x="6158484" y="20116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300" dirty="0">
                <a:solidFill>
                  <a:srgbClr val="F0A04B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03</a:t>
            </a:r>
            <a:endParaRPr lang="en-US" dirty="0"/>
          </a:p>
        </p:txBody>
      </p:sp>
      <p:sp>
        <p:nvSpPr>
          <p:cNvPr id="129" name="Text 14">
            <a:extLst>
              <a:ext uri="{FF2B5EF4-FFF2-40B4-BE49-F238E27FC236}">
                <a16:creationId xmlns:a16="http://schemas.microsoft.com/office/drawing/2014/main" id="{7FF0EBFA-BAC0-876E-0E8A-1B8938E6BF4C}"/>
              </a:ext>
            </a:extLst>
          </p:cNvPr>
          <p:cNvSpPr/>
          <p:nvPr/>
        </p:nvSpPr>
        <p:spPr>
          <a:xfrm>
            <a:off x="6661404" y="1975104"/>
            <a:ext cx="22379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TESTS</a:t>
            </a:r>
            <a:endParaRPr lang="en-US" sz="1400" dirty="0"/>
          </a:p>
        </p:txBody>
      </p:sp>
      <p:sp>
        <p:nvSpPr>
          <p:cNvPr id="130" name="Text 15">
            <a:extLst>
              <a:ext uri="{FF2B5EF4-FFF2-40B4-BE49-F238E27FC236}">
                <a16:creationId xmlns:a16="http://schemas.microsoft.com/office/drawing/2014/main" id="{5E9FA6DC-E005-4DBC-EFD8-FD2D4B863F6F}"/>
              </a:ext>
            </a:extLst>
          </p:cNvPr>
          <p:cNvSpPr/>
          <p:nvPr/>
        </p:nvSpPr>
        <p:spPr>
          <a:xfrm>
            <a:off x="6158484" y="2304288"/>
            <a:ext cx="27866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How do we know it works?</a:t>
            </a:r>
            <a:endParaRPr lang="en-US" sz="950" dirty="0"/>
          </a:p>
        </p:txBody>
      </p:sp>
      <p:sp>
        <p:nvSpPr>
          <p:cNvPr id="131" name="Text 16">
            <a:extLst>
              <a:ext uri="{FF2B5EF4-FFF2-40B4-BE49-F238E27FC236}">
                <a16:creationId xmlns:a16="http://schemas.microsoft.com/office/drawing/2014/main" id="{C5174862-A5E1-E19C-F22E-F34B94990B78}"/>
              </a:ext>
            </a:extLst>
          </p:cNvPr>
          <p:cNvSpPr/>
          <p:nvPr/>
        </p:nvSpPr>
        <p:spPr>
          <a:xfrm>
            <a:off x="9054846" y="20116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3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04</a:t>
            </a:r>
            <a:endParaRPr lang="en-US" dirty="0"/>
          </a:p>
        </p:txBody>
      </p:sp>
      <p:sp>
        <p:nvSpPr>
          <p:cNvPr id="132" name="Text 17">
            <a:extLst>
              <a:ext uri="{FF2B5EF4-FFF2-40B4-BE49-F238E27FC236}">
                <a16:creationId xmlns:a16="http://schemas.microsoft.com/office/drawing/2014/main" id="{DEB6094F-45AC-C96A-76AE-755920DD256A}"/>
              </a:ext>
            </a:extLst>
          </p:cNvPr>
          <p:cNvSpPr/>
          <p:nvPr/>
        </p:nvSpPr>
        <p:spPr>
          <a:xfrm>
            <a:off x="9557766" y="1975104"/>
            <a:ext cx="22379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THREATS</a:t>
            </a:r>
            <a:endParaRPr lang="en-US" sz="1400" dirty="0"/>
          </a:p>
        </p:txBody>
      </p:sp>
      <p:sp>
        <p:nvSpPr>
          <p:cNvPr id="133" name="Text 18">
            <a:extLst>
              <a:ext uri="{FF2B5EF4-FFF2-40B4-BE49-F238E27FC236}">
                <a16:creationId xmlns:a16="http://schemas.microsoft.com/office/drawing/2014/main" id="{37561065-D87D-6254-C8A4-CE64D99233B2}"/>
              </a:ext>
            </a:extLst>
          </p:cNvPr>
          <p:cNvSpPr/>
          <p:nvPr/>
        </p:nvSpPr>
        <p:spPr>
          <a:xfrm>
            <a:off x="9054846" y="2304288"/>
            <a:ext cx="27866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What do we catch?</a:t>
            </a:r>
            <a:endParaRPr lang="en-US" sz="950" dirty="0"/>
          </a:p>
        </p:txBody>
      </p:sp>
      <p:sp>
        <p:nvSpPr>
          <p:cNvPr id="134" name="Shape 19">
            <a:extLst>
              <a:ext uri="{FF2B5EF4-FFF2-40B4-BE49-F238E27FC236}">
                <a16:creationId xmlns:a16="http://schemas.microsoft.com/office/drawing/2014/main" id="{083ABAEA-A258-FCD8-AC77-653E5E115774}"/>
              </a:ext>
            </a:extLst>
          </p:cNvPr>
          <p:cNvSpPr/>
          <p:nvPr/>
        </p:nvSpPr>
        <p:spPr>
          <a:xfrm>
            <a:off x="365760" y="2670048"/>
            <a:ext cx="2786634" cy="3246120"/>
          </a:xfrm>
          <a:prstGeom prst="rect">
            <a:avLst/>
          </a:prstGeom>
          <a:solidFill>
            <a:srgbClr val="121C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20">
            <a:extLst>
              <a:ext uri="{FF2B5EF4-FFF2-40B4-BE49-F238E27FC236}">
                <a16:creationId xmlns:a16="http://schemas.microsoft.com/office/drawing/2014/main" id="{AD21413A-7438-F755-4C07-09C43484E802}"/>
              </a:ext>
            </a:extLst>
          </p:cNvPr>
          <p:cNvSpPr/>
          <p:nvPr/>
        </p:nvSpPr>
        <p:spPr>
          <a:xfrm>
            <a:off x="365760" y="2670048"/>
            <a:ext cx="54864" cy="3246120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21">
            <a:extLst>
              <a:ext uri="{FF2B5EF4-FFF2-40B4-BE49-F238E27FC236}">
                <a16:creationId xmlns:a16="http://schemas.microsoft.com/office/drawing/2014/main" id="{0499127E-BF1F-E23F-5B4C-88C8D745BB09}"/>
              </a:ext>
            </a:extLst>
          </p:cNvPr>
          <p:cNvSpPr/>
          <p:nvPr/>
        </p:nvSpPr>
        <p:spPr>
          <a:xfrm>
            <a:off x="3262122" y="2670048"/>
            <a:ext cx="2786634" cy="3246120"/>
          </a:xfrm>
          <a:prstGeom prst="rect">
            <a:avLst/>
          </a:prstGeom>
          <a:solidFill>
            <a:srgbClr val="121C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22">
            <a:extLst>
              <a:ext uri="{FF2B5EF4-FFF2-40B4-BE49-F238E27FC236}">
                <a16:creationId xmlns:a16="http://schemas.microsoft.com/office/drawing/2014/main" id="{9D7CC4B0-6014-0CB8-59E2-7E0A21B2344B}"/>
              </a:ext>
            </a:extLst>
          </p:cNvPr>
          <p:cNvSpPr/>
          <p:nvPr/>
        </p:nvSpPr>
        <p:spPr>
          <a:xfrm>
            <a:off x="3262122" y="2670048"/>
            <a:ext cx="54864" cy="3246120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23">
            <a:extLst>
              <a:ext uri="{FF2B5EF4-FFF2-40B4-BE49-F238E27FC236}">
                <a16:creationId xmlns:a16="http://schemas.microsoft.com/office/drawing/2014/main" id="{963DA0D2-3E4D-C876-0A44-E115B727CC85}"/>
              </a:ext>
            </a:extLst>
          </p:cNvPr>
          <p:cNvSpPr/>
          <p:nvPr/>
        </p:nvSpPr>
        <p:spPr>
          <a:xfrm>
            <a:off x="6158484" y="2670048"/>
            <a:ext cx="2786634" cy="3246120"/>
          </a:xfrm>
          <a:prstGeom prst="rect">
            <a:avLst/>
          </a:prstGeom>
          <a:solidFill>
            <a:srgbClr val="121C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24">
            <a:extLst>
              <a:ext uri="{FF2B5EF4-FFF2-40B4-BE49-F238E27FC236}">
                <a16:creationId xmlns:a16="http://schemas.microsoft.com/office/drawing/2014/main" id="{662198F0-2562-0D63-C70A-0BAAEFFD2537}"/>
              </a:ext>
            </a:extLst>
          </p:cNvPr>
          <p:cNvSpPr/>
          <p:nvPr/>
        </p:nvSpPr>
        <p:spPr>
          <a:xfrm>
            <a:off x="6158484" y="2670048"/>
            <a:ext cx="54864" cy="3246120"/>
          </a:xfrm>
          <a:prstGeom prst="rect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25">
            <a:extLst>
              <a:ext uri="{FF2B5EF4-FFF2-40B4-BE49-F238E27FC236}">
                <a16:creationId xmlns:a16="http://schemas.microsoft.com/office/drawing/2014/main" id="{EE7C5F4E-C2D1-695C-EEF1-36FDB1D7D63F}"/>
              </a:ext>
            </a:extLst>
          </p:cNvPr>
          <p:cNvSpPr/>
          <p:nvPr/>
        </p:nvSpPr>
        <p:spPr>
          <a:xfrm>
            <a:off x="9054846" y="2670048"/>
            <a:ext cx="2786634" cy="3246120"/>
          </a:xfrm>
          <a:prstGeom prst="rect">
            <a:avLst/>
          </a:prstGeom>
          <a:solidFill>
            <a:srgbClr val="121C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26">
            <a:extLst>
              <a:ext uri="{FF2B5EF4-FFF2-40B4-BE49-F238E27FC236}">
                <a16:creationId xmlns:a16="http://schemas.microsoft.com/office/drawing/2014/main" id="{08227F1B-3043-CCD8-43F3-41B9D3F09F98}"/>
              </a:ext>
            </a:extLst>
          </p:cNvPr>
          <p:cNvSpPr/>
          <p:nvPr/>
        </p:nvSpPr>
        <p:spPr>
          <a:xfrm>
            <a:off x="9054846" y="2670048"/>
            <a:ext cx="54864" cy="3246120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Text 27">
            <a:extLst>
              <a:ext uri="{FF2B5EF4-FFF2-40B4-BE49-F238E27FC236}">
                <a16:creationId xmlns:a16="http://schemas.microsoft.com/office/drawing/2014/main" id="{380DACF4-3FCC-C271-F6E1-66776DDC8F51}"/>
              </a:ext>
            </a:extLst>
          </p:cNvPr>
          <p:cNvSpPr/>
          <p:nvPr/>
        </p:nvSpPr>
        <p:spPr>
          <a:xfrm>
            <a:off x="530352" y="2834640"/>
            <a:ext cx="25306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S01</a:t>
            </a:r>
            <a:endParaRPr lang="en-US" sz="1800" dirty="0"/>
          </a:p>
        </p:txBody>
      </p:sp>
      <p:sp>
        <p:nvSpPr>
          <p:cNvPr id="143" name="Text 28">
            <a:extLst>
              <a:ext uri="{FF2B5EF4-FFF2-40B4-BE49-F238E27FC236}">
                <a16:creationId xmlns:a16="http://schemas.microsoft.com/office/drawing/2014/main" id="{6B96E401-DBE0-C1B3-551F-136837AD57FD}"/>
              </a:ext>
            </a:extLst>
          </p:cNvPr>
          <p:cNvSpPr/>
          <p:nvPr/>
        </p:nvSpPr>
        <p:spPr>
          <a:xfrm>
            <a:off x="530352" y="3145536"/>
            <a:ext cx="25306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8A92A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SOCIAL · USER surface</a:t>
            </a:r>
            <a:endParaRPr lang="en-US" sz="850" dirty="0"/>
          </a:p>
        </p:txBody>
      </p:sp>
      <p:sp>
        <p:nvSpPr>
          <p:cNvPr id="144" name="Text 29">
            <a:extLst>
              <a:ext uri="{FF2B5EF4-FFF2-40B4-BE49-F238E27FC236}">
                <a16:creationId xmlns:a16="http://schemas.microsoft.com/office/drawing/2014/main" id="{01EE8A9B-43C5-70D1-52D9-304D018BE856}"/>
              </a:ext>
            </a:extLst>
          </p:cNvPr>
          <p:cNvSpPr/>
          <p:nvPr/>
        </p:nvSpPr>
        <p:spPr>
          <a:xfrm>
            <a:off x="530352" y="3447288"/>
            <a:ext cx="253060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Player identity must not be impersonable.</a:t>
            </a:r>
            <a:endParaRPr lang="en-US" sz="1400" dirty="0"/>
          </a:p>
        </p:txBody>
      </p:sp>
      <p:sp>
        <p:nvSpPr>
          <p:cNvPr id="145" name="Text 30">
            <a:extLst>
              <a:ext uri="{FF2B5EF4-FFF2-40B4-BE49-F238E27FC236}">
                <a16:creationId xmlns:a16="http://schemas.microsoft.com/office/drawing/2014/main" id="{F88806AF-A8F3-777C-145B-FEFC8AD5EF93}"/>
              </a:ext>
            </a:extLst>
          </p:cNvPr>
          <p:cNvSpPr/>
          <p:nvPr/>
        </p:nvSpPr>
        <p:spPr>
          <a:xfrm>
            <a:off x="530352" y="4361688"/>
            <a:ext cx="253060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 universal property. Holds across platforms and time. Independent of the specific identity surface a platform exposes.</a:t>
            </a:r>
            <a:endParaRPr lang="en-US" sz="950" dirty="0"/>
          </a:p>
        </p:txBody>
      </p:sp>
      <p:sp>
        <p:nvSpPr>
          <p:cNvPr id="146" name="Shape 31">
            <a:extLst>
              <a:ext uri="{FF2B5EF4-FFF2-40B4-BE49-F238E27FC236}">
                <a16:creationId xmlns:a16="http://schemas.microsoft.com/office/drawing/2014/main" id="{6E1ED86A-A75A-89D3-31D9-B91985DDF94A}"/>
              </a:ext>
            </a:extLst>
          </p:cNvPr>
          <p:cNvSpPr/>
          <p:nvPr/>
        </p:nvSpPr>
        <p:spPr>
          <a:xfrm>
            <a:off x="530352" y="5458968"/>
            <a:ext cx="2530602" cy="292608"/>
          </a:xfrm>
          <a:prstGeom prst="rect">
            <a:avLst/>
          </a:prstGeom>
          <a:solidFill>
            <a:srgbClr val="1A2540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Text 32">
            <a:extLst>
              <a:ext uri="{FF2B5EF4-FFF2-40B4-BE49-F238E27FC236}">
                <a16:creationId xmlns:a16="http://schemas.microsoft.com/office/drawing/2014/main" id="{57A2D146-46D0-88BC-A2CC-5AB495DFA059}"/>
              </a:ext>
            </a:extLst>
          </p:cNvPr>
          <p:cNvSpPr/>
          <p:nvPr/>
        </p:nvSpPr>
        <p:spPr>
          <a:xfrm>
            <a:off x="530352" y="5458968"/>
            <a:ext cx="25306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92A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Framework-provided</a:t>
            </a:r>
            <a:endParaRPr lang="en-US" sz="900" dirty="0"/>
          </a:p>
        </p:txBody>
      </p:sp>
      <p:sp>
        <p:nvSpPr>
          <p:cNvPr id="148" name="Text 33">
            <a:extLst>
              <a:ext uri="{FF2B5EF4-FFF2-40B4-BE49-F238E27FC236}">
                <a16:creationId xmlns:a16="http://schemas.microsoft.com/office/drawing/2014/main" id="{3F6AE08C-2FB4-2619-EFD6-E9B7F6411E4A}"/>
              </a:ext>
            </a:extLst>
          </p:cNvPr>
          <p:cNvSpPr/>
          <p:nvPr/>
        </p:nvSpPr>
        <p:spPr>
          <a:xfrm>
            <a:off x="3426714" y="2834640"/>
            <a:ext cx="25306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EVENT</a:t>
            </a:r>
            <a:endParaRPr lang="en-US" sz="900" dirty="0"/>
          </a:p>
        </p:txBody>
      </p:sp>
      <p:sp>
        <p:nvSpPr>
          <p:cNvPr id="149" name="Shape 34">
            <a:extLst>
              <a:ext uri="{FF2B5EF4-FFF2-40B4-BE49-F238E27FC236}">
                <a16:creationId xmlns:a16="http://schemas.microsoft.com/office/drawing/2014/main" id="{DBEE1672-1DAA-DD15-7406-E6C3F2E8B476}"/>
              </a:ext>
            </a:extLst>
          </p:cNvPr>
          <p:cNvSpPr/>
          <p:nvPr/>
        </p:nvSpPr>
        <p:spPr>
          <a:xfrm>
            <a:off x="3426714" y="3054096"/>
            <a:ext cx="2530602" cy="1417320"/>
          </a:xfrm>
          <a:prstGeom prst="rect">
            <a:avLst/>
          </a:prstGeom>
          <a:solidFill>
            <a:srgbClr val="162236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Text 35">
            <a:extLst>
              <a:ext uri="{FF2B5EF4-FFF2-40B4-BE49-F238E27FC236}">
                <a16:creationId xmlns:a16="http://schemas.microsoft.com/office/drawing/2014/main" id="{326F5702-81B3-462A-7AD8-62A315A325F7}"/>
              </a:ext>
            </a:extLst>
          </p:cNvPr>
          <p:cNvSpPr/>
          <p:nvPr/>
        </p:nvSpPr>
        <p:spPr>
          <a:xfrm>
            <a:off x="3518154" y="3127248"/>
            <a:ext cx="23477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F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identity_create_or_rename</a:t>
            </a:r>
            <a:endParaRPr lang="en-US" sz="1100" dirty="0"/>
          </a:p>
        </p:txBody>
      </p:sp>
      <p:sp>
        <p:nvSpPr>
          <p:cNvPr id="151" name="Text 36">
            <a:extLst>
              <a:ext uri="{FF2B5EF4-FFF2-40B4-BE49-F238E27FC236}">
                <a16:creationId xmlns:a16="http://schemas.microsoft.com/office/drawing/2014/main" id="{7CA1059B-26B2-96D8-0D21-6B845050C499}"/>
              </a:ext>
            </a:extLst>
          </p:cNvPr>
          <p:cNvSpPr/>
          <p:nvPr/>
        </p:nvSpPr>
        <p:spPr>
          <a:xfrm>
            <a:off x="3518154" y="3383280"/>
            <a:ext cx="23477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</p:txBody>
      </p:sp>
      <p:sp>
        <p:nvSpPr>
          <p:cNvPr id="152" name="Text 37">
            <a:extLst>
              <a:ext uri="{FF2B5EF4-FFF2-40B4-BE49-F238E27FC236}">
                <a16:creationId xmlns:a16="http://schemas.microsoft.com/office/drawing/2014/main" id="{B6F6F783-9CF1-3F6F-76A5-A8C805633D90}"/>
              </a:ext>
            </a:extLst>
          </p:cNvPr>
          <p:cNvSpPr/>
          <p:nvPr/>
        </p:nvSpPr>
        <p:spPr>
          <a:xfrm>
            <a:off x="3518154" y="3557016"/>
            <a:ext cx="23477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player_id,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handle,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similarity_to_existing,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decision</a:t>
            </a:r>
            <a:endParaRPr lang="en-US" sz="950" dirty="0"/>
          </a:p>
        </p:txBody>
      </p:sp>
      <p:sp>
        <p:nvSpPr>
          <p:cNvPr id="153" name="Text 38">
            <a:extLst>
              <a:ext uri="{FF2B5EF4-FFF2-40B4-BE49-F238E27FC236}">
                <a16:creationId xmlns:a16="http://schemas.microsoft.com/office/drawing/2014/main" id="{E8BDD272-7676-C670-7CD5-0DB846993B1E}"/>
              </a:ext>
            </a:extLst>
          </p:cNvPr>
          <p:cNvSpPr/>
          <p:nvPr/>
        </p:nvSpPr>
        <p:spPr>
          <a:xfrm>
            <a:off x="3518154" y="4297680"/>
            <a:ext cx="234772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54" name="Text 39">
            <a:extLst>
              <a:ext uri="{FF2B5EF4-FFF2-40B4-BE49-F238E27FC236}">
                <a16:creationId xmlns:a16="http://schemas.microsoft.com/office/drawing/2014/main" id="{CCC44FC2-1548-D22C-054A-277F157654B3}"/>
              </a:ext>
            </a:extLst>
          </p:cNvPr>
          <p:cNvSpPr/>
          <p:nvPr/>
        </p:nvSpPr>
        <p:spPr>
          <a:xfrm>
            <a:off x="3426714" y="4590288"/>
            <a:ext cx="25306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EMITS ON</a:t>
            </a:r>
            <a:endParaRPr lang="en-US" sz="900" dirty="0"/>
          </a:p>
        </p:txBody>
      </p:sp>
      <p:sp>
        <p:nvSpPr>
          <p:cNvPr id="155" name="Text 40">
            <a:extLst>
              <a:ext uri="{FF2B5EF4-FFF2-40B4-BE49-F238E27FC236}">
                <a16:creationId xmlns:a16="http://schemas.microsoft.com/office/drawing/2014/main" id="{E73365BE-D50C-8F5C-C11F-B3D8D7E0B307}"/>
              </a:ext>
            </a:extLst>
          </p:cNvPr>
          <p:cNvSpPr/>
          <p:nvPr/>
        </p:nvSpPr>
        <p:spPr>
          <a:xfrm>
            <a:off x="3426714" y="4791456"/>
            <a:ext cx="253060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Every identity-creation or rename request — even when the request is rejected.</a:t>
            </a:r>
            <a:endParaRPr lang="en-US" sz="950" dirty="0"/>
          </a:p>
        </p:txBody>
      </p:sp>
      <p:sp>
        <p:nvSpPr>
          <p:cNvPr id="156" name="Shape 41">
            <a:extLst>
              <a:ext uri="{FF2B5EF4-FFF2-40B4-BE49-F238E27FC236}">
                <a16:creationId xmlns:a16="http://schemas.microsoft.com/office/drawing/2014/main" id="{C4F58E21-732F-71EA-EF1E-BA0D89E1F3A8}"/>
              </a:ext>
            </a:extLst>
          </p:cNvPr>
          <p:cNvSpPr/>
          <p:nvPr/>
        </p:nvSpPr>
        <p:spPr>
          <a:xfrm>
            <a:off x="3426714" y="5458968"/>
            <a:ext cx="2530602" cy="292608"/>
          </a:xfrm>
          <a:prstGeom prst="rect">
            <a:avLst/>
          </a:prstGeom>
          <a:solidFill>
            <a:srgbClr val="1A2540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Text 42">
            <a:extLst>
              <a:ext uri="{FF2B5EF4-FFF2-40B4-BE49-F238E27FC236}">
                <a16:creationId xmlns:a16="http://schemas.microsoft.com/office/drawing/2014/main" id="{FE772F5B-80F5-7483-B49D-229A309B16A1}"/>
              </a:ext>
            </a:extLst>
          </p:cNvPr>
          <p:cNvSpPr/>
          <p:nvPr/>
        </p:nvSpPr>
        <p:spPr>
          <a:xfrm>
            <a:off x="3426714" y="5458968"/>
            <a:ext cx="25306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A92A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Framework-provided · platform-emitted</a:t>
            </a:r>
            <a:endParaRPr lang="en-US" sz="850" dirty="0"/>
          </a:p>
        </p:txBody>
      </p:sp>
      <p:sp>
        <p:nvSpPr>
          <p:cNvPr id="158" name="Text 43">
            <a:extLst>
              <a:ext uri="{FF2B5EF4-FFF2-40B4-BE49-F238E27FC236}">
                <a16:creationId xmlns:a16="http://schemas.microsoft.com/office/drawing/2014/main" id="{49173B76-8D17-97FA-D72A-AD7061306AAA}"/>
              </a:ext>
            </a:extLst>
          </p:cNvPr>
          <p:cNvSpPr/>
          <p:nvPr/>
        </p:nvSpPr>
        <p:spPr>
          <a:xfrm>
            <a:off x="6323076" y="2834640"/>
            <a:ext cx="25306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0A04B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3 TESTS</a:t>
            </a:r>
            <a:endParaRPr lang="en-US" sz="900" dirty="0"/>
          </a:p>
        </p:txBody>
      </p:sp>
      <p:sp>
        <p:nvSpPr>
          <p:cNvPr id="159" name="Shape 44">
            <a:extLst>
              <a:ext uri="{FF2B5EF4-FFF2-40B4-BE49-F238E27FC236}">
                <a16:creationId xmlns:a16="http://schemas.microsoft.com/office/drawing/2014/main" id="{F1450CA3-302D-77A0-4AC7-D4EA97A7B5F6}"/>
              </a:ext>
            </a:extLst>
          </p:cNvPr>
          <p:cNvSpPr/>
          <p:nvPr/>
        </p:nvSpPr>
        <p:spPr>
          <a:xfrm>
            <a:off x="6323076" y="3090672"/>
            <a:ext cx="2530602" cy="713232"/>
          </a:xfrm>
          <a:prstGeom prst="rect">
            <a:avLst/>
          </a:prstGeom>
          <a:solidFill>
            <a:srgbClr val="1A2540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Text 45">
            <a:extLst>
              <a:ext uri="{FF2B5EF4-FFF2-40B4-BE49-F238E27FC236}">
                <a16:creationId xmlns:a16="http://schemas.microsoft.com/office/drawing/2014/main" id="{5D5BFAF0-C70F-637A-C5D5-42B5C361B43D}"/>
              </a:ext>
            </a:extLst>
          </p:cNvPr>
          <p:cNvSpPr/>
          <p:nvPr/>
        </p:nvSpPr>
        <p:spPr>
          <a:xfrm>
            <a:off x="6396228" y="313639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A0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T-S01-01</a:t>
            </a:r>
            <a:endParaRPr lang="en-US" sz="900" dirty="0"/>
          </a:p>
        </p:txBody>
      </p:sp>
      <p:sp>
        <p:nvSpPr>
          <p:cNvPr id="161" name="Shape 46">
            <a:extLst>
              <a:ext uri="{FF2B5EF4-FFF2-40B4-BE49-F238E27FC236}">
                <a16:creationId xmlns:a16="http://schemas.microsoft.com/office/drawing/2014/main" id="{48F018B7-2FDF-1261-5AF1-E66FCC2A52E5}"/>
              </a:ext>
            </a:extLst>
          </p:cNvPr>
          <p:cNvSpPr/>
          <p:nvPr/>
        </p:nvSpPr>
        <p:spPr>
          <a:xfrm>
            <a:off x="8350758" y="3136392"/>
            <a:ext cx="411480" cy="201168"/>
          </a:xfrm>
          <a:prstGeom prst="rect">
            <a:avLst/>
          </a:prstGeom>
          <a:solidFill>
            <a:srgbClr val="2DD4A4"/>
          </a:solidFill>
          <a:ln w="12700">
            <a:solidFill>
              <a:srgbClr val="2DD4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Text 47">
            <a:extLst>
              <a:ext uri="{FF2B5EF4-FFF2-40B4-BE49-F238E27FC236}">
                <a16:creationId xmlns:a16="http://schemas.microsoft.com/office/drawing/2014/main" id="{CCE2A67C-5989-86B5-3A79-C08B92E3368F}"/>
              </a:ext>
            </a:extLst>
          </p:cNvPr>
          <p:cNvSpPr/>
          <p:nvPr/>
        </p:nvSpPr>
        <p:spPr>
          <a:xfrm>
            <a:off x="8350758" y="31363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2E20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PASS</a:t>
            </a:r>
            <a:endParaRPr lang="en-US" sz="850" dirty="0"/>
          </a:p>
        </p:txBody>
      </p:sp>
      <p:sp>
        <p:nvSpPr>
          <p:cNvPr id="163" name="Text 48">
            <a:extLst>
              <a:ext uri="{FF2B5EF4-FFF2-40B4-BE49-F238E27FC236}">
                <a16:creationId xmlns:a16="http://schemas.microsoft.com/office/drawing/2014/main" id="{67CE3F40-CCAD-E3AC-6775-5740788718AC}"/>
              </a:ext>
            </a:extLst>
          </p:cNvPr>
          <p:cNvSpPr/>
          <p:nvPr/>
        </p:nvSpPr>
        <p:spPr>
          <a:xfrm>
            <a:off x="6396228" y="3337560"/>
            <a:ext cx="23842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8A92A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EXISTENCE TEST</a:t>
            </a:r>
            <a:endParaRPr lang="en-US" sz="800" dirty="0"/>
          </a:p>
        </p:txBody>
      </p:sp>
      <p:sp>
        <p:nvSpPr>
          <p:cNvPr id="164" name="Text 49">
            <a:extLst>
              <a:ext uri="{FF2B5EF4-FFF2-40B4-BE49-F238E27FC236}">
                <a16:creationId xmlns:a16="http://schemas.microsoft.com/office/drawing/2014/main" id="{5A263167-ECF7-4726-B144-03714B34E330}"/>
              </a:ext>
            </a:extLst>
          </p:cNvPr>
          <p:cNvSpPr/>
          <p:nvPr/>
        </p:nvSpPr>
        <p:spPr>
          <a:xfrm>
            <a:off x="6396228" y="3502152"/>
            <a:ext cx="2384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Event emits on every identity create/rename — including rejected attempts.</a:t>
            </a:r>
            <a:endParaRPr lang="en-US" sz="900" dirty="0"/>
          </a:p>
        </p:txBody>
      </p:sp>
      <p:sp>
        <p:nvSpPr>
          <p:cNvPr id="165" name="Shape 50">
            <a:extLst>
              <a:ext uri="{FF2B5EF4-FFF2-40B4-BE49-F238E27FC236}">
                <a16:creationId xmlns:a16="http://schemas.microsoft.com/office/drawing/2014/main" id="{48FB8C06-FA45-D362-8418-563006BA998E}"/>
              </a:ext>
            </a:extLst>
          </p:cNvPr>
          <p:cNvSpPr/>
          <p:nvPr/>
        </p:nvSpPr>
        <p:spPr>
          <a:xfrm>
            <a:off x="6323076" y="3877056"/>
            <a:ext cx="2530602" cy="713232"/>
          </a:xfrm>
          <a:prstGeom prst="rect">
            <a:avLst/>
          </a:prstGeom>
          <a:solidFill>
            <a:srgbClr val="1A2540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Text 51">
            <a:extLst>
              <a:ext uri="{FF2B5EF4-FFF2-40B4-BE49-F238E27FC236}">
                <a16:creationId xmlns:a16="http://schemas.microsoft.com/office/drawing/2014/main" id="{84E3A5D5-086C-42BF-BE8D-DFBCC28C9504}"/>
              </a:ext>
            </a:extLst>
          </p:cNvPr>
          <p:cNvSpPr/>
          <p:nvPr/>
        </p:nvSpPr>
        <p:spPr>
          <a:xfrm>
            <a:off x="6396228" y="392277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A0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T-S01-02</a:t>
            </a:r>
            <a:endParaRPr lang="en-US" sz="900" dirty="0"/>
          </a:p>
        </p:txBody>
      </p:sp>
      <p:sp>
        <p:nvSpPr>
          <p:cNvPr id="167" name="Shape 52">
            <a:extLst>
              <a:ext uri="{FF2B5EF4-FFF2-40B4-BE49-F238E27FC236}">
                <a16:creationId xmlns:a16="http://schemas.microsoft.com/office/drawing/2014/main" id="{EA8A48B1-7BD4-B645-6827-EE979D079273}"/>
              </a:ext>
            </a:extLst>
          </p:cNvPr>
          <p:cNvSpPr/>
          <p:nvPr/>
        </p:nvSpPr>
        <p:spPr>
          <a:xfrm>
            <a:off x="8350758" y="3922776"/>
            <a:ext cx="411480" cy="201168"/>
          </a:xfrm>
          <a:prstGeom prst="rect">
            <a:avLst/>
          </a:prstGeom>
          <a:solidFill>
            <a:srgbClr val="2DD4A4"/>
          </a:solidFill>
          <a:ln w="12700">
            <a:solidFill>
              <a:srgbClr val="2DD4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Text 53">
            <a:extLst>
              <a:ext uri="{FF2B5EF4-FFF2-40B4-BE49-F238E27FC236}">
                <a16:creationId xmlns:a16="http://schemas.microsoft.com/office/drawing/2014/main" id="{0D01EBD2-AE67-7312-A086-F06381DEE4EF}"/>
              </a:ext>
            </a:extLst>
          </p:cNvPr>
          <p:cNvSpPr/>
          <p:nvPr/>
        </p:nvSpPr>
        <p:spPr>
          <a:xfrm>
            <a:off x="8350758" y="392277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2E20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PASS</a:t>
            </a:r>
            <a:endParaRPr lang="en-US" sz="850" dirty="0"/>
          </a:p>
        </p:txBody>
      </p:sp>
      <p:sp>
        <p:nvSpPr>
          <p:cNvPr id="169" name="Text 54">
            <a:extLst>
              <a:ext uri="{FF2B5EF4-FFF2-40B4-BE49-F238E27FC236}">
                <a16:creationId xmlns:a16="http://schemas.microsoft.com/office/drawing/2014/main" id="{D754C9C0-1871-595A-4F24-EB41C746FF98}"/>
              </a:ext>
            </a:extLst>
          </p:cNvPr>
          <p:cNvSpPr/>
          <p:nvPr/>
        </p:nvSpPr>
        <p:spPr>
          <a:xfrm>
            <a:off x="6396228" y="4123944"/>
            <a:ext cx="23842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8A92A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SCHEMA TEST</a:t>
            </a:r>
            <a:endParaRPr lang="en-US" sz="800" dirty="0"/>
          </a:p>
        </p:txBody>
      </p:sp>
      <p:sp>
        <p:nvSpPr>
          <p:cNvPr id="170" name="Text 55">
            <a:extLst>
              <a:ext uri="{FF2B5EF4-FFF2-40B4-BE49-F238E27FC236}">
                <a16:creationId xmlns:a16="http://schemas.microsoft.com/office/drawing/2014/main" id="{1FC632B0-DB1C-0AAE-F6BF-A633683B7544}"/>
              </a:ext>
            </a:extLst>
          </p:cNvPr>
          <p:cNvSpPr/>
          <p:nvPr/>
        </p:nvSpPr>
        <p:spPr>
          <a:xfrm>
            <a:off x="6396228" y="4288536"/>
            <a:ext cx="2384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All four fields present + similarity_to_existing is a numeric score.</a:t>
            </a:r>
            <a:endParaRPr lang="en-US" sz="900" dirty="0"/>
          </a:p>
        </p:txBody>
      </p:sp>
      <p:sp>
        <p:nvSpPr>
          <p:cNvPr id="171" name="Shape 56">
            <a:extLst>
              <a:ext uri="{FF2B5EF4-FFF2-40B4-BE49-F238E27FC236}">
                <a16:creationId xmlns:a16="http://schemas.microsoft.com/office/drawing/2014/main" id="{49437047-522E-94D6-6DEE-39276704094F}"/>
              </a:ext>
            </a:extLst>
          </p:cNvPr>
          <p:cNvSpPr/>
          <p:nvPr/>
        </p:nvSpPr>
        <p:spPr>
          <a:xfrm>
            <a:off x="6323076" y="4663440"/>
            <a:ext cx="2530602" cy="713232"/>
          </a:xfrm>
          <a:prstGeom prst="rect">
            <a:avLst/>
          </a:prstGeom>
          <a:solidFill>
            <a:srgbClr val="1A2540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Text 57">
            <a:extLst>
              <a:ext uri="{FF2B5EF4-FFF2-40B4-BE49-F238E27FC236}">
                <a16:creationId xmlns:a16="http://schemas.microsoft.com/office/drawing/2014/main" id="{502E8E66-439D-C4CE-0CBF-62F2FFB62946}"/>
              </a:ext>
            </a:extLst>
          </p:cNvPr>
          <p:cNvSpPr/>
          <p:nvPr/>
        </p:nvSpPr>
        <p:spPr>
          <a:xfrm>
            <a:off x="6396228" y="470916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A0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T-S01-03</a:t>
            </a:r>
            <a:endParaRPr lang="en-US" sz="900" dirty="0"/>
          </a:p>
        </p:txBody>
      </p:sp>
      <p:sp>
        <p:nvSpPr>
          <p:cNvPr id="173" name="Shape 58">
            <a:extLst>
              <a:ext uri="{FF2B5EF4-FFF2-40B4-BE49-F238E27FC236}">
                <a16:creationId xmlns:a16="http://schemas.microsoft.com/office/drawing/2014/main" id="{50A86134-28D3-2EE7-294D-1CFAE8C5E21F}"/>
              </a:ext>
            </a:extLst>
          </p:cNvPr>
          <p:cNvSpPr/>
          <p:nvPr/>
        </p:nvSpPr>
        <p:spPr>
          <a:xfrm>
            <a:off x="8350758" y="4709160"/>
            <a:ext cx="411480" cy="201168"/>
          </a:xfrm>
          <a:prstGeom prst="rect">
            <a:avLst/>
          </a:prstGeom>
          <a:solidFill>
            <a:srgbClr val="2DD4A4"/>
          </a:solidFill>
          <a:ln w="12700">
            <a:solidFill>
              <a:srgbClr val="2DD4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Text 59">
            <a:extLst>
              <a:ext uri="{FF2B5EF4-FFF2-40B4-BE49-F238E27FC236}">
                <a16:creationId xmlns:a16="http://schemas.microsoft.com/office/drawing/2014/main" id="{C95D8C07-D85D-CAE3-F227-6A9F8184C99F}"/>
              </a:ext>
            </a:extLst>
          </p:cNvPr>
          <p:cNvSpPr/>
          <p:nvPr/>
        </p:nvSpPr>
        <p:spPr>
          <a:xfrm>
            <a:off x="8350758" y="470916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2E20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PASS</a:t>
            </a:r>
            <a:endParaRPr lang="en-US" sz="850" dirty="0"/>
          </a:p>
        </p:txBody>
      </p:sp>
      <p:sp>
        <p:nvSpPr>
          <p:cNvPr id="175" name="Text 60">
            <a:extLst>
              <a:ext uri="{FF2B5EF4-FFF2-40B4-BE49-F238E27FC236}">
                <a16:creationId xmlns:a16="http://schemas.microsoft.com/office/drawing/2014/main" id="{CC235241-864E-23E5-565C-0E8DA4CF7B7E}"/>
              </a:ext>
            </a:extLst>
          </p:cNvPr>
          <p:cNvSpPr/>
          <p:nvPr/>
        </p:nvSpPr>
        <p:spPr>
          <a:xfrm>
            <a:off x="6396228" y="4910328"/>
            <a:ext cx="23842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8A92A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DETECTION TEST</a:t>
            </a:r>
            <a:endParaRPr lang="en-US" sz="800" dirty="0"/>
          </a:p>
        </p:txBody>
      </p:sp>
      <p:sp>
        <p:nvSpPr>
          <p:cNvPr id="176" name="Text 61">
            <a:extLst>
              <a:ext uri="{FF2B5EF4-FFF2-40B4-BE49-F238E27FC236}">
                <a16:creationId xmlns:a16="http://schemas.microsoft.com/office/drawing/2014/main" id="{03975F60-CDF6-3D06-D853-8FBDF382AC0D}"/>
              </a:ext>
            </a:extLst>
          </p:cNvPr>
          <p:cNvSpPr/>
          <p:nvPr/>
        </p:nvSpPr>
        <p:spPr>
          <a:xfrm>
            <a:off x="6396228" y="5074920"/>
            <a:ext cx="2384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Detection fires on synthetic look-alike handle inputs.</a:t>
            </a:r>
            <a:endParaRPr lang="en-US" sz="900" dirty="0"/>
          </a:p>
        </p:txBody>
      </p:sp>
      <p:sp>
        <p:nvSpPr>
          <p:cNvPr id="177" name="Shape 62">
            <a:extLst>
              <a:ext uri="{FF2B5EF4-FFF2-40B4-BE49-F238E27FC236}">
                <a16:creationId xmlns:a16="http://schemas.microsoft.com/office/drawing/2014/main" id="{EF3F5F28-8B40-E906-F20D-938DDBD3F191}"/>
              </a:ext>
            </a:extLst>
          </p:cNvPr>
          <p:cNvSpPr/>
          <p:nvPr/>
        </p:nvSpPr>
        <p:spPr>
          <a:xfrm>
            <a:off x="6323076" y="5458968"/>
            <a:ext cx="2530602" cy="292608"/>
          </a:xfrm>
          <a:prstGeom prst="rect">
            <a:avLst/>
          </a:prstGeom>
          <a:solidFill>
            <a:srgbClr val="2DD4A4"/>
          </a:solidFill>
          <a:ln w="12700">
            <a:solidFill>
              <a:srgbClr val="2DD4A4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178" name="Text 63">
            <a:extLst>
              <a:ext uri="{FF2B5EF4-FFF2-40B4-BE49-F238E27FC236}">
                <a16:creationId xmlns:a16="http://schemas.microsoft.com/office/drawing/2014/main" id="{DFF3F257-98D7-9338-3AD9-2EB8B5F45A28}"/>
              </a:ext>
            </a:extLst>
          </p:cNvPr>
          <p:cNvSpPr/>
          <p:nvPr/>
        </p:nvSpPr>
        <p:spPr>
          <a:xfrm>
            <a:off x="6323076" y="5458968"/>
            <a:ext cx="25306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E20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3 / 3 pass → invariant ACTIVE</a:t>
            </a:r>
            <a:endParaRPr lang="en-US" sz="1200" dirty="0"/>
          </a:p>
        </p:txBody>
      </p:sp>
      <p:sp>
        <p:nvSpPr>
          <p:cNvPr id="179" name="Text 64">
            <a:extLst>
              <a:ext uri="{FF2B5EF4-FFF2-40B4-BE49-F238E27FC236}">
                <a16:creationId xmlns:a16="http://schemas.microsoft.com/office/drawing/2014/main" id="{1C8CC3AE-26E0-D6DB-83D7-F6F1DEF19DA1}"/>
              </a:ext>
            </a:extLst>
          </p:cNvPr>
          <p:cNvSpPr/>
          <p:nvPr/>
        </p:nvSpPr>
        <p:spPr>
          <a:xfrm>
            <a:off x="9219438" y="2834640"/>
            <a:ext cx="25306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CAUGHT BY THIS CHAIN</a:t>
            </a:r>
            <a:endParaRPr lang="en-US" sz="900" dirty="0"/>
          </a:p>
        </p:txBody>
      </p:sp>
      <p:sp>
        <p:nvSpPr>
          <p:cNvPr id="180" name="Shape 65">
            <a:extLst>
              <a:ext uri="{FF2B5EF4-FFF2-40B4-BE49-F238E27FC236}">
                <a16:creationId xmlns:a16="http://schemas.microsoft.com/office/drawing/2014/main" id="{8B0C25B3-B9E1-2262-1041-F0CB405A530A}"/>
              </a:ext>
            </a:extLst>
          </p:cNvPr>
          <p:cNvSpPr/>
          <p:nvPr/>
        </p:nvSpPr>
        <p:spPr>
          <a:xfrm>
            <a:off x="9219438" y="3090672"/>
            <a:ext cx="2530602" cy="713232"/>
          </a:xfrm>
          <a:prstGeom prst="rect">
            <a:avLst/>
          </a:prstGeom>
          <a:solidFill>
            <a:srgbClr val="1A2540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Text 66">
            <a:extLst>
              <a:ext uri="{FF2B5EF4-FFF2-40B4-BE49-F238E27FC236}">
                <a16:creationId xmlns:a16="http://schemas.microsoft.com/office/drawing/2014/main" id="{65EFBDE5-F7AB-9B41-E178-09C27FDEDC32}"/>
              </a:ext>
            </a:extLst>
          </p:cNvPr>
          <p:cNvSpPr/>
          <p:nvPr/>
        </p:nvSpPr>
        <p:spPr>
          <a:xfrm>
            <a:off x="9292590" y="3163824"/>
            <a:ext cx="23842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Look-alike username</a:t>
            </a:r>
            <a:endParaRPr lang="en-US" sz="1050" dirty="0"/>
          </a:p>
        </p:txBody>
      </p:sp>
      <p:sp>
        <p:nvSpPr>
          <p:cNvPr id="182" name="Text 67">
            <a:extLst>
              <a:ext uri="{FF2B5EF4-FFF2-40B4-BE49-F238E27FC236}">
                <a16:creationId xmlns:a16="http://schemas.microsoft.com/office/drawing/2014/main" id="{15D3D010-179D-8BC3-E28D-6F149358FDC2}"/>
              </a:ext>
            </a:extLst>
          </p:cNvPr>
          <p:cNvSpPr/>
          <p:nvPr/>
        </p:nvSpPr>
        <p:spPr>
          <a:xfrm>
            <a:off x="9292590" y="3456432"/>
            <a:ext cx="23842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filter: similarity &gt; 0.85 AND decision = 'allow'</a:t>
            </a:r>
            <a:endParaRPr lang="en-US" sz="800" dirty="0"/>
          </a:p>
        </p:txBody>
      </p:sp>
      <p:sp>
        <p:nvSpPr>
          <p:cNvPr id="183" name="Shape 68">
            <a:extLst>
              <a:ext uri="{FF2B5EF4-FFF2-40B4-BE49-F238E27FC236}">
                <a16:creationId xmlns:a16="http://schemas.microsoft.com/office/drawing/2014/main" id="{56A2E8C5-566F-91BB-40DF-D7E2901FEF10}"/>
              </a:ext>
            </a:extLst>
          </p:cNvPr>
          <p:cNvSpPr/>
          <p:nvPr/>
        </p:nvSpPr>
        <p:spPr>
          <a:xfrm>
            <a:off x="9219438" y="3877056"/>
            <a:ext cx="2530602" cy="713232"/>
          </a:xfrm>
          <a:prstGeom prst="rect">
            <a:avLst/>
          </a:prstGeom>
          <a:solidFill>
            <a:srgbClr val="1A2540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Text 69">
            <a:extLst>
              <a:ext uri="{FF2B5EF4-FFF2-40B4-BE49-F238E27FC236}">
                <a16:creationId xmlns:a16="http://schemas.microsoft.com/office/drawing/2014/main" id="{AB10391E-6A4B-0722-701B-08AE5C191126}"/>
              </a:ext>
            </a:extLst>
          </p:cNvPr>
          <p:cNvSpPr/>
          <p:nvPr/>
        </p:nvSpPr>
        <p:spPr>
          <a:xfrm>
            <a:off x="9292590" y="3950208"/>
            <a:ext cx="23842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Handle squat</a:t>
            </a:r>
            <a:endParaRPr lang="en-US" sz="1050" dirty="0"/>
          </a:p>
        </p:txBody>
      </p:sp>
      <p:sp>
        <p:nvSpPr>
          <p:cNvPr id="185" name="Text 70">
            <a:extLst>
              <a:ext uri="{FF2B5EF4-FFF2-40B4-BE49-F238E27FC236}">
                <a16:creationId xmlns:a16="http://schemas.microsoft.com/office/drawing/2014/main" id="{DA553780-E83E-B2CC-947B-AC9E3AA11AC7}"/>
              </a:ext>
            </a:extLst>
          </p:cNvPr>
          <p:cNvSpPr/>
          <p:nvPr/>
        </p:nvSpPr>
        <p:spPr>
          <a:xfrm>
            <a:off x="9292590" y="4242816"/>
            <a:ext cx="23842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filter: handle matches reserved/trademark list</a:t>
            </a:r>
            <a:endParaRPr lang="en-US" sz="800" dirty="0"/>
          </a:p>
        </p:txBody>
      </p:sp>
      <p:sp>
        <p:nvSpPr>
          <p:cNvPr id="186" name="Shape 71">
            <a:extLst>
              <a:ext uri="{FF2B5EF4-FFF2-40B4-BE49-F238E27FC236}">
                <a16:creationId xmlns:a16="http://schemas.microsoft.com/office/drawing/2014/main" id="{EAB536A0-3023-C0CF-B8BB-96DB65FB3220}"/>
              </a:ext>
            </a:extLst>
          </p:cNvPr>
          <p:cNvSpPr/>
          <p:nvPr/>
        </p:nvSpPr>
        <p:spPr>
          <a:xfrm>
            <a:off x="9219438" y="4663440"/>
            <a:ext cx="2530602" cy="713232"/>
          </a:xfrm>
          <a:prstGeom prst="rect">
            <a:avLst/>
          </a:prstGeom>
          <a:solidFill>
            <a:srgbClr val="1A2540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Text 72">
            <a:extLst>
              <a:ext uri="{FF2B5EF4-FFF2-40B4-BE49-F238E27FC236}">
                <a16:creationId xmlns:a16="http://schemas.microsoft.com/office/drawing/2014/main" id="{CA002A84-6630-E884-56CA-9BB736AE94B4}"/>
              </a:ext>
            </a:extLst>
          </p:cNvPr>
          <p:cNvSpPr/>
          <p:nvPr/>
        </p:nvSpPr>
        <p:spPr>
          <a:xfrm>
            <a:off x="9292590" y="4736592"/>
            <a:ext cx="23842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Impersonation account</a:t>
            </a:r>
            <a:endParaRPr lang="en-US" sz="1050" dirty="0"/>
          </a:p>
        </p:txBody>
      </p:sp>
      <p:sp>
        <p:nvSpPr>
          <p:cNvPr id="188" name="Text 73">
            <a:extLst>
              <a:ext uri="{FF2B5EF4-FFF2-40B4-BE49-F238E27FC236}">
                <a16:creationId xmlns:a16="http://schemas.microsoft.com/office/drawing/2014/main" id="{A72FA4FD-D7E0-A376-B326-88AC6B6C7404}"/>
              </a:ext>
            </a:extLst>
          </p:cNvPr>
          <p:cNvSpPr/>
          <p:nvPr/>
        </p:nvSpPr>
        <p:spPr>
          <a:xfrm>
            <a:off x="9292590" y="5029200"/>
            <a:ext cx="23842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filter: handle pairs with another player's avatar/region</a:t>
            </a:r>
            <a:endParaRPr lang="en-US" sz="800" dirty="0"/>
          </a:p>
        </p:txBody>
      </p:sp>
      <p:sp>
        <p:nvSpPr>
          <p:cNvPr id="189" name="Shape 74">
            <a:extLst>
              <a:ext uri="{FF2B5EF4-FFF2-40B4-BE49-F238E27FC236}">
                <a16:creationId xmlns:a16="http://schemas.microsoft.com/office/drawing/2014/main" id="{9487B02F-0F31-260B-22F6-B9F7DE20920B}"/>
              </a:ext>
            </a:extLst>
          </p:cNvPr>
          <p:cNvSpPr/>
          <p:nvPr/>
        </p:nvSpPr>
        <p:spPr>
          <a:xfrm>
            <a:off x="9219438" y="5458968"/>
            <a:ext cx="2530602" cy="292608"/>
          </a:xfrm>
          <a:prstGeom prst="rect">
            <a:avLst/>
          </a:prstGeom>
          <a:solidFill>
            <a:srgbClr val="1A2540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Text 75">
            <a:extLst>
              <a:ext uri="{FF2B5EF4-FFF2-40B4-BE49-F238E27FC236}">
                <a16:creationId xmlns:a16="http://schemas.microsoft.com/office/drawing/2014/main" id="{0108B126-9827-BBF2-6E96-E6607CA51763}"/>
              </a:ext>
            </a:extLst>
          </p:cNvPr>
          <p:cNvSpPr/>
          <p:nvPr/>
        </p:nvSpPr>
        <p:spPr>
          <a:xfrm>
            <a:off x="9219438" y="5458968"/>
            <a:ext cx="25306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92A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Ecosystem-specific · extensible</a:t>
            </a:r>
            <a:endParaRPr lang="en-US" sz="900" dirty="0"/>
          </a:p>
        </p:txBody>
      </p:sp>
      <p:sp>
        <p:nvSpPr>
          <p:cNvPr id="191" name="Shape 76">
            <a:extLst>
              <a:ext uri="{FF2B5EF4-FFF2-40B4-BE49-F238E27FC236}">
                <a16:creationId xmlns:a16="http://schemas.microsoft.com/office/drawing/2014/main" id="{697F58A9-671D-B0A7-E603-E65675DA749E}"/>
              </a:ext>
            </a:extLst>
          </p:cNvPr>
          <p:cNvSpPr/>
          <p:nvPr/>
        </p:nvSpPr>
        <p:spPr>
          <a:xfrm>
            <a:off x="3156966" y="3927348"/>
            <a:ext cx="100584" cy="201168"/>
          </a:xfrm>
          <a:prstGeom prst="rightArrow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Shape 77">
            <a:extLst>
              <a:ext uri="{FF2B5EF4-FFF2-40B4-BE49-F238E27FC236}">
                <a16:creationId xmlns:a16="http://schemas.microsoft.com/office/drawing/2014/main" id="{187B153C-CAAB-6CF8-432F-7438CEC2FB59}"/>
              </a:ext>
            </a:extLst>
          </p:cNvPr>
          <p:cNvSpPr/>
          <p:nvPr/>
        </p:nvSpPr>
        <p:spPr>
          <a:xfrm>
            <a:off x="3156966" y="4265676"/>
            <a:ext cx="100584" cy="201168"/>
          </a:xfrm>
          <a:prstGeom prst="leftArrow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Shape 78">
            <a:extLst>
              <a:ext uri="{FF2B5EF4-FFF2-40B4-BE49-F238E27FC236}">
                <a16:creationId xmlns:a16="http://schemas.microsoft.com/office/drawing/2014/main" id="{9FE18700-8611-669F-EE87-22169AB48F23}"/>
              </a:ext>
            </a:extLst>
          </p:cNvPr>
          <p:cNvSpPr/>
          <p:nvPr/>
        </p:nvSpPr>
        <p:spPr>
          <a:xfrm>
            <a:off x="6053328" y="3927348"/>
            <a:ext cx="100584" cy="201168"/>
          </a:xfrm>
          <a:prstGeom prst="rightArrow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Shape 79">
            <a:extLst>
              <a:ext uri="{FF2B5EF4-FFF2-40B4-BE49-F238E27FC236}">
                <a16:creationId xmlns:a16="http://schemas.microsoft.com/office/drawing/2014/main" id="{A429B00F-F91F-2ABC-C7AE-DB8E34E94915}"/>
              </a:ext>
            </a:extLst>
          </p:cNvPr>
          <p:cNvSpPr/>
          <p:nvPr/>
        </p:nvSpPr>
        <p:spPr>
          <a:xfrm>
            <a:off x="6053328" y="4265676"/>
            <a:ext cx="100584" cy="201168"/>
          </a:xfrm>
          <a:prstGeom prst="leftArrow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Shape 80">
            <a:extLst>
              <a:ext uri="{FF2B5EF4-FFF2-40B4-BE49-F238E27FC236}">
                <a16:creationId xmlns:a16="http://schemas.microsoft.com/office/drawing/2014/main" id="{D42F23DA-2F3A-95CF-ACF0-D90F6DA06613}"/>
              </a:ext>
            </a:extLst>
          </p:cNvPr>
          <p:cNvSpPr/>
          <p:nvPr/>
        </p:nvSpPr>
        <p:spPr>
          <a:xfrm>
            <a:off x="8949690" y="3927348"/>
            <a:ext cx="100584" cy="201168"/>
          </a:xfrm>
          <a:prstGeom prst="rightArrow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Shape 81">
            <a:extLst>
              <a:ext uri="{FF2B5EF4-FFF2-40B4-BE49-F238E27FC236}">
                <a16:creationId xmlns:a16="http://schemas.microsoft.com/office/drawing/2014/main" id="{F8F90506-9C8C-60BB-1956-06F8C5584E13}"/>
              </a:ext>
            </a:extLst>
          </p:cNvPr>
          <p:cNvSpPr/>
          <p:nvPr/>
        </p:nvSpPr>
        <p:spPr>
          <a:xfrm>
            <a:off x="8949690" y="4265676"/>
            <a:ext cx="100584" cy="201168"/>
          </a:xfrm>
          <a:prstGeom prst="leftArrow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Text 82">
            <a:extLst>
              <a:ext uri="{FF2B5EF4-FFF2-40B4-BE49-F238E27FC236}">
                <a16:creationId xmlns:a16="http://schemas.microsoft.com/office/drawing/2014/main" id="{2CA812CE-1541-5E79-7B76-5A3427E23A6E}"/>
              </a:ext>
            </a:extLst>
          </p:cNvPr>
          <p:cNvSpPr/>
          <p:nvPr/>
        </p:nvSpPr>
        <p:spPr>
          <a:xfrm>
            <a:off x="365760" y="6565392"/>
            <a:ext cx="11475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If any test fails, the invariant downgrades from Active.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6683201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>
          <a:extLst>
            <a:ext uri="{FF2B5EF4-FFF2-40B4-BE49-F238E27FC236}">
              <a16:creationId xmlns:a16="http://schemas.microsoft.com/office/drawing/2014/main" id="{93339E4C-7C9D-D7BB-8249-EB55E8326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0">
            <a:extLst>
              <a:ext uri="{FF2B5EF4-FFF2-40B4-BE49-F238E27FC236}">
                <a16:creationId xmlns:a16="http://schemas.microsoft.com/office/drawing/2014/main" id="{8C237FCA-90F3-EB99-6544-C15ACD113AD9}"/>
              </a:ext>
            </a:extLst>
          </p:cNvPr>
          <p:cNvSpPr/>
          <p:nvPr/>
        </p:nvSpPr>
        <p:spPr>
          <a:xfrm>
            <a:off x="411480" y="22100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G.H.O.S.T  |  ACROSS THE DOMAINS</a:t>
            </a:r>
            <a:endParaRPr lang="en-US" sz="1000" b="1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38DA3010-369F-7D1F-4AED-294C89F4A97D}"/>
              </a:ext>
            </a:extLst>
          </p:cNvPr>
          <p:cNvSpPr/>
          <p:nvPr/>
        </p:nvSpPr>
        <p:spPr>
          <a:xfrm>
            <a:off x="457200" y="1737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Threats don't sit still.</a:t>
            </a:r>
            <a:endParaRPr lang="en-US" sz="4200" dirty="0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8A41FE1E-959E-D3BE-7F5D-17A7F74CE7E0}"/>
              </a:ext>
            </a:extLst>
          </p:cNvPr>
          <p:cNvSpPr/>
          <p:nvPr/>
        </p:nvSpPr>
        <p:spPr>
          <a:xfrm>
            <a:off x="457200" y="2606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00" b="1" dirty="0">
                <a:solidFill>
                  <a:srgbClr val="FFFFFF"/>
                </a:solidFill>
                <a:latin typeface="Overpass Black" pitchFamily="34" charset="0"/>
              </a:rPr>
              <a:t>They move between domains.</a:t>
            </a: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9B3BE354-E2FB-27C3-F453-1F73F3FC658F}"/>
              </a:ext>
            </a:extLst>
          </p:cNvPr>
          <p:cNvSpPr/>
          <p:nvPr/>
        </p:nvSpPr>
        <p:spPr>
          <a:xfrm>
            <a:off x="457200" y="3931920"/>
            <a:ext cx="548640" cy="36576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669E7BB0-CFD2-37AF-84E3-FA9514B9520B}"/>
              </a:ext>
            </a:extLst>
          </p:cNvPr>
          <p:cNvSpPr/>
          <p:nvPr/>
        </p:nvSpPr>
        <p:spPr>
          <a:xfrm>
            <a:off x="457200" y="41605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We trace them across the framework:</a:t>
            </a:r>
            <a:endParaRPr lang="en-US" sz="240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7D021281-2D90-E5C7-AA39-FAAE08BD0E81}"/>
              </a:ext>
            </a:extLst>
          </p:cNvPr>
          <p:cNvSpPr/>
          <p:nvPr/>
        </p:nvSpPr>
        <p:spPr>
          <a:xfrm>
            <a:off x="457200" y="470916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Propagation Chains.</a:t>
            </a:r>
            <a:endParaRPr lang="en-US" sz="6400" dirty="0"/>
          </a:p>
        </p:txBody>
      </p:sp>
    </p:spTree>
    <p:extLst>
      <p:ext uri="{BB962C8B-B14F-4D97-AF65-F5344CB8AC3E}">
        <p14:creationId xmlns:p14="http://schemas.microsoft.com/office/powerpoint/2010/main" val="10751160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>
          <a:extLst>
            <a:ext uri="{FF2B5EF4-FFF2-40B4-BE49-F238E27FC236}">
              <a16:creationId xmlns:a16="http://schemas.microsoft.com/office/drawing/2014/main" id="{CBCDCF36-BD4B-F851-6C80-E95F3F055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0">
            <a:extLst>
              <a:ext uri="{FF2B5EF4-FFF2-40B4-BE49-F238E27FC236}">
                <a16:creationId xmlns:a16="http://schemas.microsoft.com/office/drawing/2014/main" id="{8BBDDAD8-1240-B47E-2A0F-17434BD85EF9}"/>
              </a:ext>
            </a:extLst>
          </p:cNvPr>
          <p:cNvSpPr/>
          <p:nvPr/>
        </p:nvSpPr>
        <p:spPr>
          <a:xfrm>
            <a:off x="411480" y="22100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G.H.O.S.T  |  PROPAGATION CHAINS</a:t>
            </a:r>
            <a:endParaRPr lang="en-US" sz="1000" b="1" dirty="0"/>
          </a:p>
        </p:txBody>
      </p:sp>
      <p:sp>
        <p:nvSpPr>
          <p:cNvPr id="2" name="Google Shape;315;p47">
            <a:extLst>
              <a:ext uri="{FF2B5EF4-FFF2-40B4-BE49-F238E27FC236}">
                <a16:creationId xmlns:a16="http://schemas.microsoft.com/office/drawing/2014/main" id="{EDAE30A5-5629-00F0-CBF1-5D8B13A1A08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71399" y="590500"/>
            <a:ext cx="10176705" cy="304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Threats rarely stay in one domain !</a:t>
            </a:r>
            <a:endParaRPr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AB7412-5520-9F66-58BB-F2D50E297143}"/>
              </a:ext>
            </a:extLst>
          </p:cNvPr>
          <p:cNvSpPr txBox="1"/>
          <p:nvPr/>
        </p:nvSpPr>
        <p:spPr>
          <a:xfrm>
            <a:off x="457200" y="1508760"/>
            <a:ext cx="10515600" cy="2639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b="0" i="1" dirty="0">
                <a:solidFill>
                  <a:srgbClr val="D0D0D8"/>
                </a:solidFill>
                <a:latin typeface="Overpass"/>
              </a:rPr>
              <a:t>Example chain  ·  H → S → T  ·  harm enables deception; deception enables exploitation. Each step looks benign in isolation.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2056E6D-B979-6EDF-AA16-EF03A7C994B8}"/>
              </a:ext>
            </a:extLst>
          </p:cNvPr>
          <p:cNvSpPr/>
          <p:nvPr/>
        </p:nvSpPr>
        <p:spPr>
          <a:xfrm>
            <a:off x="457200" y="2011680"/>
            <a:ext cx="3520440" cy="3383280"/>
          </a:xfrm>
          <a:prstGeom prst="roundRect">
            <a:avLst>
              <a:gd name="adj" fmla="val 3000"/>
            </a:avLst>
          </a:prstGeom>
          <a:solidFill>
            <a:srgbClr val="2A2938"/>
          </a:solidFill>
          <a:ln w="6350">
            <a:solidFill>
              <a:srgbClr val="4AB0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1403B3-049D-B623-4730-B15C7FC23DA1}"/>
              </a:ext>
            </a:extLst>
          </p:cNvPr>
          <p:cNvSpPr/>
          <p:nvPr/>
        </p:nvSpPr>
        <p:spPr>
          <a:xfrm>
            <a:off x="457200" y="2011680"/>
            <a:ext cx="3520440" cy="45720"/>
          </a:xfrm>
          <a:prstGeom prst="rect">
            <a:avLst/>
          </a:prstGeom>
          <a:solidFill>
            <a:srgbClr val="08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B37BB7-CB8F-A3EA-A7AF-626E02545C6B}"/>
              </a:ext>
            </a:extLst>
          </p:cNvPr>
          <p:cNvSpPr txBox="1"/>
          <p:nvPr/>
        </p:nvSpPr>
        <p:spPr>
          <a:xfrm>
            <a:off x="685800" y="2176272"/>
            <a:ext cx="3063240" cy="247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1" i="0">
                <a:solidFill>
                  <a:srgbClr val="08F4D6"/>
                </a:solidFill>
                <a:latin typeface="Overpass Black"/>
              </a:rPr>
              <a:t>STEP 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DA6EBD9-4783-734A-738B-150C17D495CF}"/>
              </a:ext>
            </a:extLst>
          </p:cNvPr>
          <p:cNvSpPr/>
          <p:nvPr/>
        </p:nvSpPr>
        <p:spPr>
          <a:xfrm>
            <a:off x="3200399" y="2194560"/>
            <a:ext cx="548640" cy="548640"/>
          </a:xfrm>
          <a:prstGeom prst="ellipse">
            <a:avLst/>
          </a:prstGeom>
          <a:solidFill>
            <a:srgbClr val="08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5C45F7-030E-EDE8-BA5E-413B7C5FC853}"/>
              </a:ext>
            </a:extLst>
          </p:cNvPr>
          <p:cNvSpPr txBox="1"/>
          <p:nvPr/>
        </p:nvSpPr>
        <p:spPr>
          <a:xfrm>
            <a:off x="3200399" y="2292499"/>
            <a:ext cx="548640" cy="3893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1D1C28"/>
                </a:solidFill>
                <a:latin typeface="Overpass Black"/>
              </a:rPr>
              <a:t>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9E48F1-EAB7-06A2-5BFB-40CDC48B8FFD}"/>
              </a:ext>
            </a:extLst>
          </p:cNvPr>
          <p:cNvSpPr txBox="1"/>
          <p:nvPr/>
        </p:nvSpPr>
        <p:spPr>
          <a:xfrm>
            <a:off x="685800" y="251460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Overpass Black"/>
              </a:rPr>
              <a:t>HARM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B773F7-A173-8236-3C7F-61BDCADBE584}"/>
              </a:ext>
            </a:extLst>
          </p:cNvPr>
          <p:cNvSpPr txBox="1"/>
          <p:nvPr/>
        </p:nvSpPr>
        <p:spPr>
          <a:xfrm>
            <a:off x="685800" y="3017520"/>
            <a:ext cx="3063240" cy="11041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b="0" i="0" dirty="0">
                <a:solidFill>
                  <a:srgbClr val="E8E8EE"/>
                </a:solidFill>
                <a:latin typeface="Overpass"/>
              </a:rPr>
              <a:t>Actor establishes manipulative relationship with target. Trust built across sessions. No harmful keywords. No isolated policy violation.</a:t>
            </a:r>
          </a:p>
        </p:txBody>
      </p:sp>
      <p:cxnSp>
        <p:nvCxnSpPr>
          <p:cNvPr id="13" name="Connector 11">
            <a:extLst>
              <a:ext uri="{FF2B5EF4-FFF2-40B4-BE49-F238E27FC236}">
                <a16:creationId xmlns:a16="http://schemas.microsoft.com/office/drawing/2014/main" id="{DD03F646-78D6-66DD-AF9B-A7602B9B1830}"/>
              </a:ext>
            </a:extLst>
          </p:cNvPr>
          <p:cNvCxnSpPr/>
          <p:nvPr/>
        </p:nvCxnSpPr>
        <p:spPr>
          <a:xfrm>
            <a:off x="685800" y="4572000"/>
            <a:ext cx="3063239" cy="0"/>
          </a:xfrm>
          <a:prstGeom prst="line">
            <a:avLst/>
          </a:prstGeom>
          <a:ln w="5080">
            <a:solidFill>
              <a:srgbClr val="4AB0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43D998C-4FC5-26D8-C703-36B0E473F032}"/>
              </a:ext>
            </a:extLst>
          </p:cNvPr>
          <p:cNvSpPr txBox="1"/>
          <p:nvPr/>
        </p:nvSpPr>
        <p:spPr>
          <a:xfrm>
            <a:off x="685800" y="4617720"/>
            <a:ext cx="3063240" cy="1592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8F4D6"/>
                </a:solidFill>
                <a:latin typeface="Overpass Black"/>
              </a:rPr>
              <a:t>TELEMETRY HOOK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889EF0-5308-B4E2-9AEF-D86101AF84B0}"/>
              </a:ext>
            </a:extLst>
          </p:cNvPr>
          <p:cNvSpPr txBox="1"/>
          <p:nvPr/>
        </p:nvSpPr>
        <p:spPr>
          <a:xfrm>
            <a:off x="685800" y="4846320"/>
            <a:ext cx="3063240" cy="174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onsolas"/>
              </a:rPr>
              <a:t>msg.risk.score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3EADAE-93D6-911F-635F-3268AF3D5E11}"/>
              </a:ext>
            </a:extLst>
          </p:cNvPr>
          <p:cNvSpPr txBox="1"/>
          <p:nvPr/>
        </p:nvSpPr>
        <p:spPr>
          <a:xfrm>
            <a:off x="685800" y="5074920"/>
            <a:ext cx="306324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D0D0D8"/>
                </a:solidFill>
                <a:latin typeface="Overpass"/>
              </a:rPr>
              <a:t>escalating intimacy + secrecy signals</a:t>
            </a:r>
          </a:p>
        </p:txBody>
      </p:sp>
      <p:cxnSp>
        <p:nvCxnSpPr>
          <p:cNvPr id="17" name="Connector 15">
            <a:extLst>
              <a:ext uri="{FF2B5EF4-FFF2-40B4-BE49-F238E27FC236}">
                <a16:creationId xmlns:a16="http://schemas.microsoft.com/office/drawing/2014/main" id="{FB154D3C-F452-D2C8-B369-63C2423679C4}"/>
              </a:ext>
            </a:extLst>
          </p:cNvPr>
          <p:cNvCxnSpPr/>
          <p:nvPr/>
        </p:nvCxnSpPr>
        <p:spPr>
          <a:xfrm>
            <a:off x="3995927" y="3703320"/>
            <a:ext cx="128016" cy="0"/>
          </a:xfrm>
          <a:prstGeom prst="line">
            <a:avLst/>
          </a:prstGeom>
          <a:ln w="31750">
            <a:solidFill>
              <a:srgbClr val="08F4D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6">
            <a:extLst>
              <a:ext uri="{FF2B5EF4-FFF2-40B4-BE49-F238E27FC236}">
                <a16:creationId xmlns:a16="http://schemas.microsoft.com/office/drawing/2014/main" id="{0A97AB4A-8EB8-C387-F2B7-D0D3B613F1DC}"/>
              </a:ext>
            </a:extLst>
          </p:cNvPr>
          <p:cNvSpPr/>
          <p:nvPr/>
        </p:nvSpPr>
        <p:spPr>
          <a:xfrm>
            <a:off x="4142232" y="2011680"/>
            <a:ext cx="3520440" cy="3383280"/>
          </a:xfrm>
          <a:prstGeom prst="roundRect">
            <a:avLst>
              <a:gd name="adj" fmla="val 3000"/>
            </a:avLst>
          </a:prstGeom>
          <a:solidFill>
            <a:srgbClr val="2A2938"/>
          </a:solidFill>
          <a:ln w="6350">
            <a:solidFill>
              <a:srgbClr val="4AB0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67E0453-5BE6-3276-25AF-1D1AD99C7A20}"/>
              </a:ext>
            </a:extLst>
          </p:cNvPr>
          <p:cNvSpPr/>
          <p:nvPr/>
        </p:nvSpPr>
        <p:spPr>
          <a:xfrm>
            <a:off x="4142232" y="2011680"/>
            <a:ext cx="3520440" cy="45720"/>
          </a:xfrm>
          <a:prstGeom prst="rect">
            <a:avLst/>
          </a:prstGeom>
          <a:solidFill>
            <a:srgbClr val="08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0A0680-5E31-9D72-444B-3A626C569D25}"/>
              </a:ext>
            </a:extLst>
          </p:cNvPr>
          <p:cNvSpPr txBox="1"/>
          <p:nvPr/>
        </p:nvSpPr>
        <p:spPr>
          <a:xfrm>
            <a:off x="4370832" y="2176272"/>
            <a:ext cx="3063240" cy="247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1" i="0">
                <a:solidFill>
                  <a:srgbClr val="08F4D6"/>
                </a:solidFill>
                <a:latin typeface="Overpass Black"/>
              </a:rPr>
              <a:t>STEP 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04C719B-9193-AA3F-0DCA-D10F888071AF}"/>
              </a:ext>
            </a:extLst>
          </p:cNvPr>
          <p:cNvSpPr/>
          <p:nvPr/>
        </p:nvSpPr>
        <p:spPr>
          <a:xfrm>
            <a:off x="6885432" y="2194560"/>
            <a:ext cx="548640" cy="548640"/>
          </a:xfrm>
          <a:prstGeom prst="ellipse">
            <a:avLst/>
          </a:prstGeom>
          <a:solidFill>
            <a:srgbClr val="08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4D9153-17DC-C1C1-180D-3AB4C30E9A16}"/>
              </a:ext>
            </a:extLst>
          </p:cNvPr>
          <p:cNvSpPr txBox="1"/>
          <p:nvPr/>
        </p:nvSpPr>
        <p:spPr>
          <a:xfrm>
            <a:off x="6885432" y="2292499"/>
            <a:ext cx="548640" cy="3893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1D1C28"/>
                </a:solidFill>
                <a:latin typeface="Overpass Black"/>
              </a:rPr>
              <a:t>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A83899-FBBE-E0CC-EFE6-5ECB520EDF85}"/>
              </a:ext>
            </a:extLst>
          </p:cNvPr>
          <p:cNvSpPr txBox="1"/>
          <p:nvPr/>
        </p:nvSpPr>
        <p:spPr>
          <a:xfrm>
            <a:off x="4370832" y="251460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Overpass Black"/>
              </a:rPr>
              <a:t>SOCIAL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F13513-F857-1346-9E1B-0C2D67B6DF5D}"/>
              </a:ext>
            </a:extLst>
          </p:cNvPr>
          <p:cNvSpPr txBox="1"/>
          <p:nvPr/>
        </p:nvSpPr>
        <p:spPr>
          <a:xfrm>
            <a:off x="4370832" y="3017520"/>
            <a:ext cx="3063240" cy="11041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b="0" i="0">
                <a:solidFill>
                  <a:srgbClr val="E8E8EE"/>
                </a:solidFill>
                <a:latin typeface="Overpass"/>
              </a:rPr>
              <a:t>Actor presents fabricated identity — look-alike username, spoofed credential. Target already trusts; accepts. No identity check failed.</a:t>
            </a:r>
          </a:p>
        </p:txBody>
      </p:sp>
      <p:cxnSp>
        <p:nvCxnSpPr>
          <p:cNvPr id="25" name="Connector 23">
            <a:extLst>
              <a:ext uri="{FF2B5EF4-FFF2-40B4-BE49-F238E27FC236}">
                <a16:creationId xmlns:a16="http://schemas.microsoft.com/office/drawing/2014/main" id="{A67A6C23-2FA1-9639-99BA-FFA693639D5B}"/>
              </a:ext>
            </a:extLst>
          </p:cNvPr>
          <p:cNvCxnSpPr/>
          <p:nvPr/>
        </p:nvCxnSpPr>
        <p:spPr>
          <a:xfrm>
            <a:off x="4370832" y="4572000"/>
            <a:ext cx="3063240" cy="0"/>
          </a:xfrm>
          <a:prstGeom prst="line">
            <a:avLst/>
          </a:prstGeom>
          <a:ln w="5080">
            <a:solidFill>
              <a:srgbClr val="4AB0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450A2FC-DB23-BAC3-B58D-C2EE4FE57B95}"/>
              </a:ext>
            </a:extLst>
          </p:cNvPr>
          <p:cNvSpPr txBox="1"/>
          <p:nvPr/>
        </p:nvSpPr>
        <p:spPr>
          <a:xfrm>
            <a:off x="4370832" y="4617720"/>
            <a:ext cx="3063240" cy="1592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8F4D6"/>
                </a:solidFill>
                <a:latin typeface="Overpass Black"/>
              </a:rPr>
              <a:t>TELEMETRY HOOK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2F8EEB6-0038-CAC9-40DB-E2F3775D99A7}"/>
              </a:ext>
            </a:extLst>
          </p:cNvPr>
          <p:cNvSpPr txBox="1"/>
          <p:nvPr/>
        </p:nvSpPr>
        <p:spPr>
          <a:xfrm>
            <a:off x="4370832" y="4846320"/>
            <a:ext cx="3063240" cy="174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onsolas"/>
              </a:rPr>
              <a:t>identity.similarity.check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F1C4C64-852A-F570-55C7-EE510519B7E3}"/>
              </a:ext>
            </a:extLst>
          </p:cNvPr>
          <p:cNvSpPr txBox="1"/>
          <p:nvPr/>
        </p:nvSpPr>
        <p:spPr>
          <a:xfrm>
            <a:off x="4370832" y="5074920"/>
            <a:ext cx="306324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D0D0D8"/>
                </a:solidFill>
                <a:latin typeface="Overpass"/>
              </a:rPr>
              <a:t>name within edit-distance threshold</a:t>
            </a:r>
          </a:p>
        </p:txBody>
      </p:sp>
      <p:cxnSp>
        <p:nvCxnSpPr>
          <p:cNvPr id="29" name="Connector 27">
            <a:extLst>
              <a:ext uri="{FF2B5EF4-FFF2-40B4-BE49-F238E27FC236}">
                <a16:creationId xmlns:a16="http://schemas.microsoft.com/office/drawing/2014/main" id="{D6466770-8226-E61D-7BEC-9325F6531634}"/>
              </a:ext>
            </a:extLst>
          </p:cNvPr>
          <p:cNvCxnSpPr/>
          <p:nvPr/>
        </p:nvCxnSpPr>
        <p:spPr>
          <a:xfrm>
            <a:off x="7680960" y="3703320"/>
            <a:ext cx="128016" cy="0"/>
          </a:xfrm>
          <a:prstGeom prst="line">
            <a:avLst/>
          </a:prstGeom>
          <a:ln w="31750">
            <a:solidFill>
              <a:srgbClr val="08F4D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8">
            <a:extLst>
              <a:ext uri="{FF2B5EF4-FFF2-40B4-BE49-F238E27FC236}">
                <a16:creationId xmlns:a16="http://schemas.microsoft.com/office/drawing/2014/main" id="{CDF5A332-17F4-C929-86A9-657AB6AEE86B}"/>
              </a:ext>
            </a:extLst>
          </p:cNvPr>
          <p:cNvSpPr/>
          <p:nvPr/>
        </p:nvSpPr>
        <p:spPr>
          <a:xfrm>
            <a:off x="7827264" y="2011680"/>
            <a:ext cx="3520440" cy="3383280"/>
          </a:xfrm>
          <a:prstGeom prst="roundRect">
            <a:avLst>
              <a:gd name="adj" fmla="val 3000"/>
            </a:avLst>
          </a:prstGeom>
          <a:solidFill>
            <a:srgbClr val="2A2938"/>
          </a:solidFill>
          <a:ln w="6350">
            <a:solidFill>
              <a:srgbClr val="4AB0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0A966E6-3FEE-E416-5D51-2D435174DCA5}"/>
              </a:ext>
            </a:extLst>
          </p:cNvPr>
          <p:cNvSpPr/>
          <p:nvPr/>
        </p:nvSpPr>
        <p:spPr>
          <a:xfrm>
            <a:off x="7827264" y="2011680"/>
            <a:ext cx="3520440" cy="45720"/>
          </a:xfrm>
          <a:prstGeom prst="rect">
            <a:avLst/>
          </a:prstGeom>
          <a:solidFill>
            <a:srgbClr val="08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9AC2AED-D1AF-31B7-123D-48915518A3DC}"/>
              </a:ext>
            </a:extLst>
          </p:cNvPr>
          <p:cNvSpPr txBox="1"/>
          <p:nvPr/>
        </p:nvSpPr>
        <p:spPr>
          <a:xfrm>
            <a:off x="8055864" y="2176272"/>
            <a:ext cx="3063240" cy="247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1" i="0">
                <a:solidFill>
                  <a:srgbClr val="08F4D6"/>
                </a:solidFill>
                <a:latin typeface="Overpass Black"/>
              </a:rPr>
              <a:t>STEP 3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96347FD-998B-960F-E500-A55C9675CBC5}"/>
              </a:ext>
            </a:extLst>
          </p:cNvPr>
          <p:cNvSpPr/>
          <p:nvPr/>
        </p:nvSpPr>
        <p:spPr>
          <a:xfrm>
            <a:off x="10570464" y="2194560"/>
            <a:ext cx="548640" cy="548640"/>
          </a:xfrm>
          <a:prstGeom prst="ellipse">
            <a:avLst/>
          </a:prstGeom>
          <a:solidFill>
            <a:srgbClr val="08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080BA98-9829-6B1A-CA77-27D279100331}"/>
              </a:ext>
            </a:extLst>
          </p:cNvPr>
          <p:cNvSpPr txBox="1"/>
          <p:nvPr/>
        </p:nvSpPr>
        <p:spPr>
          <a:xfrm>
            <a:off x="10570464" y="2292499"/>
            <a:ext cx="548640" cy="3893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1D1C28"/>
                </a:solidFill>
                <a:latin typeface="Overpass Black"/>
              </a:rPr>
              <a:t>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5491989-27E2-E2F5-10F9-6AA884FBE631}"/>
              </a:ext>
            </a:extLst>
          </p:cNvPr>
          <p:cNvSpPr txBox="1"/>
          <p:nvPr/>
        </p:nvSpPr>
        <p:spPr>
          <a:xfrm>
            <a:off x="8055864" y="251460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Overpass Black"/>
              </a:rPr>
              <a:t>TRADE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24CE154-CEBE-2951-BC7E-562B883D65E7}"/>
              </a:ext>
            </a:extLst>
          </p:cNvPr>
          <p:cNvSpPr txBox="1"/>
          <p:nvPr/>
        </p:nvSpPr>
        <p:spPr>
          <a:xfrm>
            <a:off x="8055864" y="3017520"/>
            <a:ext cx="3063240" cy="824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b="0" i="0">
                <a:solidFill>
                  <a:srgbClr val="E8E8EE"/>
                </a:solidFill>
                <a:latin typeface="Overpass"/>
              </a:rPr>
              <a:t>Actor directs target to transfer value. Transaction is valid. Transfer is voluntary. No fraud signal fires.</a:t>
            </a:r>
          </a:p>
        </p:txBody>
      </p:sp>
      <p:cxnSp>
        <p:nvCxnSpPr>
          <p:cNvPr id="37" name="Connector 35">
            <a:extLst>
              <a:ext uri="{FF2B5EF4-FFF2-40B4-BE49-F238E27FC236}">
                <a16:creationId xmlns:a16="http://schemas.microsoft.com/office/drawing/2014/main" id="{35CFA1F7-7AB1-C46B-D19C-25774E4B4B4C}"/>
              </a:ext>
            </a:extLst>
          </p:cNvPr>
          <p:cNvCxnSpPr/>
          <p:nvPr/>
        </p:nvCxnSpPr>
        <p:spPr>
          <a:xfrm>
            <a:off x="8055864" y="4572000"/>
            <a:ext cx="3063240" cy="0"/>
          </a:xfrm>
          <a:prstGeom prst="line">
            <a:avLst/>
          </a:prstGeom>
          <a:ln w="5080">
            <a:solidFill>
              <a:srgbClr val="4AB09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D1941A6-2935-2C5A-2AD5-D102B7AFA9E6}"/>
              </a:ext>
            </a:extLst>
          </p:cNvPr>
          <p:cNvSpPr txBox="1"/>
          <p:nvPr/>
        </p:nvSpPr>
        <p:spPr>
          <a:xfrm>
            <a:off x="8055864" y="4617720"/>
            <a:ext cx="3063240" cy="1592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8F4D6"/>
                </a:solidFill>
                <a:latin typeface="Overpass Black"/>
              </a:rPr>
              <a:t>TELEMETRY HOOK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08EF94F-2AF6-A232-4E93-22BD664CDF16}"/>
              </a:ext>
            </a:extLst>
          </p:cNvPr>
          <p:cNvSpPr txBox="1"/>
          <p:nvPr/>
        </p:nvSpPr>
        <p:spPr>
          <a:xfrm>
            <a:off x="8055864" y="4846320"/>
            <a:ext cx="3063240" cy="174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Consolas"/>
              </a:rPr>
              <a:t>value.transfer.context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DF57C57-26A0-D627-5747-2A3393A7AF91}"/>
              </a:ext>
            </a:extLst>
          </p:cNvPr>
          <p:cNvSpPr txBox="1"/>
          <p:nvPr/>
        </p:nvSpPr>
        <p:spPr>
          <a:xfrm>
            <a:off x="8055864" y="5074920"/>
            <a:ext cx="306324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D0D0D8"/>
                </a:solidFill>
                <a:latin typeface="Overpass"/>
              </a:rPr>
              <a:t>transfer correlated with flagged interaction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845E4F6-5270-280F-068F-B715C04B3365}"/>
              </a:ext>
            </a:extLst>
          </p:cNvPr>
          <p:cNvSpPr txBox="1"/>
          <p:nvPr/>
        </p:nvSpPr>
        <p:spPr>
          <a:xfrm>
            <a:off x="457200" y="5608320"/>
            <a:ext cx="10972800" cy="2639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i="1" dirty="0">
                <a:solidFill>
                  <a:srgbClr val="4AB09E"/>
                </a:solidFill>
                <a:latin typeface="Overpass"/>
              </a:rPr>
              <a:t>Each step looks benign on its own. The chain reveals the pattern.</a:t>
            </a:r>
            <a:endParaRPr b="0" i="1" dirty="0">
              <a:solidFill>
                <a:srgbClr val="4AB09E"/>
              </a:solidFill>
              <a:latin typeface="Overpass"/>
            </a:endParaRPr>
          </a:p>
        </p:txBody>
      </p:sp>
    </p:spTree>
    <p:extLst>
      <p:ext uri="{BB962C8B-B14F-4D97-AF65-F5344CB8AC3E}">
        <p14:creationId xmlns:p14="http://schemas.microsoft.com/office/powerpoint/2010/main" val="41232911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>
          <a:extLst>
            <a:ext uri="{FF2B5EF4-FFF2-40B4-BE49-F238E27FC236}">
              <a16:creationId xmlns:a16="http://schemas.microsoft.com/office/drawing/2014/main" id="{D1400C75-FA2A-F952-A3B0-39A725A15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0">
            <a:extLst>
              <a:ext uri="{FF2B5EF4-FFF2-40B4-BE49-F238E27FC236}">
                <a16:creationId xmlns:a16="http://schemas.microsoft.com/office/drawing/2014/main" id="{35AAD251-8E37-563C-C89E-24E9A9CF204E}"/>
              </a:ext>
            </a:extLst>
          </p:cNvPr>
          <p:cNvSpPr/>
          <p:nvPr/>
        </p:nvSpPr>
        <p:spPr>
          <a:xfrm>
            <a:off x="411480" y="22100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G.H.O.S.T  |  DEMO</a:t>
            </a:r>
            <a:endParaRPr lang="en-US" sz="1000" b="1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FAD181CB-ABBD-02E7-F08C-AB340339578E}"/>
              </a:ext>
            </a:extLst>
          </p:cNvPr>
          <p:cNvSpPr/>
          <p:nvPr/>
        </p:nvSpPr>
        <p:spPr>
          <a:xfrm>
            <a:off x="457200" y="137160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Tic-Tac-Toe,</a:t>
            </a:r>
            <a:endParaRPr lang="en-US" sz="3800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B6617E05-5ECA-292F-B83A-15D7F3F1B449}"/>
              </a:ext>
            </a:extLst>
          </p:cNvPr>
          <p:cNvSpPr/>
          <p:nvPr/>
        </p:nvSpPr>
        <p:spPr>
          <a:xfrm>
            <a:off x="457200" y="21488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instrumented with G.H.O.S.T.</a:t>
            </a:r>
            <a:endParaRPr lang="en-US" sz="38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9B7E2DC0-AF9F-3EEA-8891-A60133CC009C}"/>
              </a:ext>
            </a:extLst>
          </p:cNvPr>
          <p:cNvSpPr/>
          <p:nvPr/>
        </p:nvSpPr>
        <p:spPr>
          <a:xfrm>
            <a:off x="457200" y="31089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 minimal platform with toggleable controls and telemetry. Watch invariants activate and degrade in real time.</a:t>
            </a:r>
            <a:endParaRPr lang="en-US" sz="1500" dirty="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3CFCCA29-F953-5B08-75EC-CADC097691DF}"/>
              </a:ext>
            </a:extLst>
          </p:cNvPr>
          <p:cNvSpPr/>
          <p:nvPr/>
        </p:nvSpPr>
        <p:spPr>
          <a:xfrm>
            <a:off x="457200" y="4114800"/>
            <a:ext cx="548640" cy="36576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EB2FB259-735C-6795-9D69-5516B87459B6}"/>
              </a:ext>
            </a:extLst>
          </p:cNvPr>
          <p:cNvSpPr/>
          <p:nvPr/>
        </p:nvSpPr>
        <p:spPr>
          <a:xfrm>
            <a:off x="457200" y="4434840"/>
            <a:ext cx="6858000" cy="1188720"/>
          </a:xfrm>
          <a:prstGeom prst="rect">
            <a:avLst/>
          </a:prstGeom>
          <a:solidFill>
            <a:srgbClr val="121C2E"/>
          </a:solidFill>
          <a:ln w="254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9B685F4E-E6BC-14C6-1B4C-F9EB85D42FB5}"/>
              </a:ext>
            </a:extLst>
          </p:cNvPr>
          <p:cNvSpPr/>
          <p:nvPr/>
        </p:nvSpPr>
        <p:spPr>
          <a:xfrm>
            <a:off x="457200" y="4434840"/>
            <a:ext cx="91440" cy="1188720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D0E97AD3-14DB-0925-2DEE-3935B936026D}"/>
              </a:ext>
            </a:extLst>
          </p:cNvPr>
          <p:cNvSpPr/>
          <p:nvPr/>
        </p:nvSpPr>
        <p:spPr>
          <a:xfrm>
            <a:off x="777240" y="4572000"/>
            <a:ext cx="6446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TRY IT YOURSELF @</a:t>
            </a:r>
            <a:endParaRPr lang="en-US" sz="11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397A15EB-F994-F272-817B-8A814F4B922A}"/>
              </a:ext>
            </a:extLst>
          </p:cNvPr>
          <p:cNvSpPr/>
          <p:nvPr/>
        </p:nvSpPr>
        <p:spPr>
          <a:xfrm>
            <a:off x="777240" y="4864608"/>
            <a:ext cx="6446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theghostmodel.com</a:t>
            </a:r>
            <a:endParaRPr lang="en-US" sz="3200" dirty="0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A30F8927-AF91-7022-98A0-169AFCAE70D9}"/>
              </a:ext>
            </a:extLst>
          </p:cNvPr>
          <p:cNvSpPr/>
          <p:nvPr/>
        </p:nvSpPr>
        <p:spPr>
          <a:xfrm>
            <a:off x="7680960" y="1371600"/>
            <a:ext cx="4160520" cy="5166360"/>
          </a:xfrm>
          <a:prstGeom prst="roundRect">
            <a:avLst>
              <a:gd name="adj" fmla="val 2198"/>
            </a:avLst>
          </a:prstGeom>
          <a:solidFill>
            <a:srgbClr val="121C2E"/>
          </a:solidFill>
          <a:ln w="190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3DFBDA05-5CBA-DD3E-55E1-60B420C8265B}"/>
              </a:ext>
            </a:extLst>
          </p:cNvPr>
          <p:cNvSpPr/>
          <p:nvPr/>
        </p:nvSpPr>
        <p:spPr>
          <a:xfrm>
            <a:off x="7754112" y="1444752"/>
            <a:ext cx="4014216" cy="365760"/>
          </a:xfrm>
          <a:prstGeom prst="rect">
            <a:avLst/>
          </a:prstGeom>
          <a:solidFill>
            <a:srgbClr val="1A2540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18DF4A3E-EB7D-E4E4-A695-AF7183424C8C}"/>
              </a:ext>
            </a:extLst>
          </p:cNvPr>
          <p:cNvSpPr/>
          <p:nvPr/>
        </p:nvSpPr>
        <p:spPr>
          <a:xfrm>
            <a:off x="7845552" y="1536192"/>
            <a:ext cx="118872" cy="118872"/>
          </a:xfrm>
          <a:prstGeom prst="ellipse">
            <a:avLst/>
          </a:prstGeom>
          <a:solidFill>
            <a:srgbClr val="E64545"/>
          </a:solidFill>
          <a:ln w="12700">
            <a:solidFill>
              <a:srgbClr val="E64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3FCD2015-B83E-493E-5EA2-F8179AF4D981}"/>
              </a:ext>
            </a:extLst>
          </p:cNvPr>
          <p:cNvSpPr/>
          <p:nvPr/>
        </p:nvSpPr>
        <p:spPr>
          <a:xfrm>
            <a:off x="8010144" y="1536192"/>
            <a:ext cx="118872" cy="11887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4E1C2CF3-779D-E13C-AE65-0CA12EFA8F5F}"/>
              </a:ext>
            </a:extLst>
          </p:cNvPr>
          <p:cNvSpPr/>
          <p:nvPr/>
        </p:nvSpPr>
        <p:spPr>
          <a:xfrm>
            <a:off x="8174736" y="1536192"/>
            <a:ext cx="118872" cy="118872"/>
          </a:xfrm>
          <a:prstGeom prst="ellipse">
            <a:avLst/>
          </a:prstGeom>
          <a:solidFill>
            <a:srgbClr val="3EC858"/>
          </a:solidFill>
          <a:ln w="12700">
            <a:solidFill>
              <a:srgbClr val="3EC8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D6800BDA-181B-C9BE-7496-2DE79BC15D97}"/>
              </a:ext>
            </a:extLst>
          </p:cNvPr>
          <p:cNvSpPr/>
          <p:nvPr/>
        </p:nvSpPr>
        <p:spPr>
          <a:xfrm>
            <a:off x="8458200" y="14904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2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theghostmodel.com</a:t>
            </a:r>
            <a:endParaRPr lang="en-US" sz="900" dirty="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37CD7A2C-5853-1EEA-DD84-AB7DAFB3FBF4}"/>
              </a:ext>
            </a:extLst>
          </p:cNvPr>
          <p:cNvSpPr/>
          <p:nvPr/>
        </p:nvSpPr>
        <p:spPr>
          <a:xfrm>
            <a:off x="7909560" y="196596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PLAYERS</a:t>
            </a:r>
            <a:endParaRPr lang="en-US" sz="800" dirty="0"/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150C6C17-7C5A-2679-481D-D00E1E11EC24}"/>
              </a:ext>
            </a:extLst>
          </p:cNvPr>
          <p:cNvSpPr/>
          <p:nvPr/>
        </p:nvSpPr>
        <p:spPr>
          <a:xfrm>
            <a:off x="7909560" y="2212848"/>
            <a:ext cx="1805940" cy="384048"/>
          </a:xfrm>
          <a:prstGeom prst="rect">
            <a:avLst/>
          </a:prstGeom>
          <a:solidFill>
            <a:srgbClr val="1A2540"/>
          </a:solidFill>
          <a:ln w="1905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6F0E748E-C167-7E52-3A63-76BFA2020CD8}"/>
              </a:ext>
            </a:extLst>
          </p:cNvPr>
          <p:cNvSpPr/>
          <p:nvPr/>
        </p:nvSpPr>
        <p:spPr>
          <a:xfrm>
            <a:off x="8046720" y="221284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Player 1</a:t>
            </a:r>
            <a:endParaRPr lang="en-US" sz="1100" dirty="0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E6A37E08-ECE9-5381-A4C7-DE54B87BCD92}"/>
              </a:ext>
            </a:extLst>
          </p:cNvPr>
          <p:cNvSpPr/>
          <p:nvPr/>
        </p:nvSpPr>
        <p:spPr>
          <a:xfrm>
            <a:off x="9395460" y="22128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X</a:t>
            </a:r>
            <a:endParaRPr lang="en-US" sz="1400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EF26A4B6-FC6B-228D-FC5A-2C1D0AECE99A}"/>
              </a:ext>
            </a:extLst>
          </p:cNvPr>
          <p:cNvSpPr/>
          <p:nvPr/>
        </p:nvSpPr>
        <p:spPr>
          <a:xfrm>
            <a:off x="9806940" y="2212848"/>
            <a:ext cx="1805940" cy="384048"/>
          </a:xfrm>
          <a:prstGeom prst="rect">
            <a:avLst/>
          </a:prstGeom>
          <a:solidFill>
            <a:srgbClr val="1A2540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11C53F6D-B6CC-A9F5-4C56-15A3D10FB9DC}"/>
              </a:ext>
            </a:extLst>
          </p:cNvPr>
          <p:cNvSpPr/>
          <p:nvPr/>
        </p:nvSpPr>
        <p:spPr>
          <a:xfrm>
            <a:off x="9944100" y="221284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0D0D8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Player 2</a:t>
            </a:r>
            <a:endParaRPr lang="en-US" sz="1100" dirty="0"/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FF7B85EB-EB76-1232-7B27-649427567CD3}"/>
              </a:ext>
            </a:extLst>
          </p:cNvPr>
          <p:cNvSpPr/>
          <p:nvPr/>
        </p:nvSpPr>
        <p:spPr>
          <a:xfrm>
            <a:off x="11292840" y="22128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A92A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O</a:t>
            </a:r>
            <a:endParaRPr lang="en-US" sz="1400" dirty="0"/>
          </a:p>
        </p:txBody>
      </p:sp>
      <p:sp>
        <p:nvSpPr>
          <p:cNvPr id="29" name="Shape 24">
            <a:extLst>
              <a:ext uri="{FF2B5EF4-FFF2-40B4-BE49-F238E27FC236}">
                <a16:creationId xmlns:a16="http://schemas.microsoft.com/office/drawing/2014/main" id="{386C40B9-2AAF-E298-5E61-140F27AA3F30}"/>
              </a:ext>
            </a:extLst>
          </p:cNvPr>
          <p:cNvSpPr/>
          <p:nvPr/>
        </p:nvSpPr>
        <p:spPr>
          <a:xfrm>
            <a:off x="8663940" y="2834640"/>
            <a:ext cx="2194560" cy="2194560"/>
          </a:xfrm>
          <a:prstGeom prst="rect">
            <a:avLst/>
          </a:prstGeom>
          <a:solidFill>
            <a:srgbClr val="162236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031258EA-C63B-40AC-5356-D9862FB2D1F2}"/>
              </a:ext>
            </a:extLst>
          </p:cNvPr>
          <p:cNvSpPr/>
          <p:nvPr/>
        </p:nvSpPr>
        <p:spPr>
          <a:xfrm>
            <a:off x="9395460" y="2926080"/>
            <a:ext cx="0" cy="2011680"/>
          </a:xfrm>
          <a:prstGeom prst="line">
            <a:avLst/>
          </a:prstGeom>
          <a:noFill/>
          <a:ln w="254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6">
            <a:extLst>
              <a:ext uri="{FF2B5EF4-FFF2-40B4-BE49-F238E27FC236}">
                <a16:creationId xmlns:a16="http://schemas.microsoft.com/office/drawing/2014/main" id="{CC920171-05C4-20C2-D488-F3DC2FEEC27E}"/>
              </a:ext>
            </a:extLst>
          </p:cNvPr>
          <p:cNvSpPr/>
          <p:nvPr/>
        </p:nvSpPr>
        <p:spPr>
          <a:xfrm>
            <a:off x="10126980" y="2926080"/>
            <a:ext cx="0" cy="2011680"/>
          </a:xfrm>
          <a:prstGeom prst="line">
            <a:avLst/>
          </a:prstGeom>
          <a:noFill/>
          <a:ln w="254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7">
            <a:extLst>
              <a:ext uri="{FF2B5EF4-FFF2-40B4-BE49-F238E27FC236}">
                <a16:creationId xmlns:a16="http://schemas.microsoft.com/office/drawing/2014/main" id="{1428F280-CAAE-C1AE-740A-496E05D10301}"/>
              </a:ext>
            </a:extLst>
          </p:cNvPr>
          <p:cNvSpPr/>
          <p:nvPr/>
        </p:nvSpPr>
        <p:spPr>
          <a:xfrm>
            <a:off x="8755380" y="3566160"/>
            <a:ext cx="2011680" cy="0"/>
          </a:xfrm>
          <a:prstGeom prst="line">
            <a:avLst/>
          </a:prstGeom>
          <a:noFill/>
          <a:ln w="254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C7D5CB95-3EDE-FAF6-3A2E-A83D21F928D3}"/>
              </a:ext>
            </a:extLst>
          </p:cNvPr>
          <p:cNvSpPr/>
          <p:nvPr/>
        </p:nvSpPr>
        <p:spPr>
          <a:xfrm>
            <a:off x="8755380" y="4297680"/>
            <a:ext cx="2011680" cy="0"/>
          </a:xfrm>
          <a:prstGeom prst="line">
            <a:avLst/>
          </a:prstGeom>
          <a:noFill/>
          <a:ln w="254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>
            <a:extLst>
              <a:ext uri="{FF2B5EF4-FFF2-40B4-BE49-F238E27FC236}">
                <a16:creationId xmlns:a16="http://schemas.microsoft.com/office/drawing/2014/main" id="{6B91AA7B-BA46-74D5-FC23-A473E6AF55BE}"/>
              </a:ext>
            </a:extLst>
          </p:cNvPr>
          <p:cNvSpPr/>
          <p:nvPr/>
        </p:nvSpPr>
        <p:spPr>
          <a:xfrm>
            <a:off x="8663940" y="2834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X</a:t>
            </a:r>
            <a:endParaRPr lang="en-US" sz="4400" dirty="0"/>
          </a:p>
        </p:txBody>
      </p:sp>
      <p:sp>
        <p:nvSpPr>
          <p:cNvPr id="35" name="Text 30">
            <a:extLst>
              <a:ext uri="{FF2B5EF4-FFF2-40B4-BE49-F238E27FC236}">
                <a16:creationId xmlns:a16="http://schemas.microsoft.com/office/drawing/2014/main" id="{0C405694-CA37-8420-7276-863C56D66978}"/>
              </a:ext>
            </a:extLst>
          </p:cNvPr>
          <p:cNvSpPr/>
          <p:nvPr/>
        </p:nvSpPr>
        <p:spPr>
          <a:xfrm>
            <a:off x="10126980" y="2834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0A04B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O</a:t>
            </a:r>
            <a:endParaRPr lang="en-US" sz="4400" dirty="0"/>
          </a:p>
        </p:txBody>
      </p:sp>
      <p:sp>
        <p:nvSpPr>
          <p:cNvPr id="36" name="Text 31">
            <a:extLst>
              <a:ext uri="{FF2B5EF4-FFF2-40B4-BE49-F238E27FC236}">
                <a16:creationId xmlns:a16="http://schemas.microsoft.com/office/drawing/2014/main" id="{7EFD6E9D-E6BB-07E9-E6D0-CB5FF0B4D371}"/>
              </a:ext>
            </a:extLst>
          </p:cNvPr>
          <p:cNvSpPr/>
          <p:nvPr/>
        </p:nvSpPr>
        <p:spPr>
          <a:xfrm>
            <a:off x="9395460" y="3566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X</a:t>
            </a:r>
            <a:endParaRPr lang="en-US" sz="4400" dirty="0"/>
          </a:p>
        </p:txBody>
      </p:sp>
      <p:sp>
        <p:nvSpPr>
          <p:cNvPr id="37" name="Text 32">
            <a:extLst>
              <a:ext uri="{FF2B5EF4-FFF2-40B4-BE49-F238E27FC236}">
                <a16:creationId xmlns:a16="http://schemas.microsoft.com/office/drawing/2014/main" id="{80574592-207C-BC6E-C4AF-F28B62690204}"/>
              </a:ext>
            </a:extLst>
          </p:cNvPr>
          <p:cNvSpPr/>
          <p:nvPr/>
        </p:nvSpPr>
        <p:spPr>
          <a:xfrm>
            <a:off x="10126980" y="4297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0A04B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O</a:t>
            </a:r>
            <a:endParaRPr lang="en-US" sz="4400" dirty="0"/>
          </a:p>
        </p:txBody>
      </p:sp>
      <p:sp>
        <p:nvSpPr>
          <p:cNvPr id="38" name="Shape 33">
            <a:extLst>
              <a:ext uri="{FF2B5EF4-FFF2-40B4-BE49-F238E27FC236}">
                <a16:creationId xmlns:a16="http://schemas.microsoft.com/office/drawing/2014/main" id="{08E3D711-A1D8-7D0A-10F2-C0792D6B6090}"/>
              </a:ext>
            </a:extLst>
          </p:cNvPr>
          <p:cNvSpPr/>
          <p:nvPr/>
        </p:nvSpPr>
        <p:spPr>
          <a:xfrm>
            <a:off x="7863840" y="5212080"/>
            <a:ext cx="3794760" cy="1188720"/>
          </a:xfrm>
          <a:prstGeom prst="rect">
            <a:avLst/>
          </a:prstGeom>
          <a:solidFill>
            <a:srgbClr val="1A2540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4">
            <a:extLst>
              <a:ext uri="{FF2B5EF4-FFF2-40B4-BE49-F238E27FC236}">
                <a16:creationId xmlns:a16="http://schemas.microsoft.com/office/drawing/2014/main" id="{DD26F480-2C05-F11B-81DF-A59141359EDE}"/>
              </a:ext>
            </a:extLst>
          </p:cNvPr>
          <p:cNvSpPr/>
          <p:nvPr/>
        </p:nvSpPr>
        <p:spPr>
          <a:xfrm>
            <a:off x="7955280" y="526694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CHAT</a:t>
            </a:r>
            <a:endParaRPr lang="en-US" sz="800" dirty="0"/>
          </a:p>
        </p:txBody>
      </p:sp>
      <p:sp>
        <p:nvSpPr>
          <p:cNvPr id="40" name="Text 35">
            <a:extLst>
              <a:ext uri="{FF2B5EF4-FFF2-40B4-BE49-F238E27FC236}">
                <a16:creationId xmlns:a16="http://schemas.microsoft.com/office/drawing/2014/main" id="{BBD68C47-1A3F-B501-2DDA-6C08C2A92D98}"/>
              </a:ext>
            </a:extLst>
          </p:cNvPr>
          <p:cNvSpPr/>
          <p:nvPr/>
        </p:nvSpPr>
        <p:spPr>
          <a:xfrm>
            <a:off x="7955280" y="550468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Player 1: gg</a:t>
            </a:r>
            <a:endParaRPr lang="en-US" sz="1000" dirty="0"/>
          </a:p>
        </p:txBody>
      </p:sp>
      <p:sp>
        <p:nvSpPr>
          <p:cNvPr id="41" name="Text 36">
            <a:extLst>
              <a:ext uri="{FF2B5EF4-FFF2-40B4-BE49-F238E27FC236}">
                <a16:creationId xmlns:a16="http://schemas.microsoft.com/office/drawing/2014/main" id="{C1E393D2-7404-4E50-616F-1D9424305CC6}"/>
              </a:ext>
            </a:extLst>
          </p:cNvPr>
          <p:cNvSpPr/>
          <p:nvPr/>
        </p:nvSpPr>
        <p:spPr>
          <a:xfrm>
            <a:off x="7955280" y="572414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Player 2: nice play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176827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>
          <a:extLst>
            <a:ext uri="{FF2B5EF4-FFF2-40B4-BE49-F238E27FC236}">
              <a16:creationId xmlns:a16="http://schemas.microsoft.com/office/drawing/2014/main" id="{F061CCDF-C195-E794-5218-8EB8A0EA2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>
            <a:extLst>
              <a:ext uri="{FF2B5EF4-FFF2-40B4-BE49-F238E27FC236}">
                <a16:creationId xmlns:a16="http://schemas.microsoft.com/office/drawing/2014/main" id="{3259987B-A837-7329-0311-9D2B8E30044B}"/>
              </a:ext>
            </a:extLst>
          </p:cNvPr>
          <p:cNvSpPr/>
          <p:nvPr/>
        </p:nvSpPr>
        <p:spPr>
          <a:xfrm>
            <a:off x="457200" y="4023360"/>
            <a:ext cx="548640" cy="36576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E23F188-465E-F586-A68A-226F5F27AFCA}"/>
              </a:ext>
            </a:extLst>
          </p:cNvPr>
          <p:cNvSpPr/>
          <p:nvPr/>
        </p:nvSpPr>
        <p:spPr>
          <a:xfrm>
            <a:off x="457200" y="42519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Our reference interpreter:</a:t>
            </a:r>
            <a:endParaRPr lang="en-US" sz="24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FDB7DA1-38D7-F434-2315-88B6C21C4A6D}"/>
              </a:ext>
            </a:extLst>
          </p:cNvPr>
          <p:cNvSpPr/>
          <p:nvPr/>
        </p:nvSpPr>
        <p:spPr>
          <a:xfrm>
            <a:off x="457200" y="480060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GHOST-AI.</a:t>
            </a:r>
            <a:endParaRPr lang="en-US" sz="8800" dirty="0"/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156EF9D0-4D9C-D734-ACAA-D51912CBAD19}"/>
              </a:ext>
            </a:extLst>
          </p:cNvPr>
          <p:cNvSpPr/>
          <p:nvPr/>
        </p:nvSpPr>
        <p:spPr>
          <a:xfrm>
            <a:off x="411480" y="22100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G.H.O.S.T  |  GHOST AI</a:t>
            </a:r>
            <a:endParaRPr lang="en-US" sz="1000" b="1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D00EF306-0D9B-A47B-2E32-A20906184939}"/>
              </a:ext>
            </a:extLst>
          </p:cNvPr>
          <p:cNvSpPr/>
          <p:nvPr/>
        </p:nvSpPr>
        <p:spPr>
          <a:xfrm>
            <a:off x="457200" y="17373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Most telemetry require observation.</a:t>
            </a:r>
            <a:endParaRPr lang="en-US" sz="4200" dirty="0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D3D6E6F1-4AA6-7BD9-103F-F331A44905F4}"/>
              </a:ext>
            </a:extLst>
          </p:cNvPr>
          <p:cNvSpPr/>
          <p:nvPr/>
        </p:nvSpPr>
        <p:spPr>
          <a:xfrm>
            <a:off x="457200" y="2606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00" b="1" dirty="0">
                <a:solidFill>
                  <a:srgbClr val="FFFFFF"/>
                </a:solidFill>
                <a:latin typeface="Overpass Black" pitchFamily="34" charset="0"/>
              </a:rPr>
              <a:t>But some require interpretation.</a:t>
            </a: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287CEF6F-1BA3-D9DE-92C0-6F389BBB151D}"/>
              </a:ext>
            </a:extLst>
          </p:cNvPr>
          <p:cNvSpPr/>
          <p:nvPr/>
        </p:nvSpPr>
        <p:spPr>
          <a:xfrm>
            <a:off x="544830" y="5861685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D0D0D8"/>
                </a:solidFill>
                <a:latin typeface="Overpass" pitchFamily="34" charset="0"/>
              </a:rPr>
              <a:t>Pluggable. Replaceable.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065005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>
          <a:extLst>
            <a:ext uri="{FF2B5EF4-FFF2-40B4-BE49-F238E27FC236}">
              <a16:creationId xmlns:a16="http://schemas.microsoft.com/office/drawing/2014/main" id="{49D23A26-84E1-DA07-933C-975A5CA11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0">
            <a:extLst>
              <a:ext uri="{FF2B5EF4-FFF2-40B4-BE49-F238E27FC236}">
                <a16:creationId xmlns:a16="http://schemas.microsoft.com/office/drawing/2014/main" id="{5C0D2BA3-9BB1-FAAC-7528-A4EE591E43A6}"/>
              </a:ext>
            </a:extLst>
          </p:cNvPr>
          <p:cNvSpPr/>
          <p:nvPr/>
        </p:nvSpPr>
        <p:spPr>
          <a:xfrm>
            <a:off x="411480" y="22100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G.H.O.S.T  |  GHOST AI ARCHITECTURE</a:t>
            </a:r>
            <a:endParaRPr lang="en-US" sz="1000" b="1" dirty="0"/>
          </a:p>
        </p:txBody>
      </p:sp>
      <p:sp>
        <p:nvSpPr>
          <p:cNvPr id="2" name="Google Shape;315;p47">
            <a:extLst>
              <a:ext uri="{FF2B5EF4-FFF2-40B4-BE49-F238E27FC236}">
                <a16:creationId xmlns:a16="http://schemas.microsoft.com/office/drawing/2014/main" id="{BA42A2CB-22F3-3C7F-4BFF-35E48864FDD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71399" y="590500"/>
            <a:ext cx="10176705" cy="304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GHOST AI Architecture</a:t>
            </a:r>
            <a:endParaRPr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0832138-B10A-9463-0B9D-80B3B6ECDA94}"/>
              </a:ext>
            </a:extLst>
          </p:cNvPr>
          <p:cNvSpPr/>
          <p:nvPr/>
        </p:nvSpPr>
        <p:spPr>
          <a:xfrm>
            <a:off x="365760" y="1051560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An LLM wrapper anchored to a curated abusive-language catalog. Produces the telemetry the framework's invariants already expect.</a:t>
            </a:r>
            <a:endParaRPr lang="en-US" dirty="0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ADA5D217-D2B7-D430-3099-A8EFB4E73091}"/>
              </a:ext>
            </a:extLst>
          </p:cNvPr>
          <p:cNvSpPr/>
          <p:nvPr/>
        </p:nvSpPr>
        <p:spPr>
          <a:xfrm>
            <a:off x="365760" y="1691640"/>
            <a:ext cx="7589520" cy="4663440"/>
          </a:xfrm>
          <a:prstGeom prst="rect">
            <a:avLst/>
          </a:prstGeom>
          <a:solidFill>
            <a:srgbClr val="121C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3EA667FD-9129-3A02-26CE-0345DF863FD4}"/>
              </a:ext>
            </a:extLst>
          </p:cNvPr>
          <p:cNvSpPr/>
          <p:nvPr/>
        </p:nvSpPr>
        <p:spPr>
          <a:xfrm>
            <a:off x="594360" y="18288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B794E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GHOST AI ARCHITECTURE</a:t>
            </a:r>
            <a:endParaRPr lang="en-US" sz="1200" dirty="0"/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B1D443FF-0DE7-6B4F-67CB-277C0D76F83D}"/>
              </a:ext>
            </a:extLst>
          </p:cNvPr>
          <p:cNvSpPr/>
          <p:nvPr/>
        </p:nvSpPr>
        <p:spPr>
          <a:xfrm>
            <a:off x="640080" y="2240280"/>
            <a:ext cx="7040880" cy="777240"/>
          </a:xfrm>
          <a:prstGeom prst="rect">
            <a:avLst/>
          </a:prstGeom>
          <a:solidFill>
            <a:srgbClr val="1A2540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1531A3CA-5359-4541-597C-76E0D613EA6C}"/>
              </a:ext>
            </a:extLst>
          </p:cNvPr>
          <p:cNvSpPr/>
          <p:nvPr/>
        </p:nvSpPr>
        <p:spPr>
          <a:xfrm>
            <a:off x="640080" y="2240280"/>
            <a:ext cx="54864" cy="777240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8051A6EF-8F3F-6FB9-152B-6174E325FCCF}"/>
              </a:ext>
            </a:extLst>
          </p:cNvPr>
          <p:cNvSpPr/>
          <p:nvPr/>
        </p:nvSpPr>
        <p:spPr>
          <a:xfrm>
            <a:off x="777240" y="23134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INPUT</a:t>
            </a:r>
            <a:endParaRPr lang="en-US" sz="95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40DB3722-DD51-520C-D510-89305D55CF8D}"/>
              </a:ext>
            </a:extLst>
          </p:cNvPr>
          <p:cNvSpPr/>
          <p:nvPr/>
        </p:nvSpPr>
        <p:spPr>
          <a:xfrm>
            <a:off x="777240" y="2514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Chat message from player</a:t>
            </a:r>
            <a:endParaRPr lang="en-US" sz="130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2325038-FE2A-95DE-44F0-61DD2AF3E994}"/>
              </a:ext>
            </a:extLst>
          </p:cNvPr>
          <p:cNvSpPr/>
          <p:nvPr/>
        </p:nvSpPr>
        <p:spPr>
          <a:xfrm>
            <a:off x="777240" y="2770632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92A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Raw text · sender identity · session context</a:t>
            </a:r>
            <a:endParaRPr lang="en-US" sz="950" dirty="0"/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D0B9E121-4E1B-D651-B176-C5B1A10A5078}"/>
              </a:ext>
            </a:extLst>
          </p:cNvPr>
          <p:cNvSpPr/>
          <p:nvPr/>
        </p:nvSpPr>
        <p:spPr>
          <a:xfrm>
            <a:off x="4846320" y="2377440"/>
            <a:ext cx="2651760" cy="502920"/>
          </a:xfrm>
          <a:prstGeom prst="rect">
            <a:avLst/>
          </a:prstGeom>
          <a:solidFill>
            <a:srgbClr val="162236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F1A47197-DDB6-E1D6-56FD-3747ADF26E26}"/>
              </a:ext>
            </a:extLst>
          </p:cNvPr>
          <p:cNvSpPr/>
          <p:nvPr/>
        </p:nvSpPr>
        <p:spPr>
          <a:xfrm>
            <a:off x="4937760" y="2377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 suck noob get off the server"</a:t>
            </a:r>
            <a:endParaRPr lang="en-US" sz="1000" dirty="0"/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B5374BDB-1919-C125-A5D3-C290F02490B1}"/>
              </a:ext>
            </a:extLst>
          </p:cNvPr>
          <p:cNvSpPr/>
          <p:nvPr/>
        </p:nvSpPr>
        <p:spPr>
          <a:xfrm>
            <a:off x="4050792" y="3035808"/>
            <a:ext cx="219456" cy="182880"/>
          </a:xfrm>
          <a:prstGeom prst="downArrow">
            <a:avLst/>
          </a:prstGeom>
          <a:solidFill>
            <a:srgbClr val="B794E8"/>
          </a:solidFill>
          <a:ln w="12700">
            <a:solidFill>
              <a:srgbClr val="B79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41DF26B3-41CD-C87C-70B0-BD5445428750}"/>
              </a:ext>
            </a:extLst>
          </p:cNvPr>
          <p:cNvSpPr/>
          <p:nvPr/>
        </p:nvSpPr>
        <p:spPr>
          <a:xfrm>
            <a:off x="640080" y="3246120"/>
            <a:ext cx="7040880" cy="777240"/>
          </a:xfrm>
          <a:prstGeom prst="rect">
            <a:avLst/>
          </a:prstGeom>
          <a:solidFill>
            <a:srgbClr val="1A2540"/>
          </a:solidFill>
          <a:ln w="19050">
            <a:solidFill>
              <a:srgbClr val="B79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DB3F7C91-B01B-055F-1850-B131818703D6}"/>
              </a:ext>
            </a:extLst>
          </p:cNvPr>
          <p:cNvSpPr/>
          <p:nvPr/>
        </p:nvSpPr>
        <p:spPr>
          <a:xfrm>
            <a:off x="640080" y="3246120"/>
            <a:ext cx="54864" cy="777240"/>
          </a:xfrm>
          <a:prstGeom prst="rect">
            <a:avLst/>
          </a:prstGeom>
          <a:solidFill>
            <a:srgbClr val="B794E8"/>
          </a:solidFill>
          <a:ln w="12700">
            <a:solidFill>
              <a:srgbClr val="B79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AEEBB5BC-4209-C698-A4B5-A20B0EDC9545}"/>
              </a:ext>
            </a:extLst>
          </p:cNvPr>
          <p:cNvSpPr/>
          <p:nvPr/>
        </p:nvSpPr>
        <p:spPr>
          <a:xfrm>
            <a:off x="777240" y="33192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B794E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GHOST-AI</a:t>
            </a:r>
            <a:endParaRPr lang="en-US" sz="950" dirty="0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223A5832-03B9-23A3-1487-D7B8EB901642}"/>
              </a:ext>
            </a:extLst>
          </p:cNvPr>
          <p:cNvSpPr/>
          <p:nvPr/>
        </p:nvSpPr>
        <p:spPr>
          <a:xfrm>
            <a:off x="77724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Abusive Language Detector</a:t>
            </a:r>
            <a:endParaRPr lang="en-US" sz="1300" dirty="0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A07EBC87-F981-F456-0D0F-43AB62AC8204}"/>
              </a:ext>
            </a:extLst>
          </p:cNvPr>
          <p:cNvSpPr/>
          <p:nvPr/>
        </p:nvSpPr>
        <p:spPr>
          <a:xfrm>
            <a:off x="777240" y="3776472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92A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Compose prompt → call LLM → extract score</a:t>
            </a:r>
            <a:endParaRPr lang="en-US" sz="950" dirty="0"/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5DE26741-7CEC-391B-0315-CB9B881FE6A2}"/>
              </a:ext>
            </a:extLst>
          </p:cNvPr>
          <p:cNvSpPr/>
          <p:nvPr/>
        </p:nvSpPr>
        <p:spPr>
          <a:xfrm>
            <a:off x="4297680" y="3502152"/>
            <a:ext cx="708660" cy="292608"/>
          </a:xfrm>
          <a:prstGeom prst="rect">
            <a:avLst/>
          </a:prstGeom>
          <a:solidFill>
            <a:srgbClr val="B794E8"/>
          </a:solidFill>
          <a:ln w="12700">
            <a:solidFill>
              <a:srgbClr val="B79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858F51C6-93D7-F2BE-58EF-DD0F5F73A826}"/>
              </a:ext>
            </a:extLst>
          </p:cNvPr>
          <p:cNvSpPr/>
          <p:nvPr/>
        </p:nvSpPr>
        <p:spPr>
          <a:xfrm>
            <a:off x="4297680" y="3502152"/>
            <a:ext cx="7086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2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CATALOG</a:t>
            </a:r>
            <a:endParaRPr lang="en-US" sz="950" dirty="0"/>
          </a:p>
        </p:txBody>
      </p:sp>
      <p:sp>
        <p:nvSpPr>
          <p:cNvPr id="23" name="Shape 22">
            <a:extLst>
              <a:ext uri="{FF2B5EF4-FFF2-40B4-BE49-F238E27FC236}">
                <a16:creationId xmlns:a16="http://schemas.microsoft.com/office/drawing/2014/main" id="{1144AC56-D14D-2740-992F-2951C5D67EDE}"/>
              </a:ext>
            </a:extLst>
          </p:cNvPr>
          <p:cNvSpPr/>
          <p:nvPr/>
        </p:nvSpPr>
        <p:spPr>
          <a:xfrm>
            <a:off x="5079492" y="3502152"/>
            <a:ext cx="708660" cy="292608"/>
          </a:xfrm>
          <a:prstGeom prst="rect">
            <a:avLst/>
          </a:prstGeom>
          <a:solidFill>
            <a:srgbClr val="162236"/>
          </a:solidFill>
          <a:ln w="12700">
            <a:solidFill>
              <a:srgbClr val="B79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8BF21225-121E-DEBD-E08B-940BA825D895}"/>
              </a:ext>
            </a:extLst>
          </p:cNvPr>
          <p:cNvSpPr/>
          <p:nvPr/>
        </p:nvSpPr>
        <p:spPr>
          <a:xfrm>
            <a:off x="5079492" y="3502152"/>
            <a:ext cx="7086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79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endParaRPr lang="en-US" sz="950" dirty="0"/>
          </a:p>
        </p:txBody>
      </p:sp>
      <p:sp>
        <p:nvSpPr>
          <p:cNvPr id="25" name="Shape 24">
            <a:extLst>
              <a:ext uri="{FF2B5EF4-FFF2-40B4-BE49-F238E27FC236}">
                <a16:creationId xmlns:a16="http://schemas.microsoft.com/office/drawing/2014/main" id="{075EB8A1-666D-7DDF-03AE-8FEA0E8315B3}"/>
              </a:ext>
            </a:extLst>
          </p:cNvPr>
          <p:cNvSpPr/>
          <p:nvPr/>
        </p:nvSpPr>
        <p:spPr>
          <a:xfrm>
            <a:off x="5861304" y="3502152"/>
            <a:ext cx="708660" cy="292608"/>
          </a:xfrm>
          <a:prstGeom prst="rect">
            <a:avLst/>
          </a:prstGeom>
          <a:solidFill>
            <a:srgbClr val="162236"/>
          </a:solidFill>
          <a:ln w="12700">
            <a:solidFill>
              <a:srgbClr val="B79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B7E57AA3-A2FE-B71B-969A-E70C12F4966D}"/>
              </a:ext>
            </a:extLst>
          </p:cNvPr>
          <p:cNvSpPr/>
          <p:nvPr/>
        </p:nvSpPr>
        <p:spPr>
          <a:xfrm>
            <a:off x="5861304" y="3502152"/>
            <a:ext cx="7086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79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</a:t>
            </a:r>
            <a:endParaRPr lang="en-US" sz="950" dirty="0"/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B23F1FB2-DD1D-5C27-E95A-FB5B5E1DD1B9}"/>
              </a:ext>
            </a:extLst>
          </p:cNvPr>
          <p:cNvSpPr/>
          <p:nvPr/>
        </p:nvSpPr>
        <p:spPr>
          <a:xfrm>
            <a:off x="6643116" y="3502152"/>
            <a:ext cx="708660" cy="292608"/>
          </a:xfrm>
          <a:prstGeom prst="rect">
            <a:avLst/>
          </a:prstGeom>
          <a:solidFill>
            <a:srgbClr val="162236"/>
          </a:solidFill>
          <a:ln w="12700">
            <a:solidFill>
              <a:srgbClr val="B79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826BF28D-44DC-4F77-EF85-4CE26BD4A943}"/>
              </a:ext>
            </a:extLst>
          </p:cNvPr>
          <p:cNvSpPr/>
          <p:nvPr/>
        </p:nvSpPr>
        <p:spPr>
          <a:xfrm>
            <a:off x="6643116" y="3502152"/>
            <a:ext cx="7086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79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</a:t>
            </a:r>
            <a:endParaRPr lang="en-US" sz="950" dirty="0"/>
          </a:p>
        </p:txBody>
      </p:sp>
      <p:sp>
        <p:nvSpPr>
          <p:cNvPr id="29" name="Shape 28">
            <a:extLst>
              <a:ext uri="{FF2B5EF4-FFF2-40B4-BE49-F238E27FC236}">
                <a16:creationId xmlns:a16="http://schemas.microsoft.com/office/drawing/2014/main" id="{4DF34BB5-C978-D58C-D7EC-B9E55A30B291}"/>
              </a:ext>
            </a:extLst>
          </p:cNvPr>
          <p:cNvSpPr/>
          <p:nvPr/>
        </p:nvSpPr>
        <p:spPr>
          <a:xfrm>
            <a:off x="4050792" y="4041648"/>
            <a:ext cx="219456" cy="182880"/>
          </a:xfrm>
          <a:prstGeom prst="downArrow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9">
            <a:extLst>
              <a:ext uri="{FF2B5EF4-FFF2-40B4-BE49-F238E27FC236}">
                <a16:creationId xmlns:a16="http://schemas.microsoft.com/office/drawing/2014/main" id="{05575667-3BDF-7A37-8235-F686D3F82F3B}"/>
              </a:ext>
            </a:extLst>
          </p:cNvPr>
          <p:cNvSpPr/>
          <p:nvPr/>
        </p:nvSpPr>
        <p:spPr>
          <a:xfrm>
            <a:off x="640080" y="4251960"/>
            <a:ext cx="7040880" cy="777240"/>
          </a:xfrm>
          <a:prstGeom prst="rect">
            <a:avLst/>
          </a:prstGeom>
          <a:solidFill>
            <a:srgbClr val="1A2540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30">
            <a:extLst>
              <a:ext uri="{FF2B5EF4-FFF2-40B4-BE49-F238E27FC236}">
                <a16:creationId xmlns:a16="http://schemas.microsoft.com/office/drawing/2014/main" id="{750A075C-12CC-3C69-7728-621BFF0043B1}"/>
              </a:ext>
            </a:extLst>
          </p:cNvPr>
          <p:cNvSpPr/>
          <p:nvPr/>
        </p:nvSpPr>
        <p:spPr>
          <a:xfrm>
            <a:off x="640080" y="4251960"/>
            <a:ext cx="54864" cy="777240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1">
            <a:extLst>
              <a:ext uri="{FF2B5EF4-FFF2-40B4-BE49-F238E27FC236}">
                <a16:creationId xmlns:a16="http://schemas.microsoft.com/office/drawing/2014/main" id="{F9A0711D-98AA-C5E1-A6EF-9002BBB0341D}"/>
              </a:ext>
            </a:extLst>
          </p:cNvPr>
          <p:cNvSpPr/>
          <p:nvPr/>
        </p:nvSpPr>
        <p:spPr>
          <a:xfrm>
            <a:off x="777240" y="43251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TELEMETRY</a:t>
            </a:r>
            <a:endParaRPr lang="en-US" sz="950" dirty="0"/>
          </a:p>
        </p:txBody>
      </p:sp>
      <p:sp>
        <p:nvSpPr>
          <p:cNvPr id="33" name="Text 32">
            <a:extLst>
              <a:ext uri="{FF2B5EF4-FFF2-40B4-BE49-F238E27FC236}">
                <a16:creationId xmlns:a16="http://schemas.microsoft.com/office/drawing/2014/main" id="{E60A0E21-FCDC-9659-35EB-7834B2CE00F8}"/>
              </a:ext>
            </a:extLst>
          </p:cNvPr>
          <p:cNvSpPr/>
          <p:nvPr/>
        </p:nvSpPr>
        <p:spPr>
          <a:xfrm>
            <a:off x="777240" y="4526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Framework events emitted</a:t>
            </a:r>
            <a:endParaRPr lang="en-US" sz="1300" dirty="0"/>
          </a:p>
        </p:txBody>
      </p:sp>
      <p:sp>
        <p:nvSpPr>
          <p:cNvPr id="34" name="Text 33">
            <a:extLst>
              <a:ext uri="{FF2B5EF4-FFF2-40B4-BE49-F238E27FC236}">
                <a16:creationId xmlns:a16="http://schemas.microsoft.com/office/drawing/2014/main" id="{7B5ACD83-3FAB-74C2-550B-AB2A3EC7CF0D}"/>
              </a:ext>
            </a:extLst>
          </p:cNvPr>
          <p:cNvSpPr/>
          <p:nvPr/>
        </p:nvSpPr>
        <p:spPr>
          <a:xfrm>
            <a:off x="777240" y="4782312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92A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Same schema the framework already expects</a:t>
            </a:r>
            <a:endParaRPr lang="en-US" sz="950" dirty="0"/>
          </a:p>
        </p:txBody>
      </p:sp>
      <p:sp>
        <p:nvSpPr>
          <p:cNvPr id="35" name="Shape 34">
            <a:extLst>
              <a:ext uri="{FF2B5EF4-FFF2-40B4-BE49-F238E27FC236}">
                <a16:creationId xmlns:a16="http://schemas.microsoft.com/office/drawing/2014/main" id="{50099FC4-659F-3612-9373-B8963F166F79}"/>
              </a:ext>
            </a:extLst>
          </p:cNvPr>
          <p:cNvSpPr/>
          <p:nvPr/>
        </p:nvSpPr>
        <p:spPr>
          <a:xfrm>
            <a:off x="4297680" y="4389120"/>
            <a:ext cx="3200400" cy="502920"/>
          </a:xfrm>
          <a:prstGeom prst="rect">
            <a:avLst/>
          </a:prstGeom>
          <a:solidFill>
            <a:srgbClr val="162236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5">
            <a:extLst>
              <a:ext uri="{FF2B5EF4-FFF2-40B4-BE49-F238E27FC236}">
                <a16:creationId xmlns:a16="http://schemas.microsoft.com/office/drawing/2014/main" id="{DD6C5605-884C-050A-C66E-6BD1901295FE}"/>
              </a:ext>
            </a:extLst>
          </p:cNvPr>
          <p:cNvSpPr/>
          <p:nvPr/>
        </p:nvSpPr>
        <p:spPr>
          <a:xfrm>
            <a:off x="4389120" y="4416552"/>
            <a:ext cx="3017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expression_event { classifier_score: 0.91 }
threat_signal   { class: 'harassment' }</a:t>
            </a:r>
            <a:endParaRPr lang="en-US" sz="950" dirty="0"/>
          </a:p>
        </p:txBody>
      </p:sp>
      <p:sp>
        <p:nvSpPr>
          <p:cNvPr id="37" name="Shape 36">
            <a:extLst>
              <a:ext uri="{FF2B5EF4-FFF2-40B4-BE49-F238E27FC236}">
                <a16:creationId xmlns:a16="http://schemas.microsoft.com/office/drawing/2014/main" id="{A82301A6-3CC3-E0AE-16EC-8F11D36219A0}"/>
              </a:ext>
            </a:extLst>
          </p:cNvPr>
          <p:cNvSpPr/>
          <p:nvPr/>
        </p:nvSpPr>
        <p:spPr>
          <a:xfrm>
            <a:off x="4050792" y="5047488"/>
            <a:ext cx="219456" cy="182880"/>
          </a:xfrm>
          <a:prstGeom prst="downArrow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7">
            <a:extLst>
              <a:ext uri="{FF2B5EF4-FFF2-40B4-BE49-F238E27FC236}">
                <a16:creationId xmlns:a16="http://schemas.microsoft.com/office/drawing/2014/main" id="{191CD91C-7D77-1338-C2A6-91E30C1CC3CF}"/>
              </a:ext>
            </a:extLst>
          </p:cNvPr>
          <p:cNvSpPr/>
          <p:nvPr/>
        </p:nvSpPr>
        <p:spPr>
          <a:xfrm>
            <a:off x="640080" y="5257800"/>
            <a:ext cx="7040880" cy="777240"/>
          </a:xfrm>
          <a:prstGeom prst="rect">
            <a:avLst/>
          </a:prstGeom>
          <a:solidFill>
            <a:srgbClr val="1A2540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8">
            <a:extLst>
              <a:ext uri="{FF2B5EF4-FFF2-40B4-BE49-F238E27FC236}">
                <a16:creationId xmlns:a16="http://schemas.microsoft.com/office/drawing/2014/main" id="{B8A19738-34A3-F889-F4C2-FC9143BB09F8}"/>
              </a:ext>
            </a:extLst>
          </p:cNvPr>
          <p:cNvSpPr/>
          <p:nvPr/>
        </p:nvSpPr>
        <p:spPr>
          <a:xfrm>
            <a:off x="640080" y="5257800"/>
            <a:ext cx="54864" cy="777240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9">
            <a:extLst>
              <a:ext uri="{FF2B5EF4-FFF2-40B4-BE49-F238E27FC236}">
                <a16:creationId xmlns:a16="http://schemas.microsoft.com/office/drawing/2014/main" id="{D4335698-E184-B147-9965-B7F10E6A7001}"/>
              </a:ext>
            </a:extLst>
          </p:cNvPr>
          <p:cNvSpPr/>
          <p:nvPr/>
        </p:nvSpPr>
        <p:spPr>
          <a:xfrm>
            <a:off x="777240" y="53309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INVARIANT BINDING</a:t>
            </a:r>
            <a:endParaRPr lang="en-US" sz="950" dirty="0"/>
          </a:p>
        </p:txBody>
      </p:sp>
      <p:sp>
        <p:nvSpPr>
          <p:cNvPr id="41" name="Text 40">
            <a:extLst>
              <a:ext uri="{FF2B5EF4-FFF2-40B4-BE49-F238E27FC236}">
                <a16:creationId xmlns:a16="http://schemas.microsoft.com/office/drawing/2014/main" id="{1E86B0D0-EB9D-428A-0A5D-72AE5AAB2D05}"/>
              </a:ext>
            </a:extLst>
          </p:cNvPr>
          <p:cNvSpPr/>
          <p:nvPr/>
        </p:nvSpPr>
        <p:spPr>
          <a:xfrm>
            <a:off x="777240" y="5532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H01 + H05 trigger</a:t>
            </a:r>
            <a:endParaRPr lang="en-US" sz="1300" dirty="0"/>
          </a:p>
        </p:txBody>
      </p:sp>
      <p:sp>
        <p:nvSpPr>
          <p:cNvPr id="480" name="Text 41">
            <a:extLst>
              <a:ext uri="{FF2B5EF4-FFF2-40B4-BE49-F238E27FC236}">
                <a16:creationId xmlns:a16="http://schemas.microsoft.com/office/drawing/2014/main" id="{E1239D1A-C5DA-C991-A9F7-2025A9092A83}"/>
              </a:ext>
            </a:extLst>
          </p:cNvPr>
          <p:cNvSpPr/>
          <p:nvPr/>
        </p:nvSpPr>
        <p:spPr>
          <a:xfrm>
            <a:off x="777240" y="5788152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92A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The framework already knew what to do with this telemetry</a:t>
            </a:r>
            <a:endParaRPr lang="en-US" sz="950" dirty="0"/>
          </a:p>
        </p:txBody>
      </p:sp>
      <p:sp>
        <p:nvSpPr>
          <p:cNvPr id="481" name="Shape 42">
            <a:extLst>
              <a:ext uri="{FF2B5EF4-FFF2-40B4-BE49-F238E27FC236}">
                <a16:creationId xmlns:a16="http://schemas.microsoft.com/office/drawing/2014/main" id="{4EB2A871-4915-C833-F991-D2E75FDA4304}"/>
              </a:ext>
            </a:extLst>
          </p:cNvPr>
          <p:cNvSpPr/>
          <p:nvPr/>
        </p:nvSpPr>
        <p:spPr>
          <a:xfrm>
            <a:off x="4297680" y="5486400"/>
            <a:ext cx="1463040" cy="365760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2" name="Text 43">
            <a:extLst>
              <a:ext uri="{FF2B5EF4-FFF2-40B4-BE49-F238E27FC236}">
                <a16:creationId xmlns:a16="http://schemas.microsoft.com/office/drawing/2014/main" id="{464D6D09-45AD-C1AA-2121-CE333A5A00A5}"/>
              </a:ext>
            </a:extLst>
          </p:cNvPr>
          <p:cNvSpPr/>
          <p:nvPr/>
        </p:nvSpPr>
        <p:spPr>
          <a:xfrm>
            <a:off x="4297680" y="5486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H01 ACTIVE</a:t>
            </a:r>
            <a:endParaRPr lang="en-US" sz="1100" dirty="0"/>
          </a:p>
        </p:txBody>
      </p:sp>
      <p:sp>
        <p:nvSpPr>
          <p:cNvPr id="483" name="Shape 44">
            <a:extLst>
              <a:ext uri="{FF2B5EF4-FFF2-40B4-BE49-F238E27FC236}">
                <a16:creationId xmlns:a16="http://schemas.microsoft.com/office/drawing/2014/main" id="{A0DA08EE-3E2E-B6E6-1D5D-AD81D4C1A463}"/>
              </a:ext>
            </a:extLst>
          </p:cNvPr>
          <p:cNvSpPr/>
          <p:nvPr/>
        </p:nvSpPr>
        <p:spPr>
          <a:xfrm>
            <a:off x="5897880" y="5486400"/>
            <a:ext cx="1463040" cy="365760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4" name="Text 45">
            <a:extLst>
              <a:ext uri="{FF2B5EF4-FFF2-40B4-BE49-F238E27FC236}">
                <a16:creationId xmlns:a16="http://schemas.microsoft.com/office/drawing/2014/main" id="{E5DF86E5-6FCD-8493-7BEA-ED36F029EEEF}"/>
              </a:ext>
            </a:extLst>
          </p:cNvPr>
          <p:cNvSpPr/>
          <p:nvPr/>
        </p:nvSpPr>
        <p:spPr>
          <a:xfrm>
            <a:off x="5897880" y="5486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H05 ACTIVE</a:t>
            </a:r>
            <a:endParaRPr lang="en-US" sz="1100" dirty="0"/>
          </a:p>
        </p:txBody>
      </p:sp>
      <p:sp>
        <p:nvSpPr>
          <p:cNvPr id="485" name="Shape 46">
            <a:extLst>
              <a:ext uri="{FF2B5EF4-FFF2-40B4-BE49-F238E27FC236}">
                <a16:creationId xmlns:a16="http://schemas.microsoft.com/office/drawing/2014/main" id="{48575786-0273-4DAB-FFE4-215E17847FA9}"/>
              </a:ext>
            </a:extLst>
          </p:cNvPr>
          <p:cNvSpPr/>
          <p:nvPr/>
        </p:nvSpPr>
        <p:spPr>
          <a:xfrm>
            <a:off x="8092440" y="1691640"/>
            <a:ext cx="3749040" cy="1463040"/>
          </a:xfrm>
          <a:prstGeom prst="rect">
            <a:avLst/>
          </a:prstGeom>
          <a:solidFill>
            <a:srgbClr val="121C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6" name="Shape 47">
            <a:extLst>
              <a:ext uri="{FF2B5EF4-FFF2-40B4-BE49-F238E27FC236}">
                <a16:creationId xmlns:a16="http://schemas.microsoft.com/office/drawing/2014/main" id="{8B04B754-67DC-D5EB-5464-FAFC1ACDFD8A}"/>
              </a:ext>
            </a:extLst>
          </p:cNvPr>
          <p:cNvSpPr/>
          <p:nvPr/>
        </p:nvSpPr>
        <p:spPr>
          <a:xfrm>
            <a:off x="8092440" y="1691640"/>
            <a:ext cx="54864" cy="1463040"/>
          </a:xfrm>
          <a:prstGeom prst="rect">
            <a:avLst/>
          </a:prstGeom>
          <a:solidFill>
            <a:srgbClr val="B794E8"/>
          </a:solidFill>
          <a:ln w="12700">
            <a:solidFill>
              <a:srgbClr val="B79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7" name="Text 48">
            <a:extLst>
              <a:ext uri="{FF2B5EF4-FFF2-40B4-BE49-F238E27FC236}">
                <a16:creationId xmlns:a16="http://schemas.microsoft.com/office/drawing/2014/main" id="{FA4CA760-09C4-2ADD-C718-ADA35DEB201D}"/>
              </a:ext>
            </a:extLst>
          </p:cNvPr>
          <p:cNvSpPr/>
          <p:nvPr/>
        </p:nvSpPr>
        <p:spPr>
          <a:xfrm>
            <a:off x="8275320" y="18013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B794E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WHAT IT IS</a:t>
            </a:r>
            <a:endParaRPr lang="en-US" sz="950" dirty="0"/>
          </a:p>
        </p:txBody>
      </p:sp>
      <p:sp>
        <p:nvSpPr>
          <p:cNvPr id="488" name="Text 49">
            <a:extLst>
              <a:ext uri="{FF2B5EF4-FFF2-40B4-BE49-F238E27FC236}">
                <a16:creationId xmlns:a16="http://schemas.microsoft.com/office/drawing/2014/main" id="{0D55CED3-8518-CFE7-2966-3F2CBB933627}"/>
              </a:ext>
            </a:extLst>
          </p:cNvPr>
          <p:cNvSpPr/>
          <p:nvPr/>
        </p:nvSpPr>
        <p:spPr>
          <a:xfrm>
            <a:off x="8275320" y="20574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A reference classifier.</a:t>
            </a:r>
            <a:endParaRPr lang="en-US" sz="1400" dirty="0"/>
          </a:p>
        </p:txBody>
      </p:sp>
      <p:sp>
        <p:nvSpPr>
          <p:cNvPr id="489" name="Text 50">
            <a:extLst>
              <a:ext uri="{FF2B5EF4-FFF2-40B4-BE49-F238E27FC236}">
                <a16:creationId xmlns:a16="http://schemas.microsoft.com/office/drawing/2014/main" id="{4059ECBA-3E67-3C54-0022-7F054BAC4BDB}"/>
              </a:ext>
            </a:extLst>
          </p:cNvPr>
          <p:cNvSpPr/>
          <p:nvPr/>
        </p:nvSpPr>
        <p:spPr>
          <a:xfrm>
            <a:off x="8275320" y="256032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An LLM wrapper anchored to a curated abusive-language catalog. Its a pluggable companion.</a:t>
            </a:r>
            <a:endParaRPr lang="en-US" sz="1050" dirty="0"/>
          </a:p>
        </p:txBody>
      </p:sp>
      <p:sp>
        <p:nvSpPr>
          <p:cNvPr id="490" name="Shape 51">
            <a:extLst>
              <a:ext uri="{FF2B5EF4-FFF2-40B4-BE49-F238E27FC236}">
                <a16:creationId xmlns:a16="http://schemas.microsoft.com/office/drawing/2014/main" id="{F1E1A32C-4B13-AA39-4E3D-3F0D21B7F2D8}"/>
              </a:ext>
            </a:extLst>
          </p:cNvPr>
          <p:cNvSpPr/>
          <p:nvPr/>
        </p:nvSpPr>
        <p:spPr>
          <a:xfrm>
            <a:off x="8092440" y="3264408"/>
            <a:ext cx="3749040" cy="1463040"/>
          </a:xfrm>
          <a:prstGeom prst="rect">
            <a:avLst/>
          </a:prstGeom>
          <a:solidFill>
            <a:srgbClr val="121C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1" name="Shape 52">
            <a:extLst>
              <a:ext uri="{FF2B5EF4-FFF2-40B4-BE49-F238E27FC236}">
                <a16:creationId xmlns:a16="http://schemas.microsoft.com/office/drawing/2014/main" id="{EC023197-EAA5-6C66-6202-20EC73E28CCD}"/>
              </a:ext>
            </a:extLst>
          </p:cNvPr>
          <p:cNvSpPr/>
          <p:nvPr/>
        </p:nvSpPr>
        <p:spPr>
          <a:xfrm>
            <a:off x="8092440" y="3264408"/>
            <a:ext cx="54864" cy="1463040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2" name="Text 53">
            <a:extLst>
              <a:ext uri="{FF2B5EF4-FFF2-40B4-BE49-F238E27FC236}">
                <a16:creationId xmlns:a16="http://schemas.microsoft.com/office/drawing/2014/main" id="{FDAB4CB4-9BD2-2FE7-F03E-10321229360B}"/>
              </a:ext>
            </a:extLst>
          </p:cNvPr>
          <p:cNvSpPr/>
          <p:nvPr/>
        </p:nvSpPr>
        <p:spPr>
          <a:xfrm>
            <a:off x="8275320" y="337413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WHAT IT PRODUCES</a:t>
            </a:r>
            <a:endParaRPr lang="en-US" sz="950" dirty="0"/>
          </a:p>
        </p:txBody>
      </p:sp>
      <p:sp>
        <p:nvSpPr>
          <p:cNvPr id="493" name="Text 54">
            <a:extLst>
              <a:ext uri="{FF2B5EF4-FFF2-40B4-BE49-F238E27FC236}">
                <a16:creationId xmlns:a16="http://schemas.microsoft.com/office/drawing/2014/main" id="{014F7A19-1782-51CD-B753-226877D9F3C5}"/>
              </a:ext>
            </a:extLst>
          </p:cNvPr>
          <p:cNvSpPr/>
          <p:nvPr/>
        </p:nvSpPr>
        <p:spPr>
          <a:xfrm>
            <a:off x="8275320" y="363016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Telemetry the framework already expects.</a:t>
            </a:r>
            <a:endParaRPr lang="en-US" sz="1400" dirty="0"/>
          </a:p>
        </p:txBody>
      </p:sp>
      <p:sp>
        <p:nvSpPr>
          <p:cNvPr id="494" name="Text 55">
            <a:extLst>
              <a:ext uri="{FF2B5EF4-FFF2-40B4-BE49-F238E27FC236}">
                <a16:creationId xmlns:a16="http://schemas.microsoft.com/office/drawing/2014/main" id="{2FED42E5-ACEB-714F-AC8F-5CB0C7EC3E8E}"/>
              </a:ext>
            </a:extLst>
          </p:cNvPr>
          <p:cNvSpPr/>
          <p:nvPr/>
        </p:nvSpPr>
        <p:spPr>
          <a:xfrm>
            <a:off x="8275320" y="413308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GHOST-AI emits the exact event schemas H01 and H05 require. No translation layer needed.</a:t>
            </a:r>
            <a:endParaRPr lang="en-US" sz="1050" dirty="0"/>
          </a:p>
        </p:txBody>
      </p:sp>
      <p:sp>
        <p:nvSpPr>
          <p:cNvPr id="495" name="Shape 56">
            <a:extLst>
              <a:ext uri="{FF2B5EF4-FFF2-40B4-BE49-F238E27FC236}">
                <a16:creationId xmlns:a16="http://schemas.microsoft.com/office/drawing/2014/main" id="{EF69B828-14A9-5549-B5FE-D39926DA3B7E}"/>
              </a:ext>
            </a:extLst>
          </p:cNvPr>
          <p:cNvSpPr/>
          <p:nvPr/>
        </p:nvSpPr>
        <p:spPr>
          <a:xfrm>
            <a:off x="8092440" y="4837176"/>
            <a:ext cx="3749040" cy="1572768"/>
          </a:xfrm>
          <a:prstGeom prst="rect">
            <a:avLst/>
          </a:prstGeom>
          <a:solidFill>
            <a:srgbClr val="121C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6" name="Shape 57">
            <a:extLst>
              <a:ext uri="{FF2B5EF4-FFF2-40B4-BE49-F238E27FC236}">
                <a16:creationId xmlns:a16="http://schemas.microsoft.com/office/drawing/2014/main" id="{5006263A-950C-E31B-D557-1A10F6E40764}"/>
              </a:ext>
            </a:extLst>
          </p:cNvPr>
          <p:cNvSpPr/>
          <p:nvPr/>
        </p:nvSpPr>
        <p:spPr>
          <a:xfrm>
            <a:off x="8092440" y="4837176"/>
            <a:ext cx="54864" cy="1463040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7" name="Text 58">
            <a:extLst>
              <a:ext uri="{FF2B5EF4-FFF2-40B4-BE49-F238E27FC236}">
                <a16:creationId xmlns:a16="http://schemas.microsoft.com/office/drawing/2014/main" id="{3F893123-7AC5-5757-F77A-D775E4AF2B66}"/>
              </a:ext>
            </a:extLst>
          </p:cNvPr>
          <p:cNvSpPr/>
          <p:nvPr/>
        </p:nvSpPr>
        <p:spPr>
          <a:xfrm>
            <a:off x="8275320" y="494690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WHY IT MATTERS</a:t>
            </a:r>
            <a:endParaRPr lang="en-US" sz="950" dirty="0"/>
          </a:p>
        </p:txBody>
      </p:sp>
      <p:sp>
        <p:nvSpPr>
          <p:cNvPr id="498" name="Text 59">
            <a:extLst>
              <a:ext uri="{FF2B5EF4-FFF2-40B4-BE49-F238E27FC236}">
                <a16:creationId xmlns:a16="http://schemas.microsoft.com/office/drawing/2014/main" id="{7955FE76-7856-720A-61F7-32561E7A6CE7}"/>
              </a:ext>
            </a:extLst>
          </p:cNvPr>
          <p:cNvSpPr/>
          <p:nvPr/>
        </p:nvSpPr>
        <p:spPr>
          <a:xfrm>
            <a:off x="8275320" y="520293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The catalog stays. The LLM can change.</a:t>
            </a:r>
            <a:endParaRPr lang="en-US" sz="1400" dirty="0"/>
          </a:p>
        </p:txBody>
      </p:sp>
      <p:sp>
        <p:nvSpPr>
          <p:cNvPr id="499" name="Text 60">
            <a:extLst>
              <a:ext uri="{FF2B5EF4-FFF2-40B4-BE49-F238E27FC236}">
                <a16:creationId xmlns:a16="http://schemas.microsoft.com/office/drawing/2014/main" id="{9715133D-01DD-DFE1-F51F-A323D508EDCC}"/>
              </a:ext>
            </a:extLst>
          </p:cNvPr>
          <p:cNvSpPr/>
          <p:nvPr/>
        </p:nvSpPr>
        <p:spPr>
          <a:xfrm>
            <a:off x="8275320" y="5705856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Swap providers — GPT, Claude, open-source, on-device. The catalog is the durable artifact. The framework's invariants don't depend on either.</a:t>
            </a:r>
            <a:endParaRPr lang="en-US" sz="1050" dirty="0"/>
          </a:p>
        </p:txBody>
      </p:sp>
      <p:sp>
        <p:nvSpPr>
          <p:cNvPr id="500" name="Text 61">
            <a:extLst>
              <a:ext uri="{FF2B5EF4-FFF2-40B4-BE49-F238E27FC236}">
                <a16:creationId xmlns:a16="http://schemas.microsoft.com/office/drawing/2014/main" id="{240DD7F5-8CE6-FF62-7E33-A52E41A3E91F}"/>
              </a:ext>
            </a:extLst>
          </p:cNvPr>
          <p:cNvSpPr/>
          <p:nvPr/>
        </p:nvSpPr>
        <p:spPr>
          <a:xfrm>
            <a:off x="365760" y="6565392"/>
            <a:ext cx="11475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B794E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The catalog is the contract with the framework. The LLM is just how we honor it.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2712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>
          <a:extLst>
            <a:ext uri="{FF2B5EF4-FFF2-40B4-BE49-F238E27FC236}">
              <a16:creationId xmlns:a16="http://schemas.microsoft.com/office/drawing/2014/main" id="{2AF18D7F-5743-8DA5-78A8-C74566A40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0">
            <a:extLst>
              <a:ext uri="{FF2B5EF4-FFF2-40B4-BE49-F238E27FC236}">
                <a16:creationId xmlns:a16="http://schemas.microsoft.com/office/drawing/2014/main" id="{1ED3EFD5-75D5-EF82-FB0A-11C7E2134270}"/>
              </a:ext>
            </a:extLst>
          </p:cNvPr>
          <p:cNvSpPr/>
          <p:nvPr/>
        </p:nvSpPr>
        <p:spPr>
          <a:xfrm>
            <a:off x="411480" y="22100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G.H.O.S.T  |  GHOST-AI</a:t>
            </a:r>
            <a:endParaRPr lang="en-US" sz="1000" b="1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1AFEB2A-7EE9-D22D-2554-4DE9F782C5CE}"/>
              </a:ext>
            </a:extLst>
          </p:cNvPr>
          <p:cNvSpPr/>
          <p:nvPr/>
        </p:nvSpPr>
        <p:spPr>
          <a:xfrm>
            <a:off x="457200" y="1554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Finite framework.</a:t>
            </a:r>
            <a:endParaRPr lang="en-US" sz="44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17E7016-103C-EAE4-CB82-497648D21265}"/>
              </a:ext>
            </a:extLst>
          </p:cNvPr>
          <p:cNvSpPr/>
          <p:nvPr/>
        </p:nvSpPr>
        <p:spPr>
          <a:xfrm>
            <a:off x="457200" y="24231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Infinite Coverage.</a:t>
            </a:r>
            <a:endParaRPr lang="en-US" sz="44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4217C9A6-5BE0-D849-CD4E-38F775E03399}"/>
              </a:ext>
            </a:extLst>
          </p:cNvPr>
          <p:cNvSpPr/>
          <p:nvPr/>
        </p:nvSpPr>
        <p:spPr>
          <a:xfrm>
            <a:off x="457200" y="3749040"/>
            <a:ext cx="548640" cy="36576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FE0442D-9419-773A-C081-7964A807B61D}"/>
              </a:ext>
            </a:extLst>
          </p:cNvPr>
          <p:cNvSpPr/>
          <p:nvPr/>
        </p:nvSpPr>
        <p:spPr>
          <a:xfrm>
            <a:off x="457200" y="397764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Three things before we close:</a:t>
            </a:r>
            <a:endParaRPr lang="en-US" sz="18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77D4F03B-BC10-049F-496C-629237D87BCB}"/>
              </a:ext>
            </a:extLst>
          </p:cNvPr>
          <p:cNvSpPr/>
          <p:nvPr/>
        </p:nvSpPr>
        <p:spPr>
          <a:xfrm>
            <a:off x="457200" y="4480560"/>
            <a:ext cx="3614928" cy="2103120"/>
          </a:xfrm>
          <a:prstGeom prst="rect">
            <a:avLst/>
          </a:prstGeom>
          <a:solidFill>
            <a:srgbClr val="121C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69491BD2-573D-BABF-63DE-371CB06C556D}"/>
              </a:ext>
            </a:extLst>
          </p:cNvPr>
          <p:cNvSpPr/>
          <p:nvPr/>
        </p:nvSpPr>
        <p:spPr>
          <a:xfrm>
            <a:off x="457200" y="4480560"/>
            <a:ext cx="73152" cy="2103120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08615E55-CEE1-3647-3A89-6AB6B7F63203}"/>
              </a:ext>
            </a:extLst>
          </p:cNvPr>
          <p:cNvSpPr/>
          <p:nvPr/>
        </p:nvSpPr>
        <p:spPr>
          <a:xfrm>
            <a:off x="685800" y="46177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1</a:t>
            </a:r>
            <a:endParaRPr lang="en-US" sz="440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B0296349-6B2D-875D-7D48-E78D85E639EB}"/>
              </a:ext>
            </a:extLst>
          </p:cNvPr>
          <p:cNvSpPr/>
          <p:nvPr/>
        </p:nvSpPr>
        <p:spPr>
          <a:xfrm>
            <a:off x="1325880" y="4709160"/>
            <a:ext cx="2609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SCALE</a:t>
            </a:r>
            <a:endParaRPr lang="en-US" sz="1100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078C668E-5487-AE9E-ACAB-847C9D6CECEC}"/>
              </a:ext>
            </a:extLst>
          </p:cNvPr>
          <p:cNvSpPr/>
          <p:nvPr/>
        </p:nvSpPr>
        <p:spPr>
          <a:xfrm>
            <a:off x="1325880" y="4983480"/>
            <a:ext cx="2609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What the framework produces.</a:t>
            </a:r>
            <a:endParaRPr lang="en-US" sz="1700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8C3E01EC-EC12-D98F-4BED-CEEB634D79EC}"/>
              </a:ext>
            </a:extLst>
          </p:cNvPr>
          <p:cNvSpPr/>
          <p:nvPr/>
        </p:nvSpPr>
        <p:spPr>
          <a:xfrm>
            <a:off x="685800" y="5715000"/>
            <a:ext cx="3249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Five decisions cascade into one hundred fifty tests and unbounded threat coverage.</a:t>
            </a:r>
            <a:endParaRPr lang="en-US" sz="1100" dirty="0"/>
          </a:p>
        </p:txBody>
      </p:sp>
      <p:sp>
        <p:nvSpPr>
          <p:cNvPr id="18" name="Shape 11">
            <a:extLst>
              <a:ext uri="{FF2B5EF4-FFF2-40B4-BE49-F238E27FC236}">
                <a16:creationId xmlns:a16="http://schemas.microsoft.com/office/drawing/2014/main" id="{A820E139-7D5C-B49E-15D8-1430E1F2A21A}"/>
              </a:ext>
            </a:extLst>
          </p:cNvPr>
          <p:cNvSpPr/>
          <p:nvPr/>
        </p:nvSpPr>
        <p:spPr>
          <a:xfrm>
            <a:off x="4273296" y="4480560"/>
            <a:ext cx="3614928" cy="2103120"/>
          </a:xfrm>
          <a:prstGeom prst="rect">
            <a:avLst/>
          </a:prstGeom>
          <a:solidFill>
            <a:srgbClr val="121C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1FED78AC-BD90-D482-468D-99E17D38EBB1}"/>
              </a:ext>
            </a:extLst>
          </p:cNvPr>
          <p:cNvSpPr/>
          <p:nvPr/>
        </p:nvSpPr>
        <p:spPr>
          <a:xfrm>
            <a:off x="4273296" y="4480560"/>
            <a:ext cx="73152" cy="2103120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D28CCA76-656D-6B59-5FBE-3D4F0AD93E80}"/>
              </a:ext>
            </a:extLst>
          </p:cNvPr>
          <p:cNvSpPr/>
          <p:nvPr/>
        </p:nvSpPr>
        <p:spPr>
          <a:xfrm>
            <a:off x="4501896" y="46177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2</a:t>
            </a:r>
            <a:endParaRPr lang="en-US" sz="4400" dirty="0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963100CE-9BFB-9FDD-ABDF-3E1A2704F394}"/>
              </a:ext>
            </a:extLst>
          </p:cNvPr>
          <p:cNvSpPr/>
          <p:nvPr/>
        </p:nvSpPr>
        <p:spPr>
          <a:xfrm>
            <a:off x="5141976" y="4709160"/>
            <a:ext cx="2609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PRIORITIZATION</a:t>
            </a:r>
            <a:endParaRPr lang="en-US" sz="1100" dirty="0"/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739143FF-8692-7699-B861-D922D118A426}"/>
              </a:ext>
            </a:extLst>
          </p:cNvPr>
          <p:cNvSpPr/>
          <p:nvPr/>
        </p:nvSpPr>
        <p:spPr>
          <a:xfrm>
            <a:off x="5141976" y="4983480"/>
            <a:ext cx="2609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Score what to model 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First.</a:t>
            </a:r>
            <a:endParaRPr lang="en-US" sz="1700" dirty="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71691A9B-1A00-5623-F2F4-60A7E2719569}"/>
              </a:ext>
            </a:extLst>
          </p:cNvPr>
          <p:cNvSpPr/>
          <p:nvPr/>
        </p:nvSpPr>
        <p:spPr>
          <a:xfrm>
            <a:off x="4501896" y="5715000"/>
            <a:ext cx="3249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AGE-X — a risk-scoring matrix that adds user-population vulnerability to the formula, where most frameworks leave it at zero.</a:t>
            </a:r>
            <a:endParaRPr lang="en-US" sz="1100" dirty="0"/>
          </a:p>
        </p:txBody>
      </p:sp>
      <p:sp>
        <p:nvSpPr>
          <p:cNvPr id="24" name="Shape 17">
            <a:extLst>
              <a:ext uri="{FF2B5EF4-FFF2-40B4-BE49-F238E27FC236}">
                <a16:creationId xmlns:a16="http://schemas.microsoft.com/office/drawing/2014/main" id="{60220335-39C1-F53E-E74D-FDD0DD7FABFF}"/>
              </a:ext>
            </a:extLst>
          </p:cNvPr>
          <p:cNvSpPr/>
          <p:nvPr/>
        </p:nvSpPr>
        <p:spPr>
          <a:xfrm>
            <a:off x="8089392" y="4480560"/>
            <a:ext cx="3614928" cy="2103120"/>
          </a:xfrm>
          <a:prstGeom prst="rect">
            <a:avLst/>
          </a:prstGeom>
          <a:solidFill>
            <a:srgbClr val="121C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8">
            <a:extLst>
              <a:ext uri="{FF2B5EF4-FFF2-40B4-BE49-F238E27FC236}">
                <a16:creationId xmlns:a16="http://schemas.microsoft.com/office/drawing/2014/main" id="{39CD96F2-3119-9E0D-6825-6D14FFB1B5DA}"/>
              </a:ext>
            </a:extLst>
          </p:cNvPr>
          <p:cNvSpPr/>
          <p:nvPr/>
        </p:nvSpPr>
        <p:spPr>
          <a:xfrm>
            <a:off x="8089392" y="4480560"/>
            <a:ext cx="73152" cy="2103120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F31B7034-C34D-FBBE-CF83-8739FADBF63A}"/>
              </a:ext>
            </a:extLst>
          </p:cNvPr>
          <p:cNvSpPr/>
          <p:nvPr/>
        </p:nvSpPr>
        <p:spPr>
          <a:xfrm>
            <a:off x="8317992" y="46177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3</a:t>
            </a:r>
            <a:endParaRPr lang="en-US" sz="4400" dirty="0"/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FF89ADE0-4CE2-EA89-6B3F-DD16F32126C9}"/>
              </a:ext>
            </a:extLst>
          </p:cNvPr>
          <p:cNvSpPr/>
          <p:nvPr/>
        </p:nvSpPr>
        <p:spPr>
          <a:xfrm>
            <a:off x="8958072" y="4709160"/>
            <a:ext cx="2609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ACCESS</a:t>
            </a:r>
            <a:endParaRPr lang="en-US" sz="1100" dirty="0"/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550F623A-809E-6E52-7388-0C1B2C18E0C3}"/>
              </a:ext>
            </a:extLst>
          </p:cNvPr>
          <p:cNvSpPr/>
          <p:nvPr/>
        </p:nvSpPr>
        <p:spPr>
          <a:xfrm>
            <a:off x="8958072" y="4983480"/>
            <a:ext cx="2609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Where you can get it today.</a:t>
            </a:r>
            <a:endParaRPr lang="en-US" sz="1700" dirty="0"/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940A8F8F-1BDB-91A8-17B3-A455473D0D77}"/>
              </a:ext>
            </a:extLst>
          </p:cNvPr>
          <p:cNvSpPr/>
          <p:nvPr/>
        </p:nvSpPr>
        <p:spPr>
          <a:xfrm>
            <a:off x="8317992" y="5715000"/>
            <a:ext cx="3249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Demo, templates, code, and slides — all open, all available now.</a:t>
            </a:r>
          </a:p>
          <a:p>
            <a:pPr marL="0" indent="0">
              <a:buNone/>
            </a:pPr>
            <a:endParaRPr lang="en-US" sz="1100" i="1" dirty="0">
              <a:solidFill>
                <a:srgbClr val="D0D0D8"/>
              </a:solidFill>
              <a:latin typeface="Overpass" pitchFamily="34" charset="0"/>
            </a:endParaRPr>
          </a:p>
          <a:p>
            <a:pPr marL="0" indent="0">
              <a:buNone/>
            </a:pPr>
            <a:r>
              <a:rPr lang="en-US" sz="1100" i="1" dirty="0">
                <a:solidFill>
                  <a:srgbClr val="D0D0D8"/>
                </a:solidFill>
                <a:latin typeface="Overpass" pitchFamily="34" charset="0"/>
              </a:rPr>
              <a:t>www.theghostmodel.com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9003140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>
          <a:extLst>
            <a:ext uri="{FF2B5EF4-FFF2-40B4-BE49-F238E27FC236}">
              <a16:creationId xmlns:a16="http://schemas.microsoft.com/office/drawing/2014/main" id="{93124E90-670E-3C22-E553-A57A053B4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0">
            <a:extLst>
              <a:ext uri="{FF2B5EF4-FFF2-40B4-BE49-F238E27FC236}">
                <a16:creationId xmlns:a16="http://schemas.microsoft.com/office/drawing/2014/main" id="{29938E82-845C-FE78-1EEF-3450C0643BB0}"/>
              </a:ext>
            </a:extLst>
          </p:cNvPr>
          <p:cNvSpPr/>
          <p:nvPr/>
        </p:nvSpPr>
        <p:spPr>
          <a:xfrm>
            <a:off x="411480" y="22100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G.H.O.S.T  |  HOW IT SCALES</a:t>
            </a:r>
            <a:endParaRPr lang="en-US" sz="1000" b="1" dirty="0"/>
          </a:p>
        </p:txBody>
      </p:sp>
      <p:sp>
        <p:nvSpPr>
          <p:cNvPr id="2" name="Google Shape;315;p47">
            <a:extLst>
              <a:ext uri="{FF2B5EF4-FFF2-40B4-BE49-F238E27FC236}">
                <a16:creationId xmlns:a16="http://schemas.microsoft.com/office/drawing/2014/main" id="{BD30E724-99F9-C60D-9593-D8487211524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71399" y="590500"/>
            <a:ext cx="10176705" cy="304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The arithmetic of coverage !</a:t>
            </a:r>
            <a:endParaRPr sz="3200" dirty="0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1EB5880E-E37B-F384-8251-342524E0BE3C}"/>
              </a:ext>
            </a:extLst>
          </p:cNvPr>
          <p:cNvSpPr/>
          <p:nvPr/>
        </p:nvSpPr>
        <p:spPr>
          <a:xfrm>
            <a:off x="537037" y="1164717"/>
            <a:ext cx="10474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Each layer of the framework expands into the next. Pick a domain, get invariants. Pick an invariant, get telemetry and tests. Each test catches a class of threats.</a:t>
            </a:r>
            <a:endParaRPr lang="en-US" dirty="0"/>
          </a:p>
        </p:txBody>
      </p:sp>
      <p:sp>
        <p:nvSpPr>
          <p:cNvPr id="42" name="Shape 5">
            <a:extLst>
              <a:ext uri="{FF2B5EF4-FFF2-40B4-BE49-F238E27FC236}">
                <a16:creationId xmlns:a16="http://schemas.microsoft.com/office/drawing/2014/main" id="{891772CE-B18E-A50F-485F-E24F2C8CDFB9}"/>
              </a:ext>
            </a:extLst>
          </p:cNvPr>
          <p:cNvSpPr/>
          <p:nvPr/>
        </p:nvSpPr>
        <p:spPr>
          <a:xfrm>
            <a:off x="548640" y="1691640"/>
            <a:ext cx="11109960" cy="841248"/>
          </a:xfrm>
          <a:prstGeom prst="rect">
            <a:avLst/>
          </a:prstGeom>
          <a:solidFill>
            <a:srgbClr val="121C2E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6">
            <a:extLst>
              <a:ext uri="{FF2B5EF4-FFF2-40B4-BE49-F238E27FC236}">
                <a16:creationId xmlns:a16="http://schemas.microsoft.com/office/drawing/2014/main" id="{F4239130-DE62-C674-05B4-2C7410AFCD1A}"/>
              </a:ext>
            </a:extLst>
          </p:cNvPr>
          <p:cNvSpPr/>
          <p:nvPr/>
        </p:nvSpPr>
        <p:spPr>
          <a:xfrm>
            <a:off x="548640" y="1691640"/>
            <a:ext cx="73152" cy="841248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7">
            <a:extLst>
              <a:ext uri="{FF2B5EF4-FFF2-40B4-BE49-F238E27FC236}">
                <a16:creationId xmlns:a16="http://schemas.microsoft.com/office/drawing/2014/main" id="{649605D0-D958-A23D-640B-37CE82DD4DFF}"/>
              </a:ext>
            </a:extLst>
          </p:cNvPr>
          <p:cNvSpPr/>
          <p:nvPr/>
        </p:nvSpPr>
        <p:spPr>
          <a:xfrm>
            <a:off x="731520" y="1691640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5</a:t>
            </a:r>
            <a:endParaRPr lang="en-US" sz="4400" dirty="0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9BBEEF1B-7983-F78D-A21D-061A250DC609}"/>
              </a:ext>
            </a:extLst>
          </p:cNvPr>
          <p:cNvSpPr/>
          <p:nvPr/>
        </p:nvSpPr>
        <p:spPr>
          <a:xfrm>
            <a:off x="2743200" y="181965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DOMAINS</a:t>
            </a:r>
            <a:endParaRPr lang="en-US" sz="1700" dirty="0"/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59E6236F-B44D-C86D-4817-AE3C9C5E88EB}"/>
              </a:ext>
            </a:extLst>
          </p:cNvPr>
          <p:cNvSpPr/>
          <p:nvPr/>
        </p:nvSpPr>
        <p:spPr>
          <a:xfrm>
            <a:off x="2743200" y="2148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Gameplay · Harm · Operations · Social · Trade</a:t>
            </a:r>
            <a:endParaRPr lang="en-US" sz="1050" dirty="0"/>
          </a:p>
        </p:txBody>
      </p:sp>
      <p:sp>
        <p:nvSpPr>
          <p:cNvPr id="47" name="Shape 10">
            <a:extLst>
              <a:ext uri="{FF2B5EF4-FFF2-40B4-BE49-F238E27FC236}">
                <a16:creationId xmlns:a16="http://schemas.microsoft.com/office/drawing/2014/main" id="{7F019165-1F86-64E3-F434-7EEDBD1C4758}"/>
              </a:ext>
            </a:extLst>
          </p:cNvPr>
          <p:cNvSpPr/>
          <p:nvPr/>
        </p:nvSpPr>
        <p:spPr>
          <a:xfrm>
            <a:off x="7277100" y="1947672"/>
            <a:ext cx="329184" cy="329184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48" name="Text 11">
            <a:extLst>
              <a:ext uri="{FF2B5EF4-FFF2-40B4-BE49-F238E27FC236}">
                <a16:creationId xmlns:a16="http://schemas.microsoft.com/office/drawing/2014/main" id="{20327380-F7E9-989A-3D2E-DC67A9F25BAF}"/>
              </a:ext>
            </a:extLst>
          </p:cNvPr>
          <p:cNvSpPr/>
          <p:nvPr/>
        </p:nvSpPr>
        <p:spPr>
          <a:xfrm>
            <a:off x="7277100" y="1947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G</a:t>
            </a:r>
            <a:endParaRPr lang="en-US" sz="1600" dirty="0"/>
          </a:p>
        </p:txBody>
      </p:sp>
      <p:sp>
        <p:nvSpPr>
          <p:cNvPr id="49" name="Shape 12">
            <a:extLst>
              <a:ext uri="{FF2B5EF4-FFF2-40B4-BE49-F238E27FC236}">
                <a16:creationId xmlns:a16="http://schemas.microsoft.com/office/drawing/2014/main" id="{C976DE03-6E50-4F66-5B33-62802C2DC16C}"/>
              </a:ext>
            </a:extLst>
          </p:cNvPr>
          <p:cNvSpPr/>
          <p:nvPr/>
        </p:nvSpPr>
        <p:spPr>
          <a:xfrm>
            <a:off x="8116824" y="1947672"/>
            <a:ext cx="329184" cy="329184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0" name="Text 13">
            <a:extLst>
              <a:ext uri="{FF2B5EF4-FFF2-40B4-BE49-F238E27FC236}">
                <a16:creationId xmlns:a16="http://schemas.microsoft.com/office/drawing/2014/main" id="{4D2D2026-9A7B-CBCE-5A93-4D043E3A15D7}"/>
              </a:ext>
            </a:extLst>
          </p:cNvPr>
          <p:cNvSpPr/>
          <p:nvPr/>
        </p:nvSpPr>
        <p:spPr>
          <a:xfrm>
            <a:off x="8116824" y="1947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H</a:t>
            </a:r>
            <a:endParaRPr lang="en-US" sz="1600" dirty="0"/>
          </a:p>
        </p:txBody>
      </p:sp>
      <p:sp>
        <p:nvSpPr>
          <p:cNvPr id="51" name="Shape 14">
            <a:extLst>
              <a:ext uri="{FF2B5EF4-FFF2-40B4-BE49-F238E27FC236}">
                <a16:creationId xmlns:a16="http://schemas.microsoft.com/office/drawing/2014/main" id="{06E7595C-48B4-C2B3-BDFE-CEFD3EBA0E4D}"/>
              </a:ext>
            </a:extLst>
          </p:cNvPr>
          <p:cNvSpPr/>
          <p:nvPr/>
        </p:nvSpPr>
        <p:spPr>
          <a:xfrm>
            <a:off x="8956548" y="1947672"/>
            <a:ext cx="329184" cy="329184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2" name="Text 15">
            <a:extLst>
              <a:ext uri="{FF2B5EF4-FFF2-40B4-BE49-F238E27FC236}">
                <a16:creationId xmlns:a16="http://schemas.microsoft.com/office/drawing/2014/main" id="{A2E4CF6E-D7C8-C845-A2C9-72A19340A19B}"/>
              </a:ext>
            </a:extLst>
          </p:cNvPr>
          <p:cNvSpPr/>
          <p:nvPr/>
        </p:nvSpPr>
        <p:spPr>
          <a:xfrm>
            <a:off x="8956548" y="1947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O</a:t>
            </a:r>
            <a:endParaRPr lang="en-US" sz="1600" dirty="0"/>
          </a:p>
        </p:txBody>
      </p:sp>
      <p:sp>
        <p:nvSpPr>
          <p:cNvPr id="53" name="Shape 16">
            <a:extLst>
              <a:ext uri="{FF2B5EF4-FFF2-40B4-BE49-F238E27FC236}">
                <a16:creationId xmlns:a16="http://schemas.microsoft.com/office/drawing/2014/main" id="{2A376C10-26F8-C986-D674-D3EAFB761B00}"/>
              </a:ext>
            </a:extLst>
          </p:cNvPr>
          <p:cNvSpPr/>
          <p:nvPr/>
        </p:nvSpPr>
        <p:spPr>
          <a:xfrm>
            <a:off x="9796272" y="1947672"/>
            <a:ext cx="329184" cy="329184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4" name="Text 17">
            <a:extLst>
              <a:ext uri="{FF2B5EF4-FFF2-40B4-BE49-F238E27FC236}">
                <a16:creationId xmlns:a16="http://schemas.microsoft.com/office/drawing/2014/main" id="{EF2745DB-CBD3-34F4-1376-7CF6B0B54B76}"/>
              </a:ext>
            </a:extLst>
          </p:cNvPr>
          <p:cNvSpPr/>
          <p:nvPr/>
        </p:nvSpPr>
        <p:spPr>
          <a:xfrm>
            <a:off x="9796272" y="1947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S</a:t>
            </a:r>
            <a:endParaRPr lang="en-US" sz="1600" dirty="0"/>
          </a:p>
        </p:txBody>
      </p:sp>
      <p:sp>
        <p:nvSpPr>
          <p:cNvPr id="55" name="Shape 18">
            <a:extLst>
              <a:ext uri="{FF2B5EF4-FFF2-40B4-BE49-F238E27FC236}">
                <a16:creationId xmlns:a16="http://schemas.microsoft.com/office/drawing/2014/main" id="{C18AAED7-95D0-FE3A-3496-71A90A5E7DA9}"/>
              </a:ext>
            </a:extLst>
          </p:cNvPr>
          <p:cNvSpPr/>
          <p:nvPr/>
        </p:nvSpPr>
        <p:spPr>
          <a:xfrm>
            <a:off x="10635996" y="1947672"/>
            <a:ext cx="329184" cy="329184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6" name="Text 19">
            <a:extLst>
              <a:ext uri="{FF2B5EF4-FFF2-40B4-BE49-F238E27FC236}">
                <a16:creationId xmlns:a16="http://schemas.microsoft.com/office/drawing/2014/main" id="{CC9A8E42-3B87-9BE2-2966-045EF5859CDA}"/>
              </a:ext>
            </a:extLst>
          </p:cNvPr>
          <p:cNvSpPr/>
          <p:nvPr/>
        </p:nvSpPr>
        <p:spPr>
          <a:xfrm>
            <a:off x="10635996" y="1947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T</a:t>
            </a:r>
            <a:endParaRPr lang="en-US" sz="1600" dirty="0"/>
          </a:p>
        </p:txBody>
      </p:sp>
      <p:sp>
        <p:nvSpPr>
          <p:cNvPr id="57" name="Shape 20">
            <a:extLst>
              <a:ext uri="{FF2B5EF4-FFF2-40B4-BE49-F238E27FC236}">
                <a16:creationId xmlns:a16="http://schemas.microsoft.com/office/drawing/2014/main" id="{B533615F-F58B-7ED8-A104-D0BEE69693B9}"/>
              </a:ext>
            </a:extLst>
          </p:cNvPr>
          <p:cNvSpPr/>
          <p:nvPr/>
        </p:nvSpPr>
        <p:spPr>
          <a:xfrm>
            <a:off x="548640" y="2642616"/>
            <a:ext cx="11109960" cy="841248"/>
          </a:xfrm>
          <a:prstGeom prst="rect">
            <a:avLst/>
          </a:prstGeom>
          <a:solidFill>
            <a:srgbClr val="121C2E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21">
            <a:extLst>
              <a:ext uri="{FF2B5EF4-FFF2-40B4-BE49-F238E27FC236}">
                <a16:creationId xmlns:a16="http://schemas.microsoft.com/office/drawing/2014/main" id="{4D6D9AE8-33AA-ED00-2DA8-93F9E1536870}"/>
              </a:ext>
            </a:extLst>
          </p:cNvPr>
          <p:cNvSpPr/>
          <p:nvPr/>
        </p:nvSpPr>
        <p:spPr>
          <a:xfrm>
            <a:off x="548640" y="2642616"/>
            <a:ext cx="73152" cy="841248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22">
            <a:extLst>
              <a:ext uri="{FF2B5EF4-FFF2-40B4-BE49-F238E27FC236}">
                <a16:creationId xmlns:a16="http://schemas.microsoft.com/office/drawing/2014/main" id="{D95679A6-F38C-20C1-21FC-8CD1126D4D11}"/>
              </a:ext>
            </a:extLst>
          </p:cNvPr>
          <p:cNvSpPr/>
          <p:nvPr/>
        </p:nvSpPr>
        <p:spPr>
          <a:xfrm>
            <a:off x="731520" y="2642616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50</a:t>
            </a:r>
            <a:endParaRPr lang="en-US" sz="4400" dirty="0"/>
          </a:p>
        </p:txBody>
      </p:sp>
      <p:sp>
        <p:nvSpPr>
          <p:cNvPr id="60" name="Text 23">
            <a:extLst>
              <a:ext uri="{FF2B5EF4-FFF2-40B4-BE49-F238E27FC236}">
                <a16:creationId xmlns:a16="http://schemas.microsoft.com/office/drawing/2014/main" id="{CD49FCD9-30FF-3372-53A7-B0C5FFABA3C4}"/>
              </a:ext>
            </a:extLst>
          </p:cNvPr>
          <p:cNvSpPr/>
          <p:nvPr/>
        </p:nvSpPr>
        <p:spPr>
          <a:xfrm>
            <a:off x="2743200" y="277063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INVARIANTS</a:t>
            </a:r>
            <a:endParaRPr lang="en-US" sz="1700" dirty="0"/>
          </a:p>
        </p:txBody>
      </p:sp>
      <p:sp>
        <p:nvSpPr>
          <p:cNvPr id="61" name="Text 24">
            <a:extLst>
              <a:ext uri="{FF2B5EF4-FFF2-40B4-BE49-F238E27FC236}">
                <a16:creationId xmlns:a16="http://schemas.microsoft.com/office/drawing/2014/main" id="{60236622-33FC-8C07-5B86-B63B754A7357}"/>
              </a:ext>
            </a:extLst>
          </p:cNvPr>
          <p:cNvSpPr/>
          <p:nvPr/>
        </p:nvSpPr>
        <p:spPr>
          <a:xfrm>
            <a:off x="2743200" y="30998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Universal properties — 10 per domain</a:t>
            </a:r>
            <a:endParaRPr lang="en-US" sz="1050" dirty="0"/>
          </a:p>
        </p:txBody>
      </p:sp>
      <p:sp>
        <p:nvSpPr>
          <p:cNvPr id="62" name="Shape 25">
            <a:extLst>
              <a:ext uri="{FF2B5EF4-FFF2-40B4-BE49-F238E27FC236}">
                <a16:creationId xmlns:a16="http://schemas.microsoft.com/office/drawing/2014/main" id="{C5E04B4A-2665-DD89-12B7-5BA061B57E63}"/>
              </a:ext>
            </a:extLst>
          </p:cNvPr>
          <p:cNvSpPr/>
          <p:nvPr/>
        </p:nvSpPr>
        <p:spPr>
          <a:xfrm>
            <a:off x="7078287" y="2676144"/>
            <a:ext cx="128016" cy="128016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26">
            <a:extLst>
              <a:ext uri="{FF2B5EF4-FFF2-40B4-BE49-F238E27FC236}">
                <a16:creationId xmlns:a16="http://schemas.microsoft.com/office/drawing/2014/main" id="{CCA67FCF-E2F1-D8E2-AF05-F92EFE1524B0}"/>
              </a:ext>
            </a:extLst>
          </p:cNvPr>
          <p:cNvSpPr/>
          <p:nvPr/>
        </p:nvSpPr>
        <p:spPr>
          <a:xfrm>
            <a:off x="7518031" y="2676144"/>
            <a:ext cx="128016" cy="128016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27">
            <a:extLst>
              <a:ext uri="{FF2B5EF4-FFF2-40B4-BE49-F238E27FC236}">
                <a16:creationId xmlns:a16="http://schemas.microsoft.com/office/drawing/2014/main" id="{6822DE3F-AB05-830B-D8C8-F6096F8BCD16}"/>
              </a:ext>
            </a:extLst>
          </p:cNvPr>
          <p:cNvSpPr/>
          <p:nvPr/>
        </p:nvSpPr>
        <p:spPr>
          <a:xfrm>
            <a:off x="7957774" y="2676144"/>
            <a:ext cx="128016" cy="128016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28">
            <a:extLst>
              <a:ext uri="{FF2B5EF4-FFF2-40B4-BE49-F238E27FC236}">
                <a16:creationId xmlns:a16="http://schemas.microsoft.com/office/drawing/2014/main" id="{F8C7F4E1-9022-FABF-9161-5C80095B324E}"/>
              </a:ext>
            </a:extLst>
          </p:cNvPr>
          <p:cNvSpPr/>
          <p:nvPr/>
        </p:nvSpPr>
        <p:spPr>
          <a:xfrm>
            <a:off x="8397517" y="2676144"/>
            <a:ext cx="128016" cy="128016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70D5A90C-A30C-8A89-7041-DBDB9B6C265D}"/>
              </a:ext>
            </a:extLst>
          </p:cNvPr>
          <p:cNvSpPr/>
          <p:nvPr/>
        </p:nvSpPr>
        <p:spPr>
          <a:xfrm>
            <a:off x="8837260" y="2676144"/>
            <a:ext cx="128016" cy="128016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30">
            <a:extLst>
              <a:ext uri="{FF2B5EF4-FFF2-40B4-BE49-F238E27FC236}">
                <a16:creationId xmlns:a16="http://schemas.microsoft.com/office/drawing/2014/main" id="{831831D3-10B6-1248-D62C-1AC5C2960FB9}"/>
              </a:ext>
            </a:extLst>
          </p:cNvPr>
          <p:cNvSpPr/>
          <p:nvPr/>
        </p:nvSpPr>
        <p:spPr>
          <a:xfrm>
            <a:off x="9277004" y="2676144"/>
            <a:ext cx="128016" cy="128016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A5AA8968-10FF-A951-EC1D-D87B4B3F6BA3}"/>
              </a:ext>
            </a:extLst>
          </p:cNvPr>
          <p:cNvSpPr/>
          <p:nvPr/>
        </p:nvSpPr>
        <p:spPr>
          <a:xfrm>
            <a:off x="9716747" y="2676144"/>
            <a:ext cx="128016" cy="128016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32">
            <a:extLst>
              <a:ext uri="{FF2B5EF4-FFF2-40B4-BE49-F238E27FC236}">
                <a16:creationId xmlns:a16="http://schemas.microsoft.com/office/drawing/2014/main" id="{EF03AEC1-E4AD-85B7-2108-CE099824A903}"/>
              </a:ext>
            </a:extLst>
          </p:cNvPr>
          <p:cNvSpPr/>
          <p:nvPr/>
        </p:nvSpPr>
        <p:spPr>
          <a:xfrm>
            <a:off x="10156490" y="2676144"/>
            <a:ext cx="128016" cy="128016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94D774BC-AAFE-B03B-8E54-09A7F6CBDF99}"/>
              </a:ext>
            </a:extLst>
          </p:cNvPr>
          <p:cNvSpPr/>
          <p:nvPr/>
        </p:nvSpPr>
        <p:spPr>
          <a:xfrm>
            <a:off x="10596233" y="2676144"/>
            <a:ext cx="128016" cy="128016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34">
            <a:extLst>
              <a:ext uri="{FF2B5EF4-FFF2-40B4-BE49-F238E27FC236}">
                <a16:creationId xmlns:a16="http://schemas.microsoft.com/office/drawing/2014/main" id="{86C6FA3A-3148-FF9F-53BC-DB74B02CBDD5}"/>
              </a:ext>
            </a:extLst>
          </p:cNvPr>
          <p:cNvSpPr/>
          <p:nvPr/>
        </p:nvSpPr>
        <p:spPr>
          <a:xfrm>
            <a:off x="11035977" y="2676144"/>
            <a:ext cx="128016" cy="128016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35">
            <a:extLst>
              <a:ext uri="{FF2B5EF4-FFF2-40B4-BE49-F238E27FC236}">
                <a16:creationId xmlns:a16="http://schemas.microsoft.com/office/drawing/2014/main" id="{5D99D0A2-0FAE-67B0-2A56-29AA4CE0FC13}"/>
              </a:ext>
            </a:extLst>
          </p:cNvPr>
          <p:cNvSpPr/>
          <p:nvPr/>
        </p:nvSpPr>
        <p:spPr>
          <a:xfrm>
            <a:off x="7078287" y="2837688"/>
            <a:ext cx="128016" cy="128016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36">
            <a:extLst>
              <a:ext uri="{FF2B5EF4-FFF2-40B4-BE49-F238E27FC236}">
                <a16:creationId xmlns:a16="http://schemas.microsoft.com/office/drawing/2014/main" id="{578A15C8-31D0-8BF7-25FF-69765EECE3A7}"/>
              </a:ext>
            </a:extLst>
          </p:cNvPr>
          <p:cNvSpPr/>
          <p:nvPr/>
        </p:nvSpPr>
        <p:spPr>
          <a:xfrm>
            <a:off x="7518031" y="2837688"/>
            <a:ext cx="128016" cy="128016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37">
            <a:extLst>
              <a:ext uri="{FF2B5EF4-FFF2-40B4-BE49-F238E27FC236}">
                <a16:creationId xmlns:a16="http://schemas.microsoft.com/office/drawing/2014/main" id="{D1D2ABEE-3386-A099-8797-CA7559305133}"/>
              </a:ext>
            </a:extLst>
          </p:cNvPr>
          <p:cNvSpPr/>
          <p:nvPr/>
        </p:nvSpPr>
        <p:spPr>
          <a:xfrm>
            <a:off x="7957774" y="2837688"/>
            <a:ext cx="128016" cy="128016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38">
            <a:extLst>
              <a:ext uri="{FF2B5EF4-FFF2-40B4-BE49-F238E27FC236}">
                <a16:creationId xmlns:a16="http://schemas.microsoft.com/office/drawing/2014/main" id="{4E6FD539-F336-8F5B-F002-1E917FF13F05}"/>
              </a:ext>
            </a:extLst>
          </p:cNvPr>
          <p:cNvSpPr/>
          <p:nvPr/>
        </p:nvSpPr>
        <p:spPr>
          <a:xfrm>
            <a:off x="8397517" y="2837688"/>
            <a:ext cx="128016" cy="128016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39">
            <a:extLst>
              <a:ext uri="{FF2B5EF4-FFF2-40B4-BE49-F238E27FC236}">
                <a16:creationId xmlns:a16="http://schemas.microsoft.com/office/drawing/2014/main" id="{5B992760-AAA0-BBEA-F427-03D500149769}"/>
              </a:ext>
            </a:extLst>
          </p:cNvPr>
          <p:cNvSpPr/>
          <p:nvPr/>
        </p:nvSpPr>
        <p:spPr>
          <a:xfrm>
            <a:off x="8837260" y="2837688"/>
            <a:ext cx="128016" cy="128016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40">
            <a:extLst>
              <a:ext uri="{FF2B5EF4-FFF2-40B4-BE49-F238E27FC236}">
                <a16:creationId xmlns:a16="http://schemas.microsoft.com/office/drawing/2014/main" id="{8FE42052-B446-8E47-A802-CB917EF6E76B}"/>
              </a:ext>
            </a:extLst>
          </p:cNvPr>
          <p:cNvSpPr/>
          <p:nvPr/>
        </p:nvSpPr>
        <p:spPr>
          <a:xfrm>
            <a:off x="9277004" y="2837688"/>
            <a:ext cx="128016" cy="128016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41">
            <a:extLst>
              <a:ext uri="{FF2B5EF4-FFF2-40B4-BE49-F238E27FC236}">
                <a16:creationId xmlns:a16="http://schemas.microsoft.com/office/drawing/2014/main" id="{2F5E5B0C-B169-E4BE-3D81-13DE0EB9CFBB}"/>
              </a:ext>
            </a:extLst>
          </p:cNvPr>
          <p:cNvSpPr/>
          <p:nvPr/>
        </p:nvSpPr>
        <p:spPr>
          <a:xfrm>
            <a:off x="9716747" y="2837688"/>
            <a:ext cx="128016" cy="128016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42">
            <a:extLst>
              <a:ext uri="{FF2B5EF4-FFF2-40B4-BE49-F238E27FC236}">
                <a16:creationId xmlns:a16="http://schemas.microsoft.com/office/drawing/2014/main" id="{B9D8AA0B-3CEF-49EA-F4F4-D0D6FD18BD07}"/>
              </a:ext>
            </a:extLst>
          </p:cNvPr>
          <p:cNvSpPr/>
          <p:nvPr/>
        </p:nvSpPr>
        <p:spPr>
          <a:xfrm>
            <a:off x="10156490" y="2837688"/>
            <a:ext cx="128016" cy="128016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43">
            <a:extLst>
              <a:ext uri="{FF2B5EF4-FFF2-40B4-BE49-F238E27FC236}">
                <a16:creationId xmlns:a16="http://schemas.microsoft.com/office/drawing/2014/main" id="{15689A66-2944-1F63-AB5D-64D845104212}"/>
              </a:ext>
            </a:extLst>
          </p:cNvPr>
          <p:cNvSpPr/>
          <p:nvPr/>
        </p:nvSpPr>
        <p:spPr>
          <a:xfrm>
            <a:off x="10596233" y="2837688"/>
            <a:ext cx="128016" cy="128016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44">
            <a:extLst>
              <a:ext uri="{FF2B5EF4-FFF2-40B4-BE49-F238E27FC236}">
                <a16:creationId xmlns:a16="http://schemas.microsoft.com/office/drawing/2014/main" id="{A9B825BA-B137-8620-7F71-21693A84CE6F}"/>
              </a:ext>
            </a:extLst>
          </p:cNvPr>
          <p:cNvSpPr/>
          <p:nvPr/>
        </p:nvSpPr>
        <p:spPr>
          <a:xfrm>
            <a:off x="11035977" y="2837688"/>
            <a:ext cx="128016" cy="128016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45">
            <a:extLst>
              <a:ext uri="{FF2B5EF4-FFF2-40B4-BE49-F238E27FC236}">
                <a16:creationId xmlns:a16="http://schemas.microsoft.com/office/drawing/2014/main" id="{5D604FF4-8F94-D80F-8D92-8A1310F0D293}"/>
              </a:ext>
            </a:extLst>
          </p:cNvPr>
          <p:cNvSpPr/>
          <p:nvPr/>
        </p:nvSpPr>
        <p:spPr>
          <a:xfrm>
            <a:off x="7078287" y="2999232"/>
            <a:ext cx="128016" cy="128016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46">
            <a:extLst>
              <a:ext uri="{FF2B5EF4-FFF2-40B4-BE49-F238E27FC236}">
                <a16:creationId xmlns:a16="http://schemas.microsoft.com/office/drawing/2014/main" id="{AA0BD147-7B69-F936-8AC3-449F74B73F2D}"/>
              </a:ext>
            </a:extLst>
          </p:cNvPr>
          <p:cNvSpPr/>
          <p:nvPr/>
        </p:nvSpPr>
        <p:spPr>
          <a:xfrm>
            <a:off x="7518031" y="2999232"/>
            <a:ext cx="128016" cy="128016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47">
            <a:extLst>
              <a:ext uri="{FF2B5EF4-FFF2-40B4-BE49-F238E27FC236}">
                <a16:creationId xmlns:a16="http://schemas.microsoft.com/office/drawing/2014/main" id="{B10B75F5-E6CC-D1CE-344D-AF1933D3D507}"/>
              </a:ext>
            </a:extLst>
          </p:cNvPr>
          <p:cNvSpPr/>
          <p:nvPr/>
        </p:nvSpPr>
        <p:spPr>
          <a:xfrm>
            <a:off x="7957774" y="2999232"/>
            <a:ext cx="128016" cy="128016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48">
            <a:extLst>
              <a:ext uri="{FF2B5EF4-FFF2-40B4-BE49-F238E27FC236}">
                <a16:creationId xmlns:a16="http://schemas.microsoft.com/office/drawing/2014/main" id="{4F86AE00-F801-C765-CD3D-BC8461DDD900}"/>
              </a:ext>
            </a:extLst>
          </p:cNvPr>
          <p:cNvSpPr/>
          <p:nvPr/>
        </p:nvSpPr>
        <p:spPr>
          <a:xfrm>
            <a:off x="8397517" y="2999232"/>
            <a:ext cx="128016" cy="128016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49">
            <a:extLst>
              <a:ext uri="{FF2B5EF4-FFF2-40B4-BE49-F238E27FC236}">
                <a16:creationId xmlns:a16="http://schemas.microsoft.com/office/drawing/2014/main" id="{C068DE0A-EB79-4686-D52D-E44C00BFBA50}"/>
              </a:ext>
            </a:extLst>
          </p:cNvPr>
          <p:cNvSpPr/>
          <p:nvPr/>
        </p:nvSpPr>
        <p:spPr>
          <a:xfrm>
            <a:off x="8837260" y="2999232"/>
            <a:ext cx="128016" cy="128016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50">
            <a:extLst>
              <a:ext uri="{FF2B5EF4-FFF2-40B4-BE49-F238E27FC236}">
                <a16:creationId xmlns:a16="http://schemas.microsoft.com/office/drawing/2014/main" id="{74346902-41DC-AD33-B44E-C7E051C7F096}"/>
              </a:ext>
            </a:extLst>
          </p:cNvPr>
          <p:cNvSpPr/>
          <p:nvPr/>
        </p:nvSpPr>
        <p:spPr>
          <a:xfrm>
            <a:off x="9277004" y="2999232"/>
            <a:ext cx="128016" cy="128016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51">
            <a:extLst>
              <a:ext uri="{FF2B5EF4-FFF2-40B4-BE49-F238E27FC236}">
                <a16:creationId xmlns:a16="http://schemas.microsoft.com/office/drawing/2014/main" id="{D36A857D-D51B-2557-7EEC-616E23B8CC37}"/>
              </a:ext>
            </a:extLst>
          </p:cNvPr>
          <p:cNvSpPr/>
          <p:nvPr/>
        </p:nvSpPr>
        <p:spPr>
          <a:xfrm>
            <a:off x="9716747" y="2999232"/>
            <a:ext cx="128016" cy="128016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52">
            <a:extLst>
              <a:ext uri="{FF2B5EF4-FFF2-40B4-BE49-F238E27FC236}">
                <a16:creationId xmlns:a16="http://schemas.microsoft.com/office/drawing/2014/main" id="{ECD5F961-0280-7302-A4D5-F76A58AADF22}"/>
              </a:ext>
            </a:extLst>
          </p:cNvPr>
          <p:cNvSpPr/>
          <p:nvPr/>
        </p:nvSpPr>
        <p:spPr>
          <a:xfrm>
            <a:off x="10156490" y="2999232"/>
            <a:ext cx="128016" cy="128016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53">
            <a:extLst>
              <a:ext uri="{FF2B5EF4-FFF2-40B4-BE49-F238E27FC236}">
                <a16:creationId xmlns:a16="http://schemas.microsoft.com/office/drawing/2014/main" id="{482E8074-F67C-9269-552C-6795771DDEFF}"/>
              </a:ext>
            </a:extLst>
          </p:cNvPr>
          <p:cNvSpPr/>
          <p:nvPr/>
        </p:nvSpPr>
        <p:spPr>
          <a:xfrm>
            <a:off x="10596233" y="2999232"/>
            <a:ext cx="128016" cy="128016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54">
            <a:extLst>
              <a:ext uri="{FF2B5EF4-FFF2-40B4-BE49-F238E27FC236}">
                <a16:creationId xmlns:a16="http://schemas.microsoft.com/office/drawing/2014/main" id="{803484D2-3703-17BA-F535-4EEB1CFBC0E1}"/>
              </a:ext>
            </a:extLst>
          </p:cNvPr>
          <p:cNvSpPr/>
          <p:nvPr/>
        </p:nvSpPr>
        <p:spPr>
          <a:xfrm>
            <a:off x="11035977" y="2999232"/>
            <a:ext cx="128016" cy="128016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55">
            <a:extLst>
              <a:ext uri="{FF2B5EF4-FFF2-40B4-BE49-F238E27FC236}">
                <a16:creationId xmlns:a16="http://schemas.microsoft.com/office/drawing/2014/main" id="{FB9677AC-AE8D-6BFB-7B11-F738F11350E4}"/>
              </a:ext>
            </a:extLst>
          </p:cNvPr>
          <p:cNvSpPr/>
          <p:nvPr/>
        </p:nvSpPr>
        <p:spPr>
          <a:xfrm>
            <a:off x="7078287" y="3160776"/>
            <a:ext cx="128016" cy="128016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56">
            <a:extLst>
              <a:ext uri="{FF2B5EF4-FFF2-40B4-BE49-F238E27FC236}">
                <a16:creationId xmlns:a16="http://schemas.microsoft.com/office/drawing/2014/main" id="{DE74D636-66ED-C495-C79E-6255C30946D0}"/>
              </a:ext>
            </a:extLst>
          </p:cNvPr>
          <p:cNvSpPr/>
          <p:nvPr/>
        </p:nvSpPr>
        <p:spPr>
          <a:xfrm>
            <a:off x="7518031" y="3160776"/>
            <a:ext cx="128016" cy="128016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57">
            <a:extLst>
              <a:ext uri="{FF2B5EF4-FFF2-40B4-BE49-F238E27FC236}">
                <a16:creationId xmlns:a16="http://schemas.microsoft.com/office/drawing/2014/main" id="{8CEAD229-A8C5-9C5A-FD11-1BC03EA026C4}"/>
              </a:ext>
            </a:extLst>
          </p:cNvPr>
          <p:cNvSpPr/>
          <p:nvPr/>
        </p:nvSpPr>
        <p:spPr>
          <a:xfrm>
            <a:off x="7957774" y="3160776"/>
            <a:ext cx="128016" cy="128016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58">
            <a:extLst>
              <a:ext uri="{FF2B5EF4-FFF2-40B4-BE49-F238E27FC236}">
                <a16:creationId xmlns:a16="http://schemas.microsoft.com/office/drawing/2014/main" id="{CA1366EA-54DD-0880-51C9-B2E33EBE5C9E}"/>
              </a:ext>
            </a:extLst>
          </p:cNvPr>
          <p:cNvSpPr/>
          <p:nvPr/>
        </p:nvSpPr>
        <p:spPr>
          <a:xfrm>
            <a:off x="8397517" y="3160776"/>
            <a:ext cx="128016" cy="128016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59">
            <a:extLst>
              <a:ext uri="{FF2B5EF4-FFF2-40B4-BE49-F238E27FC236}">
                <a16:creationId xmlns:a16="http://schemas.microsoft.com/office/drawing/2014/main" id="{789F3042-402D-09C8-C837-D7822F5BA2E3}"/>
              </a:ext>
            </a:extLst>
          </p:cNvPr>
          <p:cNvSpPr/>
          <p:nvPr/>
        </p:nvSpPr>
        <p:spPr>
          <a:xfrm>
            <a:off x="8837260" y="3160776"/>
            <a:ext cx="128016" cy="128016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60">
            <a:extLst>
              <a:ext uri="{FF2B5EF4-FFF2-40B4-BE49-F238E27FC236}">
                <a16:creationId xmlns:a16="http://schemas.microsoft.com/office/drawing/2014/main" id="{F7F14E10-8119-C26E-0125-A42C6A60D07B}"/>
              </a:ext>
            </a:extLst>
          </p:cNvPr>
          <p:cNvSpPr/>
          <p:nvPr/>
        </p:nvSpPr>
        <p:spPr>
          <a:xfrm>
            <a:off x="9277004" y="3160776"/>
            <a:ext cx="128016" cy="128016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61">
            <a:extLst>
              <a:ext uri="{FF2B5EF4-FFF2-40B4-BE49-F238E27FC236}">
                <a16:creationId xmlns:a16="http://schemas.microsoft.com/office/drawing/2014/main" id="{011A86C4-516F-E2AF-148A-05A28D55EA00}"/>
              </a:ext>
            </a:extLst>
          </p:cNvPr>
          <p:cNvSpPr/>
          <p:nvPr/>
        </p:nvSpPr>
        <p:spPr>
          <a:xfrm>
            <a:off x="9716747" y="3160776"/>
            <a:ext cx="128016" cy="128016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62">
            <a:extLst>
              <a:ext uri="{FF2B5EF4-FFF2-40B4-BE49-F238E27FC236}">
                <a16:creationId xmlns:a16="http://schemas.microsoft.com/office/drawing/2014/main" id="{2EF12D96-29C0-D325-0F1B-C6D788B35428}"/>
              </a:ext>
            </a:extLst>
          </p:cNvPr>
          <p:cNvSpPr/>
          <p:nvPr/>
        </p:nvSpPr>
        <p:spPr>
          <a:xfrm>
            <a:off x="10156490" y="3160776"/>
            <a:ext cx="128016" cy="128016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63">
            <a:extLst>
              <a:ext uri="{FF2B5EF4-FFF2-40B4-BE49-F238E27FC236}">
                <a16:creationId xmlns:a16="http://schemas.microsoft.com/office/drawing/2014/main" id="{7B7BDBAD-B1FB-4A62-D218-5683A882E431}"/>
              </a:ext>
            </a:extLst>
          </p:cNvPr>
          <p:cNvSpPr/>
          <p:nvPr/>
        </p:nvSpPr>
        <p:spPr>
          <a:xfrm>
            <a:off x="10596233" y="3160776"/>
            <a:ext cx="128016" cy="128016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64">
            <a:extLst>
              <a:ext uri="{FF2B5EF4-FFF2-40B4-BE49-F238E27FC236}">
                <a16:creationId xmlns:a16="http://schemas.microsoft.com/office/drawing/2014/main" id="{68AA8A9A-2263-8482-66B7-3FAA8261706C}"/>
              </a:ext>
            </a:extLst>
          </p:cNvPr>
          <p:cNvSpPr/>
          <p:nvPr/>
        </p:nvSpPr>
        <p:spPr>
          <a:xfrm>
            <a:off x="11035977" y="3160776"/>
            <a:ext cx="128016" cy="128016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65">
            <a:extLst>
              <a:ext uri="{FF2B5EF4-FFF2-40B4-BE49-F238E27FC236}">
                <a16:creationId xmlns:a16="http://schemas.microsoft.com/office/drawing/2014/main" id="{88ECBCFB-4920-6741-5B8F-50AD7A4F2ED9}"/>
              </a:ext>
            </a:extLst>
          </p:cNvPr>
          <p:cNvSpPr/>
          <p:nvPr/>
        </p:nvSpPr>
        <p:spPr>
          <a:xfrm>
            <a:off x="7078287" y="3322320"/>
            <a:ext cx="128016" cy="128016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66">
            <a:extLst>
              <a:ext uri="{FF2B5EF4-FFF2-40B4-BE49-F238E27FC236}">
                <a16:creationId xmlns:a16="http://schemas.microsoft.com/office/drawing/2014/main" id="{B6066715-6881-4A65-B757-25902B4879F1}"/>
              </a:ext>
            </a:extLst>
          </p:cNvPr>
          <p:cNvSpPr/>
          <p:nvPr/>
        </p:nvSpPr>
        <p:spPr>
          <a:xfrm>
            <a:off x="7518031" y="3322320"/>
            <a:ext cx="128016" cy="128016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67">
            <a:extLst>
              <a:ext uri="{FF2B5EF4-FFF2-40B4-BE49-F238E27FC236}">
                <a16:creationId xmlns:a16="http://schemas.microsoft.com/office/drawing/2014/main" id="{E3808B58-60F4-0B42-6719-F40171949FF7}"/>
              </a:ext>
            </a:extLst>
          </p:cNvPr>
          <p:cNvSpPr/>
          <p:nvPr/>
        </p:nvSpPr>
        <p:spPr>
          <a:xfrm>
            <a:off x="7957774" y="3322320"/>
            <a:ext cx="128016" cy="128016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68">
            <a:extLst>
              <a:ext uri="{FF2B5EF4-FFF2-40B4-BE49-F238E27FC236}">
                <a16:creationId xmlns:a16="http://schemas.microsoft.com/office/drawing/2014/main" id="{6EDCCFA4-C11D-E943-AD9C-DBB44E27684F}"/>
              </a:ext>
            </a:extLst>
          </p:cNvPr>
          <p:cNvSpPr/>
          <p:nvPr/>
        </p:nvSpPr>
        <p:spPr>
          <a:xfrm>
            <a:off x="8397517" y="3322320"/>
            <a:ext cx="128016" cy="128016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69">
            <a:extLst>
              <a:ext uri="{FF2B5EF4-FFF2-40B4-BE49-F238E27FC236}">
                <a16:creationId xmlns:a16="http://schemas.microsoft.com/office/drawing/2014/main" id="{29D81F30-AEE5-60F1-0B38-02DE10484836}"/>
              </a:ext>
            </a:extLst>
          </p:cNvPr>
          <p:cNvSpPr/>
          <p:nvPr/>
        </p:nvSpPr>
        <p:spPr>
          <a:xfrm>
            <a:off x="8837260" y="3322320"/>
            <a:ext cx="128016" cy="128016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70">
            <a:extLst>
              <a:ext uri="{FF2B5EF4-FFF2-40B4-BE49-F238E27FC236}">
                <a16:creationId xmlns:a16="http://schemas.microsoft.com/office/drawing/2014/main" id="{8C61C0EE-EBE0-F501-36F8-A9E0AD2FE82E}"/>
              </a:ext>
            </a:extLst>
          </p:cNvPr>
          <p:cNvSpPr/>
          <p:nvPr/>
        </p:nvSpPr>
        <p:spPr>
          <a:xfrm>
            <a:off x="9277004" y="3322320"/>
            <a:ext cx="128016" cy="128016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71">
            <a:extLst>
              <a:ext uri="{FF2B5EF4-FFF2-40B4-BE49-F238E27FC236}">
                <a16:creationId xmlns:a16="http://schemas.microsoft.com/office/drawing/2014/main" id="{B6B4418F-1B2C-3EC5-FB04-C62AE82C894D}"/>
              </a:ext>
            </a:extLst>
          </p:cNvPr>
          <p:cNvSpPr/>
          <p:nvPr/>
        </p:nvSpPr>
        <p:spPr>
          <a:xfrm>
            <a:off x="9716747" y="3322320"/>
            <a:ext cx="128016" cy="128016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72">
            <a:extLst>
              <a:ext uri="{FF2B5EF4-FFF2-40B4-BE49-F238E27FC236}">
                <a16:creationId xmlns:a16="http://schemas.microsoft.com/office/drawing/2014/main" id="{927067DF-4BA2-9BF0-77FC-8BFDC0671E81}"/>
              </a:ext>
            </a:extLst>
          </p:cNvPr>
          <p:cNvSpPr/>
          <p:nvPr/>
        </p:nvSpPr>
        <p:spPr>
          <a:xfrm>
            <a:off x="10156490" y="3322320"/>
            <a:ext cx="128016" cy="128016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73">
            <a:extLst>
              <a:ext uri="{FF2B5EF4-FFF2-40B4-BE49-F238E27FC236}">
                <a16:creationId xmlns:a16="http://schemas.microsoft.com/office/drawing/2014/main" id="{B8B0DD14-2E6A-4212-EE74-086D8D40E1CF}"/>
              </a:ext>
            </a:extLst>
          </p:cNvPr>
          <p:cNvSpPr/>
          <p:nvPr/>
        </p:nvSpPr>
        <p:spPr>
          <a:xfrm>
            <a:off x="10596233" y="3322320"/>
            <a:ext cx="128016" cy="128016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74">
            <a:extLst>
              <a:ext uri="{FF2B5EF4-FFF2-40B4-BE49-F238E27FC236}">
                <a16:creationId xmlns:a16="http://schemas.microsoft.com/office/drawing/2014/main" id="{3F50C9DC-608A-8C0F-8B09-E5FB48D45798}"/>
              </a:ext>
            </a:extLst>
          </p:cNvPr>
          <p:cNvSpPr/>
          <p:nvPr/>
        </p:nvSpPr>
        <p:spPr>
          <a:xfrm>
            <a:off x="11035977" y="3322320"/>
            <a:ext cx="128016" cy="128016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75">
            <a:extLst>
              <a:ext uri="{FF2B5EF4-FFF2-40B4-BE49-F238E27FC236}">
                <a16:creationId xmlns:a16="http://schemas.microsoft.com/office/drawing/2014/main" id="{57850028-F86A-CBEB-5B56-007934925570}"/>
              </a:ext>
            </a:extLst>
          </p:cNvPr>
          <p:cNvSpPr/>
          <p:nvPr/>
        </p:nvSpPr>
        <p:spPr>
          <a:xfrm>
            <a:off x="548640" y="3593592"/>
            <a:ext cx="11109960" cy="841248"/>
          </a:xfrm>
          <a:prstGeom prst="rect">
            <a:avLst/>
          </a:prstGeom>
          <a:solidFill>
            <a:srgbClr val="121C2E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76">
            <a:extLst>
              <a:ext uri="{FF2B5EF4-FFF2-40B4-BE49-F238E27FC236}">
                <a16:creationId xmlns:a16="http://schemas.microsoft.com/office/drawing/2014/main" id="{489553CB-D58A-4FCF-2837-128E82920FA9}"/>
              </a:ext>
            </a:extLst>
          </p:cNvPr>
          <p:cNvSpPr/>
          <p:nvPr/>
        </p:nvSpPr>
        <p:spPr>
          <a:xfrm>
            <a:off x="548640" y="3593592"/>
            <a:ext cx="73152" cy="841248"/>
          </a:xfrm>
          <a:prstGeom prst="rect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77">
            <a:extLst>
              <a:ext uri="{FF2B5EF4-FFF2-40B4-BE49-F238E27FC236}">
                <a16:creationId xmlns:a16="http://schemas.microsoft.com/office/drawing/2014/main" id="{6045A949-54EE-E5AB-8EF0-DB5F5F61661B}"/>
              </a:ext>
            </a:extLst>
          </p:cNvPr>
          <p:cNvSpPr/>
          <p:nvPr/>
        </p:nvSpPr>
        <p:spPr>
          <a:xfrm>
            <a:off x="731520" y="3593592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0A04B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150</a:t>
            </a:r>
            <a:endParaRPr lang="en-US" sz="4400" dirty="0"/>
          </a:p>
        </p:txBody>
      </p:sp>
      <p:sp>
        <p:nvSpPr>
          <p:cNvPr id="115" name="Text 78">
            <a:extLst>
              <a:ext uri="{FF2B5EF4-FFF2-40B4-BE49-F238E27FC236}">
                <a16:creationId xmlns:a16="http://schemas.microsoft.com/office/drawing/2014/main" id="{20BBE829-BB5E-F484-BB18-FA3CD81367F9}"/>
              </a:ext>
            </a:extLst>
          </p:cNvPr>
          <p:cNvSpPr/>
          <p:nvPr/>
        </p:nvSpPr>
        <p:spPr>
          <a:xfrm>
            <a:off x="2743200" y="372160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TESTS</a:t>
            </a:r>
            <a:endParaRPr lang="en-US" sz="1700" dirty="0"/>
          </a:p>
        </p:txBody>
      </p:sp>
      <p:sp>
        <p:nvSpPr>
          <p:cNvPr id="116" name="Text 79">
            <a:extLst>
              <a:ext uri="{FF2B5EF4-FFF2-40B4-BE49-F238E27FC236}">
                <a16:creationId xmlns:a16="http://schemas.microsoft.com/office/drawing/2014/main" id="{80D2DF8B-D323-694A-37F8-7FC28163F6CC}"/>
              </a:ext>
            </a:extLst>
          </p:cNvPr>
          <p:cNvSpPr/>
          <p:nvPr/>
        </p:nvSpPr>
        <p:spPr>
          <a:xfrm>
            <a:off x="2743200" y="40507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Minimum 3 per invariant — Existence · Schema · Detection</a:t>
            </a:r>
            <a:endParaRPr lang="en-US" sz="1050" dirty="0"/>
          </a:p>
        </p:txBody>
      </p:sp>
      <p:sp>
        <p:nvSpPr>
          <p:cNvPr id="117" name="Shape 80">
            <a:extLst>
              <a:ext uri="{FF2B5EF4-FFF2-40B4-BE49-F238E27FC236}">
                <a16:creationId xmlns:a16="http://schemas.microsoft.com/office/drawing/2014/main" id="{DCE3E2D7-3FAC-E029-28F5-0C296292EE05}"/>
              </a:ext>
            </a:extLst>
          </p:cNvPr>
          <p:cNvSpPr/>
          <p:nvPr/>
        </p:nvSpPr>
        <p:spPr>
          <a:xfrm>
            <a:off x="6877343" y="3651069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81">
            <a:extLst>
              <a:ext uri="{FF2B5EF4-FFF2-40B4-BE49-F238E27FC236}">
                <a16:creationId xmlns:a16="http://schemas.microsoft.com/office/drawing/2014/main" id="{A34912CD-8DB7-33D9-2D0E-4F6B139A4662}"/>
              </a:ext>
            </a:extLst>
          </p:cNvPr>
          <p:cNvSpPr/>
          <p:nvPr/>
        </p:nvSpPr>
        <p:spPr>
          <a:xfrm>
            <a:off x="7061278" y="3651069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82">
            <a:extLst>
              <a:ext uri="{FF2B5EF4-FFF2-40B4-BE49-F238E27FC236}">
                <a16:creationId xmlns:a16="http://schemas.microsoft.com/office/drawing/2014/main" id="{346B0E3D-F563-FF8A-DEE8-8221A992CC6B}"/>
              </a:ext>
            </a:extLst>
          </p:cNvPr>
          <p:cNvSpPr/>
          <p:nvPr/>
        </p:nvSpPr>
        <p:spPr>
          <a:xfrm>
            <a:off x="7245213" y="3651069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83">
            <a:extLst>
              <a:ext uri="{FF2B5EF4-FFF2-40B4-BE49-F238E27FC236}">
                <a16:creationId xmlns:a16="http://schemas.microsoft.com/office/drawing/2014/main" id="{6340B108-E9E4-930A-03CA-094C9C66ACD9}"/>
              </a:ext>
            </a:extLst>
          </p:cNvPr>
          <p:cNvSpPr/>
          <p:nvPr/>
        </p:nvSpPr>
        <p:spPr>
          <a:xfrm>
            <a:off x="7429148" y="3651069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84">
            <a:extLst>
              <a:ext uri="{FF2B5EF4-FFF2-40B4-BE49-F238E27FC236}">
                <a16:creationId xmlns:a16="http://schemas.microsoft.com/office/drawing/2014/main" id="{9AB32D0C-BA8B-36CC-A159-C8A24A9322AD}"/>
              </a:ext>
            </a:extLst>
          </p:cNvPr>
          <p:cNvSpPr/>
          <p:nvPr/>
        </p:nvSpPr>
        <p:spPr>
          <a:xfrm>
            <a:off x="7613083" y="3651069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85">
            <a:extLst>
              <a:ext uri="{FF2B5EF4-FFF2-40B4-BE49-F238E27FC236}">
                <a16:creationId xmlns:a16="http://schemas.microsoft.com/office/drawing/2014/main" id="{5EAEB34D-7F7E-712D-217B-BE01512D3744}"/>
              </a:ext>
            </a:extLst>
          </p:cNvPr>
          <p:cNvSpPr/>
          <p:nvPr/>
        </p:nvSpPr>
        <p:spPr>
          <a:xfrm>
            <a:off x="7797018" y="3651069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86">
            <a:extLst>
              <a:ext uri="{FF2B5EF4-FFF2-40B4-BE49-F238E27FC236}">
                <a16:creationId xmlns:a16="http://schemas.microsoft.com/office/drawing/2014/main" id="{94081958-3F3E-B0EA-2676-33BC0B812AD1}"/>
              </a:ext>
            </a:extLst>
          </p:cNvPr>
          <p:cNvSpPr/>
          <p:nvPr/>
        </p:nvSpPr>
        <p:spPr>
          <a:xfrm>
            <a:off x="7980954" y="3651069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87">
            <a:extLst>
              <a:ext uri="{FF2B5EF4-FFF2-40B4-BE49-F238E27FC236}">
                <a16:creationId xmlns:a16="http://schemas.microsoft.com/office/drawing/2014/main" id="{B60DCF4E-1B6F-2D69-A372-71DD22D63591}"/>
              </a:ext>
            </a:extLst>
          </p:cNvPr>
          <p:cNvSpPr/>
          <p:nvPr/>
        </p:nvSpPr>
        <p:spPr>
          <a:xfrm>
            <a:off x="8164889" y="3651069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88">
            <a:extLst>
              <a:ext uri="{FF2B5EF4-FFF2-40B4-BE49-F238E27FC236}">
                <a16:creationId xmlns:a16="http://schemas.microsoft.com/office/drawing/2014/main" id="{73399EEE-2252-FE12-DD9D-EADC217C188B}"/>
              </a:ext>
            </a:extLst>
          </p:cNvPr>
          <p:cNvSpPr/>
          <p:nvPr/>
        </p:nvSpPr>
        <p:spPr>
          <a:xfrm>
            <a:off x="8348824" y="3651069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89">
            <a:extLst>
              <a:ext uri="{FF2B5EF4-FFF2-40B4-BE49-F238E27FC236}">
                <a16:creationId xmlns:a16="http://schemas.microsoft.com/office/drawing/2014/main" id="{9AD09689-AB81-AC30-0D1C-992BCDD13F0B}"/>
              </a:ext>
            </a:extLst>
          </p:cNvPr>
          <p:cNvSpPr/>
          <p:nvPr/>
        </p:nvSpPr>
        <p:spPr>
          <a:xfrm>
            <a:off x="8532759" y="3651069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90">
            <a:extLst>
              <a:ext uri="{FF2B5EF4-FFF2-40B4-BE49-F238E27FC236}">
                <a16:creationId xmlns:a16="http://schemas.microsoft.com/office/drawing/2014/main" id="{F49B6D12-EF70-865A-E06E-A9D4F7221286}"/>
              </a:ext>
            </a:extLst>
          </p:cNvPr>
          <p:cNvSpPr/>
          <p:nvPr/>
        </p:nvSpPr>
        <p:spPr>
          <a:xfrm>
            <a:off x="8716694" y="3651069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91">
            <a:extLst>
              <a:ext uri="{FF2B5EF4-FFF2-40B4-BE49-F238E27FC236}">
                <a16:creationId xmlns:a16="http://schemas.microsoft.com/office/drawing/2014/main" id="{F7DF5DE8-D259-A8ED-2B85-F9C3DE41867F}"/>
              </a:ext>
            </a:extLst>
          </p:cNvPr>
          <p:cNvSpPr/>
          <p:nvPr/>
        </p:nvSpPr>
        <p:spPr>
          <a:xfrm>
            <a:off x="8900629" y="3651069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92">
            <a:extLst>
              <a:ext uri="{FF2B5EF4-FFF2-40B4-BE49-F238E27FC236}">
                <a16:creationId xmlns:a16="http://schemas.microsoft.com/office/drawing/2014/main" id="{64F2A56C-9EA8-6406-B76F-00261BE07B0A}"/>
              </a:ext>
            </a:extLst>
          </p:cNvPr>
          <p:cNvSpPr/>
          <p:nvPr/>
        </p:nvSpPr>
        <p:spPr>
          <a:xfrm>
            <a:off x="9084564" y="3651069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93">
            <a:extLst>
              <a:ext uri="{FF2B5EF4-FFF2-40B4-BE49-F238E27FC236}">
                <a16:creationId xmlns:a16="http://schemas.microsoft.com/office/drawing/2014/main" id="{E568460F-65DD-C812-93C6-17786347AC6D}"/>
              </a:ext>
            </a:extLst>
          </p:cNvPr>
          <p:cNvSpPr/>
          <p:nvPr/>
        </p:nvSpPr>
        <p:spPr>
          <a:xfrm>
            <a:off x="9268499" y="3651069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94">
            <a:extLst>
              <a:ext uri="{FF2B5EF4-FFF2-40B4-BE49-F238E27FC236}">
                <a16:creationId xmlns:a16="http://schemas.microsoft.com/office/drawing/2014/main" id="{7CA5A14E-CD76-7FC5-803F-17E7E8B987B2}"/>
              </a:ext>
            </a:extLst>
          </p:cNvPr>
          <p:cNvSpPr/>
          <p:nvPr/>
        </p:nvSpPr>
        <p:spPr>
          <a:xfrm>
            <a:off x="9452434" y="3651069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95">
            <a:extLst>
              <a:ext uri="{FF2B5EF4-FFF2-40B4-BE49-F238E27FC236}">
                <a16:creationId xmlns:a16="http://schemas.microsoft.com/office/drawing/2014/main" id="{3E733D18-8204-7CC5-4382-1F9CE0513BD4}"/>
              </a:ext>
            </a:extLst>
          </p:cNvPr>
          <p:cNvSpPr/>
          <p:nvPr/>
        </p:nvSpPr>
        <p:spPr>
          <a:xfrm>
            <a:off x="9636369" y="3651069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96">
            <a:extLst>
              <a:ext uri="{FF2B5EF4-FFF2-40B4-BE49-F238E27FC236}">
                <a16:creationId xmlns:a16="http://schemas.microsoft.com/office/drawing/2014/main" id="{C0774D57-A053-5955-7630-5669695E7832}"/>
              </a:ext>
            </a:extLst>
          </p:cNvPr>
          <p:cNvSpPr/>
          <p:nvPr/>
        </p:nvSpPr>
        <p:spPr>
          <a:xfrm>
            <a:off x="9820304" y="3651069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97">
            <a:extLst>
              <a:ext uri="{FF2B5EF4-FFF2-40B4-BE49-F238E27FC236}">
                <a16:creationId xmlns:a16="http://schemas.microsoft.com/office/drawing/2014/main" id="{9085F6D6-A284-2198-C58A-4C4C5959AA75}"/>
              </a:ext>
            </a:extLst>
          </p:cNvPr>
          <p:cNvSpPr/>
          <p:nvPr/>
        </p:nvSpPr>
        <p:spPr>
          <a:xfrm>
            <a:off x="10004239" y="3651069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98">
            <a:extLst>
              <a:ext uri="{FF2B5EF4-FFF2-40B4-BE49-F238E27FC236}">
                <a16:creationId xmlns:a16="http://schemas.microsoft.com/office/drawing/2014/main" id="{6ADFCD4A-2499-2F14-F61E-632482C4041E}"/>
              </a:ext>
            </a:extLst>
          </p:cNvPr>
          <p:cNvSpPr/>
          <p:nvPr/>
        </p:nvSpPr>
        <p:spPr>
          <a:xfrm>
            <a:off x="10188174" y="3651069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99">
            <a:extLst>
              <a:ext uri="{FF2B5EF4-FFF2-40B4-BE49-F238E27FC236}">
                <a16:creationId xmlns:a16="http://schemas.microsoft.com/office/drawing/2014/main" id="{288397CE-EC30-B986-AB2D-D3EAC3D0B7EB}"/>
              </a:ext>
            </a:extLst>
          </p:cNvPr>
          <p:cNvSpPr/>
          <p:nvPr/>
        </p:nvSpPr>
        <p:spPr>
          <a:xfrm>
            <a:off x="10372110" y="3651069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00">
            <a:extLst>
              <a:ext uri="{FF2B5EF4-FFF2-40B4-BE49-F238E27FC236}">
                <a16:creationId xmlns:a16="http://schemas.microsoft.com/office/drawing/2014/main" id="{8C993292-F45D-AD5E-2959-11F472010B3D}"/>
              </a:ext>
            </a:extLst>
          </p:cNvPr>
          <p:cNvSpPr/>
          <p:nvPr/>
        </p:nvSpPr>
        <p:spPr>
          <a:xfrm>
            <a:off x="10556045" y="3651069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01">
            <a:extLst>
              <a:ext uri="{FF2B5EF4-FFF2-40B4-BE49-F238E27FC236}">
                <a16:creationId xmlns:a16="http://schemas.microsoft.com/office/drawing/2014/main" id="{4AB59C14-82D0-B2AF-F41F-85F3023EB810}"/>
              </a:ext>
            </a:extLst>
          </p:cNvPr>
          <p:cNvSpPr/>
          <p:nvPr/>
        </p:nvSpPr>
        <p:spPr>
          <a:xfrm>
            <a:off x="10739980" y="3651069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02">
            <a:extLst>
              <a:ext uri="{FF2B5EF4-FFF2-40B4-BE49-F238E27FC236}">
                <a16:creationId xmlns:a16="http://schemas.microsoft.com/office/drawing/2014/main" id="{FF51E7EF-9DED-D5CA-CF8E-D0E5CBF13D37}"/>
              </a:ext>
            </a:extLst>
          </p:cNvPr>
          <p:cNvSpPr/>
          <p:nvPr/>
        </p:nvSpPr>
        <p:spPr>
          <a:xfrm>
            <a:off x="10923915" y="3651069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03">
            <a:extLst>
              <a:ext uri="{FF2B5EF4-FFF2-40B4-BE49-F238E27FC236}">
                <a16:creationId xmlns:a16="http://schemas.microsoft.com/office/drawing/2014/main" id="{2375D43F-0BE9-B4A3-A287-FBE9F6AA26D8}"/>
              </a:ext>
            </a:extLst>
          </p:cNvPr>
          <p:cNvSpPr/>
          <p:nvPr/>
        </p:nvSpPr>
        <p:spPr>
          <a:xfrm>
            <a:off x="11107850" y="3651069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04">
            <a:extLst>
              <a:ext uri="{FF2B5EF4-FFF2-40B4-BE49-F238E27FC236}">
                <a16:creationId xmlns:a16="http://schemas.microsoft.com/office/drawing/2014/main" id="{C2E105E1-B12D-D595-16FD-1E71BFA44EAC}"/>
              </a:ext>
            </a:extLst>
          </p:cNvPr>
          <p:cNvSpPr/>
          <p:nvPr/>
        </p:nvSpPr>
        <p:spPr>
          <a:xfrm>
            <a:off x="11291785" y="3651069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05">
            <a:extLst>
              <a:ext uri="{FF2B5EF4-FFF2-40B4-BE49-F238E27FC236}">
                <a16:creationId xmlns:a16="http://schemas.microsoft.com/office/drawing/2014/main" id="{85E6B8A4-2784-C83E-4BD8-FA36DFFCE7F3}"/>
              </a:ext>
            </a:extLst>
          </p:cNvPr>
          <p:cNvSpPr/>
          <p:nvPr/>
        </p:nvSpPr>
        <p:spPr>
          <a:xfrm>
            <a:off x="6877343" y="3781697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06">
            <a:extLst>
              <a:ext uri="{FF2B5EF4-FFF2-40B4-BE49-F238E27FC236}">
                <a16:creationId xmlns:a16="http://schemas.microsoft.com/office/drawing/2014/main" id="{3E6C8C97-59DB-178B-5F7D-3FBE1181F7F1}"/>
              </a:ext>
            </a:extLst>
          </p:cNvPr>
          <p:cNvSpPr/>
          <p:nvPr/>
        </p:nvSpPr>
        <p:spPr>
          <a:xfrm>
            <a:off x="7061278" y="3781697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07">
            <a:extLst>
              <a:ext uri="{FF2B5EF4-FFF2-40B4-BE49-F238E27FC236}">
                <a16:creationId xmlns:a16="http://schemas.microsoft.com/office/drawing/2014/main" id="{33012BAD-74FB-A554-2372-FBCE53242CA6}"/>
              </a:ext>
            </a:extLst>
          </p:cNvPr>
          <p:cNvSpPr/>
          <p:nvPr/>
        </p:nvSpPr>
        <p:spPr>
          <a:xfrm>
            <a:off x="7245213" y="3781697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08">
            <a:extLst>
              <a:ext uri="{FF2B5EF4-FFF2-40B4-BE49-F238E27FC236}">
                <a16:creationId xmlns:a16="http://schemas.microsoft.com/office/drawing/2014/main" id="{C16CAFAD-884A-1CFF-57FE-FFA556A10C3A}"/>
              </a:ext>
            </a:extLst>
          </p:cNvPr>
          <p:cNvSpPr/>
          <p:nvPr/>
        </p:nvSpPr>
        <p:spPr>
          <a:xfrm>
            <a:off x="7429148" y="3781697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Shape 109">
            <a:extLst>
              <a:ext uri="{FF2B5EF4-FFF2-40B4-BE49-F238E27FC236}">
                <a16:creationId xmlns:a16="http://schemas.microsoft.com/office/drawing/2014/main" id="{545DB681-CD59-E9ED-2AF5-5AFDD48DD114}"/>
              </a:ext>
            </a:extLst>
          </p:cNvPr>
          <p:cNvSpPr/>
          <p:nvPr/>
        </p:nvSpPr>
        <p:spPr>
          <a:xfrm>
            <a:off x="7613083" y="3781697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10">
            <a:extLst>
              <a:ext uri="{FF2B5EF4-FFF2-40B4-BE49-F238E27FC236}">
                <a16:creationId xmlns:a16="http://schemas.microsoft.com/office/drawing/2014/main" id="{43F243DF-D298-6777-27AB-F1E38F6937AA}"/>
              </a:ext>
            </a:extLst>
          </p:cNvPr>
          <p:cNvSpPr/>
          <p:nvPr/>
        </p:nvSpPr>
        <p:spPr>
          <a:xfrm>
            <a:off x="7797018" y="3781697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11">
            <a:extLst>
              <a:ext uri="{FF2B5EF4-FFF2-40B4-BE49-F238E27FC236}">
                <a16:creationId xmlns:a16="http://schemas.microsoft.com/office/drawing/2014/main" id="{067CCD00-C381-82F1-3575-D22D7B9EBCFA}"/>
              </a:ext>
            </a:extLst>
          </p:cNvPr>
          <p:cNvSpPr/>
          <p:nvPr/>
        </p:nvSpPr>
        <p:spPr>
          <a:xfrm>
            <a:off x="7980954" y="3781697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112">
            <a:extLst>
              <a:ext uri="{FF2B5EF4-FFF2-40B4-BE49-F238E27FC236}">
                <a16:creationId xmlns:a16="http://schemas.microsoft.com/office/drawing/2014/main" id="{7784DA40-9E37-D90B-1843-F811997E442D}"/>
              </a:ext>
            </a:extLst>
          </p:cNvPr>
          <p:cNvSpPr/>
          <p:nvPr/>
        </p:nvSpPr>
        <p:spPr>
          <a:xfrm>
            <a:off x="8164889" y="3781697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113">
            <a:extLst>
              <a:ext uri="{FF2B5EF4-FFF2-40B4-BE49-F238E27FC236}">
                <a16:creationId xmlns:a16="http://schemas.microsoft.com/office/drawing/2014/main" id="{07AB9534-A100-5016-FF0A-F1B05C6678C0}"/>
              </a:ext>
            </a:extLst>
          </p:cNvPr>
          <p:cNvSpPr/>
          <p:nvPr/>
        </p:nvSpPr>
        <p:spPr>
          <a:xfrm>
            <a:off x="8348824" y="3781697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114">
            <a:extLst>
              <a:ext uri="{FF2B5EF4-FFF2-40B4-BE49-F238E27FC236}">
                <a16:creationId xmlns:a16="http://schemas.microsoft.com/office/drawing/2014/main" id="{3C67863E-7684-6C9A-F62D-C2C24CCD86D3}"/>
              </a:ext>
            </a:extLst>
          </p:cNvPr>
          <p:cNvSpPr/>
          <p:nvPr/>
        </p:nvSpPr>
        <p:spPr>
          <a:xfrm>
            <a:off x="8532759" y="3781697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Shape 115">
            <a:extLst>
              <a:ext uri="{FF2B5EF4-FFF2-40B4-BE49-F238E27FC236}">
                <a16:creationId xmlns:a16="http://schemas.microsoft.com/office/drawing/2014/main" id="{63D1395E-21B1-E866-F3F9-03C78325C1DE}"/>
              </a:ext>
            </a:extLst>
          </p:cNvPr>
          <p:cNvSpPr/>
          <p:nvPr/>
        </p:nvSpPr>
        <p:spPr>
          <a:xfrm>
            <a:off x="8716694" y="3781697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Shape 116">
            <a:extLst>
              <a:ext uri="{FF2B5EF4-FFF2-40B4-BE49-F238E27FC236}">
                <a16:creationId xmlns:a16="http://schemas.microsoft.com/office/drawing/2014/main" id="{62BA467F-EA0A-4844-CE8D-6BEAB2B3911A}"/>
              </a:ext>
            </a:extLst>
          </p:cNvPr>
          <p:cNvSpPr/>
          <p:nvPr/>
        </p:nvSpPr>
        <p:spPr>
          <a:xfrm>
            <a:off x="8900629" y="3781697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Shape 117">
            <a:extLst>
              <a:ext uri="{FF2B5EF4-FFF2-40B4-BE49-F238E27FC236}">
                <a16:creationId xmlns:a16="http://schemas.microsoft.com/office/drawing/2014/main" id="{A6A2853A-8F57-7F8A-D4C1-3A6D86D7179F}"/>
              </a:ext>
            </a:extLst>
          </p:cNvPr>
          <p:cNvSpPr/>
          <p:nvPr/>
        </p:nvSpPr>
        <p:spPr>
          <a:xfrm>
            <a:off x="9084564" y="3781697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Shape 118">
            <a:extLst>
              <a:ext uri="{FF2B5EF4-FFF2-40B4-BE49-F238E27FC236}">
                <a16:creationId xmlns:a16="http://schemas.microsoft.com/office/drawing/2014/main" id="{20662896-8F1B-A8CE-337E-1078C9BC7467}"/>
              </a:ext>
            </a:extLst>
          </p:cNvPr>
          <p:cNvSpPr/>
          <p:nvPr/>
        </p:nvSpPr>
        <p:spPr>
          <a:xfrm>
            <a:off x="9268499" y="3781697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Shape 119">
            <a:extLst>
              <a:ext uri="{FF2B5EF4-FFF2-40B4-BE49-F238E27FC236}">
                <a16:creationId xmlns:a16="http://schemas.microsoft.com/office/drawing/2014/main" id="{48F94B33-17D7-2C1E-6A11-39DBCEE93EA2}"/>
              </a:ext>
            </a:extLst>
          </p:cNvPr>
          <p:cNvSpPr/>
          <p:nvPr/>
        </p:nvSpPr>
        <p:spPr>
          <a:xfrm>
            <a:off x="9452434" y="3781697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Shape 120">
            <a:extLst>
              <a:ext uri="{FF2B5EF4-FFF2-40B4-BE49-F238E27FC236}">
                <a16:creationId xmlns:a16="http://schemas.microsoft.com/office/drawing/2014/main" id="{2EF6CF67-109A-A4CE-5913-2676DF20941D}"/>
              </a:ext>
            </a:extLst>
          </p:cNvPr>
          <p:cNvSpPr/>
          <p:nvPr/>
        </p:nvSpPr>
        <p:spPr>
          <a:xfrm>
            <a:off x="9636369" y="3781697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Shape 121">
            <a:extLst>
              <a:ext uri="{FF2B5EF4-FFF2-40B4-BE49-F238E27FC236}">
                <a16:creationId xmlns:a16="http://schemas.microsoft.com/office/drawing/2014/main" id="{83C7B862-0725-B537-6388-55E5D7BAAC15}"/>
              </a:ext>
            </a:extLst>
          </p:cNvPr>
          <p:cNvSpPr/>
          <p:nvPr/>
        </p:nvSpPr>
        <p:spPr>
          <a:xfrm>
            <a:off x="9820304" y="3781697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Shape 122">
            <a:extLst>
              <a:ext uri="{FF2B5EF4-FFF2-40B4-BE49-F238E27FC236}">
                <a16:creationId xmlns:a16="http://schemas.microsoft.com/office/drawing/2014/main" id="{9CD9E3B6-2F71-0108-5021-360F093CB769}"/>
              </a:ext>
            </a:extLst>
          </p:cNvPr>
          <p:cNvSpPr/>
          <p:nvPr/>
        </p:nvSpPr>
        <p:spPr>
          <a:xfrm>
            <a:off x="10004239" y="3781697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hape 123">
            <a:extLst>
              <a:ext uri="{FF2B5EF4-FFF2-40B4-BE49-F238E27FC236}">
                <a16:creationId xmlns:a16="http://schemas.microsoft.com/office/drawing/2014/main" id="{8DF0DC1E-FF45-F9EA-1081-8CC5127F50F9}"/>
              </a:ext>
            </a:extLst>
          </p:cNvPr>
          <p:cNvSpPr/>
          <p:nvPr/>
        </p:nvSpPr>
        <p:spPr>
          <a:xfrm>
            <a:off x="10188174" y="3781697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124">
            <a:extLst>
              <a:ext uri="{FF2B5EF4-FFF2-40B4-BE49-F238E27FC236}">
                <a16:creationId xmlns:a16="http://schemas.microsoft.com/office/drawing/2014/main" id="{E8E40107-0001-91CC-3C13-168EF5B283B0}"/>
              </a:ext>
            </a:extLst>
          </p:cNvPr>
          <p:cNvSpPr/>
          <p:nvPr/>
        </p:nvSpPr>
        <p:spPr>
          <a:xfrm>
            <a:off x="10372110" y="3781697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Shape 125">
            <a:extLst>
              <a:ext uri="{FF2B5EF4-FFF2-40B4-BE49-F238E27FC236}">
                <a16:creationId xmlns:a16="http://schemas.microsoft.com/office/drawing/2014/main" id="{172C3934-FBE7-1B31-3E71-BA1DD92684C3}"/>
              </a:ext>
            </a:extLst>
          </p:cNvPr>
          <p:cNvSpPr/>
          <p:nvPr/>
        </p:nvSpPr>
        <p:spPr>
          <a:xfrm>
            <a:off x="10556045" y="3781697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Shape 126">
            <a:extLst>
              <a:ext uri="{FF2B5EF4-FFF2-40B4-BE49-F238E27FC236}">
                <a16:creationId xmlns:a16="http://schemas.microsoft.com/office/drawing/2014/main" id="{CAB6468C-D849-659C-F68F-3F576FE4F4AC}"/>
              </a:ext>
            </a:extLst>
          </p:cNvPr>
          <p:cNvSpPr/>
          <p:nvPr/>
        </p:nvSpPr>
        <p:spPr>
          <a:xfrm>
            <a:off x="10739980" y="3781697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Shape 127">
            <a:extLst>
              <a:ext uri="{FF2B5EF4-FFF2-40B4-BE49-F238E27FC236}">
                <a16:creationId xmlns:a16="http://schemas.microsoft.com/office/drawing/2014/main" id="{C6AE804D-B69A-4152-3879-96F3B74E564F}"/>
              </a:ext>
            </a:extLst>
          </p:cNvPr>
          <p:cNvSpPr/>
          <p:nvPr/>
        </p:nvSpPr>
        <p:spPr>
          <a:xfrm>
            <a:off x="10923915" y="3781697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hape 128">
            <a:extLst>
              <a:ext uri="{FF2B5EF4-FFF2-40B4-BE49-F238E27FC236}">
                <a16:creationId xmlns:a16="http://schemas.microsoft.com/office/drawing/2014/main" id="{9AF39BCF-7DAF-B349-292E-6C1CB75A86E6}"/>
              </a:ext>
            </a:extLst>
          </p:cNvPr>
          <p:cNvSpPr/>
          <p:nvPr/>
        </p:nvSpPr>
        <p:spPr>
          <a:xfrm>
            <a:off x="11107850" y="3781697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Shape 129">
            <a:extLst>
              <a:ext uri="{FF2B5EF4-FFF2-40B4-BE49-F238E27FC236}">
                <a16:creationId xmlns:a16="http://schemas.microsoft.com/office/drawing/2014/main" id="{243CE29F-A616-1B3B-0F09-1DA2ECD1F774}"/>
              </a:ext>
            </a:extLst>
          </p:cNvPr>
          <p:cNvSpPr/>
          <p:nvPr/>
        </p:nvSpPr>
        <p:spPr>
          <a:xfrm>
            <a:off x="11291785" y="3781697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Shape 130">
            <a:extLst>
              <a:ext uri="{FF2B5EF4-FFF2-40B4-BE49-F238E27FC236}">
                <a16:creationId xmlns:a16="http://schemas.microsoft.com/office/drawing/2014/main" id="{037A782F-C7A3-0644-2C05-4DD66EA3F8D4}"/>
              </a:ext>
            </a:extLst>
          </p:cNvPr>
          <p:cNvSpPr/>
          <p:nvPr/>
        </p:nvSpPr>
        <p:spPr>
          <a:xfrm>
            <a:off x="6877343" y="3912326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Shape 131">
            <a:extLst>
              <a:ext uri="{FF2B5EF4-FFF2-40B4-BE49-F238E27FC236}">
                <a16:creationId xmlns:a16="http://schemas.microsoft.com/office/drawing/2014/main" id="{541657DD-B92E-C7D9-E07E-3DB569BC0780}"/>
              </a:ext>
            </a:extLst>
          </p:cNvPr>
          <p:cNvSpPr/>
          <p:nvPr/>
        </p:nvSpPr>
        <p:spPr>
          <a:xfrm>
            <a:off x="7061278" y="3912326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hape 132">
            <a:extLst>
              <a:ext uri="{FF2B5EF4-FFF2-40B4-BE49-F238E27FC236}">
                <a16:creationId xmlns:a16="http://schemas.microsoft.com/office/drawing/2014/main" id="{A285F737-6D0E-9981-EF03-0AEF995DB4A0}"/>
              </a:ext>
            </a:extLst>
          </p:cNvPr>
          <p:cNvSpPr/>
          <p:nvPr/>
        </p:nvSpPr>
        <p:spPr>
          <a:xfrm>
            <a:off x="7245213" y="3912326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133">
            <a:extLst>
              <a:ext uri="{FF2B5EF4-FFF2-40B4-BE49-F238E27FC236}">
                <a16:creationId xmlns:a16="http://schemas.microsoft.com/office/drawing/2014/main" id="{95D97F2C-0005-F7C3-AAEA-F91D1EFC31FB}"/>
              </a:ext>
            </a:extLst>
          </p:cNvPr>
          <p:cNvSpPr/>
          <p:nvPr/>
        </p:nvSpPr>
        <p:spPr>
          <a:xfrm>
            <a:off x="7429148" y="3912326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134">
            <a:extLst>
              <a:ext uri="{FF2B5EF4-FFF2-40B4-BE49-F238E27FC236}">
                <a16:creationId xmlns:a16="http://schemas.microsoft.com/office/drawing/2014/main" id="{93F529C4-DFCA-4D36-7FBF-8A74CEBD9DB0}"/>
              </a:ext>
            </a:extLst>
          </p:cNvPr>
          <p:cNvSpPr/>
          <p:nvPr/>
        </p:nvSpPr>
        <p:spPr>
          <a:xfrm>
            <a:off x="7613083" y="3912326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Shape 135">
            <a:extLst>
              <a:ext uri="{FF2B5EF4-FFF2-40B4-BE49-F238E27FC236}">
                <a16:creationId xmlns:a16="http://schemas.microsoft.com/office/drawing/2014/main" id="{53651512-DD42-045C-E512-8A3995B0774C}"/>
              </a:ext>
            </a:extLst>
          </p:cNvPr>
          <p:cNvSpPr/>
          <p:nvPr/>
        </p:nvSpPr>
        <p:spPr>
          <a:xfrm>
            <a:off x="7797018" y="3912326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Shape 136">
            <a:extLst>
              <a:ext uri="{FF2B5EF4-FFF2-40B4-BE49-F238E27FC236}">
                <a16:creationId xmlns:a16="http://schemas.microsoft.com/office/drawing/2014/main" id="{5371139F-BC25-EF26-8168-300C00DC60C4}"/>
              </a:ext>
            </a:extLst>
          </p:cNvPr>
          <p:cNvSpPr/>
          <p:nvPr/>
        </p:nvSpPr>
        <p:spPr>
          <a:xfrm>
            <a:off x="7980954" y="3912326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Shape 137">
            <a:extLst>
              <a:ext uri="{FF2B5EF4-FFF2-40B4-BE49-F238E27FC236}">
                <a16:creationId xmlns:a16="http://schemas.microsoft.com/office/drawing/2014/main" id="{85865AF2-E052-0BC3-80C9-05983031497D}"/>
              </a:ext>
            </a:extLst>
          </p:cNvPr>
          <p:cNvSpPr/>
          <p:nvPr/>
        </p:nvSpPr>
        <p:spPr>
          <a:xfrm>
            <a:off x="8164889" y="3912326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hape 138">
            <a:extLst>
              <a:ext uri="{FF2B5EF4-FFF2-40B4-BE49-F238E27FC236}">
                <a16:creationId xmlns:a16="http://schemas.microsoft.com/office/drawing/2014/main" id="{14DC8AA0-1ABE-71D8-3252-9868CD9CC150}"/>
              </a:ext>
            </a:extLst>
          </p:cNvPr>
          <p:cNvSpPr/>
          <p:nvPr/>
        </p:nvSpPr>
        <p:spPr>
          <a:xfrm>
            <a:off x="8348824" y="3912326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Shape 139">
            <a:extLst>
              <a:ext uri="{FF2B5EF4-FFF2-40B4-BE49-F238E27FC236}">
                <a16:creationId xmlns:a16="http://schemas.microsoft.com/office/drawing/2014/main" id="{D82F8F4F-2554-67C9-8442-A882298D2138}"/>
              </a:ext>
            </a:extLst>
          </p:cNvPr>
          <p:cNvSpPr/>
          <p:nvPr/>
        </p:nvSpPr>
        <p:spPr>
          <a:xfrm>
            <a:off x="8532759" y="3912326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Shape 140">
            <a:extLst>
              <a:ext uri="{FF2B5EF4-FFF2-40B4-BE49-F238E27FC236}">
                <a16:creationId xmlns:a16="http://schemas.microsoft.com/office/drawing/2014/main" id="{AB76C309-17D9-607F-56C3-AF577E1AE8CF}"/>
              </a:ext>
            </a:extLst>
          </p:cNvPr>
          <p:cNvSpPr/>
          <p:nvPr/>
        </p:nvSpPr>
        <p:spPr>
          <a:xfrm>
            <a:off x="8716694" y="3912326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Shape 141">
            <a:extLst>
              <a:ext uri="{FF2B5EF4-FFF2-40B4-BE49-F238E27FC236}">
                <a16:creationId xmlns:a16="http://schemas.microsoft.com/office/drawing/2014/main" id="{39807904-0DFE-2FDC-FB78-03A995F82DA6}"/>
              </a:ext>
            </a:extLst>
          </p:cNvPr>
          <p:cNvSpPr/>
          <p:nvPr/>
        </p:nvSpPr>
        <p:spPr>
          <a:xfrm>
            <a:off x="8900629" y="3912326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Shape 142">
            <a:extLst>
              <a:ext uri="{FF2B5EF4-FFF2-40B4-BE49-F238E27FC236}">
                <a16:creationId xmlns:a16="http://schemas.microsoft.com/office/drawing/2014/main" id="{720A85C0-DD4F-0CE4-C50C-F355E5F5879B}"/>
              </a:ext>
            </a:extLst>
          </p:cNvPr>
          <p:cNvSpPr/>
          <p:nvPr/>
        </p:nvSpPr>
        <p:spPr>
          <a:xfrm>
            <a:off x="9084564" y="3912326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Shape 143">
            <a:extLst>
              <a:ext uri="{FF2B5EF4-FFF2-40B4-BE49-F238E27FC236}">
                <a16:creationId xmlns:a16="http://schemas.microsoft.com/office/drawing/2014/main" id="{779801C2-EBB7-F51A-9A1A-AD952935C84D}"/>
              </a:ext>
            </a:extLst>
          </p:cNvPr>
          <p:cNvSpPr/>
          <p:nvPr/>
        </p:nvSpPr>
        <p:spPr>
          <a:xfrm>
            <a:off x="9268499" y="3912326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Shape 144">
            <a:extLst>
              <a:ext uri="{FF2B5EF4-FFF2-40B4-BE49-F238E27FC236}">
                <a16:creationId xmlns:a16="http://schemas.microsoft.com/office/drawing/2014/main" id="{DB542B08-9962-6E9E-424A-0E77657B359E}"/>
              </a:ext>
            </a:extLst>
          </p:cNvPr>
          <p:cNvSpPr/>
          <p:nvPr/>
        </p:nvSpPr>
        <p:spPr>
          <a:xfrm>
            <a:off x="9452434" y="3912326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Shape 145">
            <a:extLst>
              <a:ext uri="{FF2B5EF4-FFF2-40B4-BE49-F238E27FC236}">
                <a16:creationId xmlns:a16="http://schemas.microsoft.com/office/drawing/2014/main" id="{EAC8C43D-EE07-C6F7-51B6-2C856306D528}"/>
              </a:ext>
            </a:extLst>
          </p:cNvPr>
          <p:cNvSpPr/>
          <p:nvPr/>
        </p:nvSpPr>
        <p:spPr>
          <a:xfrm>
            <a:off x="9636369" y="3912326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Shape 146">
            <a:extLst>
              <a:ext uri="{FF2B5EF4-FFF2-40B4-BE49-F238E27FC236}">
                <a16:creationId xmlns:a16="http://schemas.microsoft.com/office/drawing/2014/main" id="{C5EDCF43-9402-09B6-61D2-9BA1AEEDC1F4}"/>
              </a:ext>
            </a:extLst>
          </p:cNvPr>
          <p:cNvSpPr/>
          <p:nvPr/>
        </p:nvSpPr>
        <p:spPr>
          <a:xfrm>
            <a:off x="9820304" y="3912326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Shape 147">
            <a:extLst>
              <a:ext uri="{FF2B5EF4-FFF2-40B4-BE49-F238E27FC236}">
                <a16:creationId xmlns:a16="http://schemas.microsoft.com/office/drawing/2014/main" id="{52C0545A-39A1-7F66-6026-541EE06D3978}"/>
              </a:ext>
            </a:extLst>
          </p:cNvPr>
          <p:cNvSpPr/>
          <p:nvPr/>
        </p:nvSpPr>
        <p:spPr>
          <a:xfrm>
            <a:off x="10004239" y="3912326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Shape 148">
            <a:extLst>
              <a:ext uri="{FF2B5EF4-FFF2-40B4-BE49-F238E27FC236}">
                <a16:creationId xmlns:a16="http://schemas.microsoft.com/office/drawing/2014/main" id="{1CF930B2-BA85-7C13-E1D3-DDE194360BE4}"/>
              </a:ext>
            </a:extLst>
          </p:cNvPr>
          <p:cNvSpPr/>
          <p:nvPr/>
        </p:nvSpPr>
        <p:spPr>
          <a:xfrm>
            <a:off x="10188174" y="3912326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Shape 149">
            <a:extLst>
              <a:ext uri="{FF2B5EF4-FFF2-40B4-BE49-F238E27FC236}">
                <a16:creationId xmlns:a16="http://schemas.microsoft.com/office/drawing/2014/main" id="{34B27A39-00D9-F699-99A0-BFC201F1C96E}"/>
              </a:ext>
            </a:extLst>
          </p:cNvPr>
          <p:cNvSpPr/>
          <p:nvPr/>
        </p:nvSpPr>
        <p:spPr>
          <a:xfrm>
            <a:off x="10372110" y="3912326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Shape 150">
            <a:extLst>
              <a:ext uri="{FF2B5EF4-FFF2-40B4-BE49-F238E27FC236}">
                <a16:creationId xmlns:a16="http://schemas.microsoft.com/office/drawing/2014/main" id="{5D819A57-B6E9-3175-0605-967E4E43D9F3}"/>
              </a:ext>
            </a:extLst>
          </p:cNvPr>
          <p:cNvSpPr/>
          <p:nvPr/>
        </p:nvSpPr>
        <p:spPr>
          <a:xfrm>
            <a:off x="10556045" y="3912326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Shape 151">
            <a:extLst>
              <a:ext uri="{FF2B5EF4-FFF2-40B4-BE49-F238E27FC236}">
                <a16:creationId xmlns:a16="http://schemas.microsoft.com/office/drawing/2014/main" id="{A6279DCB-ACF7-195A-9398-D65AE842C47B}"/>
              </a:ext>
            </a:extLst>
          </p:cNvPr>
          <p:cNvSpPr/>
          <p:nvPr/>
        </p:nvSpPr>
        <p:spPr>
          <a:xfrm>
            <a:off x="10739980" y="3912326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Shape 152">
            <a:extLst>
              <a:ext uri="{FF2B5EF4-FFF2-40B4-BE49-F238E27FC236}">
                <a16:creationId xmlns:a16="http://schemas.microsoft.com/office/drawing/2014/main" id="{E9A3A626-E5DA-73F5-AE6C-78E20E6B6913}"/>
              </a:ext>
            </a:extLst>
          </p:cNvPr>
          <p:cNvSpPr/>
          <p:nvPr/>
        </p:nvSpPr>
        <p:spPr>
          <a:xfrm>
            <a:off x="10923915" y="3912326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Shape 153">
            <a:extLst>
              <a:ext uri="{FF2B5EF4-FFF2-40B4-BE49-F238E27FC236}">
                <a16:creationId xmlns:a16="http://schemas.microsoft.com/office/drawing/2014/main" id="{47C438A2-810F-F053-8307-51464B03D870}"/>
              </a:ext>
            </a:extLst>
          </p:cNvPr>
          <p:cNvSpPr/>
          <p:nvPr/>
        </p:nvSpPr>
        <p:spPr>
          <a:xfrm>
            <a:off x="11107850" y="3912326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Shape 154">
            <a:extLst>
              <a:ext uri="{FF2B5EF4-FFF2-40B4-BE49-F238E27FC236}">
                <a16:creationId xmlns:a16="http://schemas.microsoft.com/office/drawing/2014/main" id="{69CEDC06-931F-63EA-D943-18390B76C69D}"/>
              </a:ext>
            </a:extLst>
          </p:cNvPr>
          <p:cNvSpPr/>
          <p:nvPr/>
        </p:nvSpPr>
        <p:spPr>
          <a:xfrm>
            <a:off x="11291785" y="3912326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Shape 155">
            <a:extLst>
              <a:ext uri="{FF2B5EF4-FFF2-40B4-BE49-F238E27FC236}">
                <a16:creationId xmlns:a16="http://schemas.microsoft.com/office/drawing/2014/main" id="{16D2E3F6-A7AB-C143-28C7-099B6888FDFF}"/>
              </a:ext>
            </a:extLst>
          </p:cNvPr>
          <p:cNvSpPr/>
          <p:nvPr/>
        </p:nvSpPr>
        <p:spPr>
          <a:xfrm>
            <a:off x="6877343" y="4042954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Shape 156">
            <a:extLst>
              <a:ext uri="{FF2B5EF4-FFF2-40B4-BE49-F238E27FC236}">
                <a16:creationId xmlns:a16="http://schemas.microsoft.com/office/drawing/2014/main" id="{E1AEBE46-7BB2-CC6E-9596-DB4095C3D218}"/>
              </a:ext>
            </a:extLst>
          </p:cNvPr>
          <p:cNvSpPr/>
          <p:nvPr/>
        </p:nvSpPr>
        <p:spPr>
          <a:xfrm>
            <a:off x="7061278" y="4042954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Shape 157">
            <a:extLst>
              <a:ext uri="{FF2B5EF4-FFF2-40B4-BE49-F238E27FC236}">
                <a16:creationId xmlns:a16="http://schemas.microsoft.com/office/drawing/2014/main" id="{5B8D7768-2975-4220-0097-6DAADDAEC257}"/>
              </a:ext>
            </a:extLst>
          </p:cNvPr>
          <p:cNvSpPr/>
          <p:nvPr/>
        </p:nvSpPr>
        <p:spPr>
          <a:xfrm>
            <a:off x="7245213" y="4042954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Shape 158">
            <a:extLst>
              <a:ext uri="{FF2B5EF4-FFF2-40B4-BE49-F238E27FC236}">
                <a16:creationId xmlns:a16="http://schemas.microsoft.com/office/drawing/2014/main" id="{03879D99-0F76-0450-28B7-08A49C0E2AD5}"/>
              </a:ext>
            </a:extLst>
          </p:cNvPr>
          <p:cNvSpPr/>
          <p:nvPr/>
        </p:nvSpPr>
        <p:spPr>
          <a:xfrm>
            <a:off x="7429148" y="4042954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Shape 159">
            <a:extLst>
              <a:ext uri="{FF2B5EF4-FFF2-40B4-BE49-F238E27FC236}">
                <a16:creationId xmlns:a16="http://schemas.microsoft.com/office/drawing/2014/main" id="{E56FAD14-11CB-DA4C-F314-CCF7C11B1F78}"/>
              </a:ext>
            </a:extLst>
          </p:cNvPr>
          <p:cNvSpPr/>
          <p:nvPr/>
        </p:nvSpPr>
        <p:spPr>
          <a:xfrm>
            <a:off x="7613083" y="4042954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Shape 160">
            <a:extLst>
              <a:ext uri="{FF2B5EF4-FFF2-40B4-BE49-F238E27FC236}">
                <a16:creationId xmlns:a16="http://schemas.microsoft.com/office/drawing/2014/main" id="{B4F4493F-1054-8050-EC70-87B6676C66F8}"/>
              </a:ext>
            </a:extLst>
          </p:cNvPr>
          <p:cNvSpPr/>
          <p:nvPr/>
        </p:nvSpPr>
        <p:spPr>
          <a:xfrm>
            <a:off x="7797018" y="4042954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Shape 161">
            <a:extLst>
              <a:ext uri="{FF2B5EF4-FFF2-40B4-BE49-F238E27FC236}">
                <a16:creationId xmlns:a16="http://schemas.microsoft.com/office/drawing/2014/main" id="{8CD62A08-7FB4-9365-611B-36121A8F7DE6}"/>
              </a:ext>
            </a:extLst>
          </p:cNvPr>
          <p:cNvSpPr/>
          <p:nvPr/>
        </p:nvSpPr>
        <p:spPr>
          <a:xfrm>
            <a:off x="7980954" y="4042954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Shape 162">
            <a:extLst>
              <a:ext uri="{FF2B5EF4-FFF2-40B4-BE49-F238E27FC236}">
                <a16:creationId xmlns:a16="http://schemas.microsoft.com/office/drawing/2014/main" id="{2DB8466A-F1B5-3508-E12E-71563F87116F}"/>
              </a:ext>
            </a:extLst>
          </p:cNvPr>
          <p:cNvSpPr/>
          <p:nvPr/>
        </p:nvSpPr>
        <p:spPr>
          <a:xfrm>
            <a:off x="8164889" y="4042954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Shape 163">
            <a:extLst>
              <a:ext uri="{FF2B5EF4-FFF2-40B4-BE49-F238E27FC236}">
                <a16:creationId xmlns:a16="http://schemas.microsoft.com/office/drawing/2014/main" id="{C4134D91-1652-3E57-EA65-BAAB334E2E86}"/>
              </a:ext>
            </a:extLst>
          </p:cNvPr>
          <p:cNvSpPr/>
          <p:nvPr/>
        </p:nvSpPr>
        <p:spPr>
          <a:xfrm>
            <a:off x="8348824" y="4042954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164">
            <a:extLst>
              <a:ext uri="{FF2B5EF4-FFF2-40B4-BE49-F238E27FC236}">
                <a16:creationId xmlns:a16="http://schemas.microsoft.com/office/drawing/2014/main" id="{4947DF56-8AFF-3F8A-EAA6-169BDF052277}"/>
              </a:ext>
            </a:extLst>
          </p:cNvPr>
          <p:cNvSpPr/>
          <p:nvPr/>
        </p:nvSpPr>
        <p:spPr>
          <a:xfrm>
            <a:off x="8532759" y="4042954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Shape 165">
            <a:extLst>
              <a:ext uri="{FF2B5EF4-FFF2-40B4-BE49-F238E27FC236}">
                <a16:creationId xmlns:a16="http://schemas.microsoft.com/office/drawing/2014/main" id="{EB651167-500B-CDB4-A1CF-FB738DC0B3D4}"/>
              </a:ext>
            </a:extLst>
          </p:cNvPr>
          <p:cNvSpPr/>
          <p:nvPr/>
        </p:nvSpPr>
        <p:spPr>
          <a:xfrm>
            <a:off x="8716694" y="4042954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pe 166">
            <a:extLst>
              <a:ext uri="{FF2B5EF4-FFF2-40B4-BE49-F238E27FC236}">
                <a16:creationId xmlns:a16="http://schemas.microsoft.com/office/drawing/2014/main" id="{1923AC85-D4B5-C4B3-6F39-29547FE936A4}"/>
              </a:ext>
            </a:extLst>
          </p:cNvPr>
          <p:cNvSpPr/>
          <p:nvPr/>
        </p:nvSpPr>
        <p:spPr>
          <a:xfrm>
            <a:off x="8900629" y="4042954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Shape 167">
            <a:extLst>
              <a:ext uri="{FF2B5EF4-FFF2-40B4-BE49-F238E27FC236}">
                <a16:creationId xmlns:a16="http://schemas.microsoft.com/office/drawing/2014/main" id="{1E2FAB6C-6CAB-7C5E-1394-A7B6D2B1C75C}"/>
              </a:ext>
            </a:extLst>
          </p:cNvPr>
          <p:cNvSpPr/>
          <p:nvPr/>
        </p:nvSpPr>
        <p:spPr>
          <a:xfrm>
            <a:off x="9084564" y="4042954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pe 168">
            <a:extLst>
              <a:ext uri="{FF2B5EF4-FFF2-40B4-BE49-F238E27FC236}">
                <a16:creationId xmlns:a16="http://schemas.microsoft.com/office/drawing/2014/main" id="{74ADB7BE-CC2E-6C6F-E83E-14CA9D720FF1}"/>
              </a:ext>
            </a:extLst>
          </p:cNvPr>
          <p:cNvSpPr/>
          <p:nvPr/>
        </p:nvSpPr>
        <p:spPr>
          <a:xfrm>
            <a:off x="9268499" y="4042954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Shape 169">
            <a:extLst>
              <a:ext uri="{FF2B5EF4-FFF2-40B4-BE49-F238E27FC236}">
                <a16:creationId xmlns:a16="http://schemas.microsoft.com/office/drawing/2014/main" id="{E4B9420F-5378-B95A-15B7-D8F09F67BAE3}"/>
              </a:ext>
            </a:extLst>
          </p:cNvPr>
          <p:cNvSpPr/>
          <p:nvPr/>
        </p:nvSpPr>
        <p:spPr>
          <a:xfrm>
            <a:off x="9452434" y="4042954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" name="Shape 170">
            <a:extLst>
              <a:ext uri="{FF2B5EF4-FFF2-40B4-BE49-F238E27FC236}">
                <a16:creationId xmlns:a16="http://schemas.microsoft.com/office/drawing/2014/main" id="{85450B3D-85C2-8C1C-83F4-A46B74DFB9BA}"/>
              </a:ext>
            </a:extLst>
          </p:cNvPr>
          <p:cNvSpPr/>
          <p:nvPr/>
        </p:nvSpPr>
        <p:spPr>
          <a:xfrm>
            <a:off x="9636369" y="4042954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8" name="Shape 171">
            <a:extLst>
              <a:ext uri="{FF2B5EF4-FFF2-40B4-BE49-F238E27FC236}">
                <a16:creationId xmlns:a16="http://schemas.microsoft.com/office/drawing/2014/main" id="{36D5180A-A882-93F3-1BF3-89DC6A595CBA}"/>
              </a:ext>
            </a:extLst>
          </p:cNvPr>
          <p:cNvSpPr/>
          <p:nvPr/>
        </p:nvSpPr>
        <p:spPr>
          <a:xfrm>
            <a:off x="9820304" y="4042954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9" name="Shape 172">
            <a:extLst>
              <a:ext uri="{FF2B5EF4-FFF2-40B4-BE49-F238E27FC236}">
                <a16:creationId xmlns:a16="http://schemas.microsoft.com/office/drawing/2014/main" id="{EE6C0C53-F3EF-1A65-292D-75468094D15D}"/>
              </a:ext>
            </a:extLst>
          </p:cNvPr>
          <p:cNvSpPr/>
          <p:nvPr/>
        </p:nvSpPr>
        <p:spPr>
          <a:xfrm>
            <a:off x="10004239" y="4042954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Shape 173">
            <a:extLst>
              <a:ext uri="{FF2B5EF4-FFF2-40B4-BE49-F238E27FC236}">
                <a16:creationId xmlns:a16="http://schemas.microsoft.com/office/drawing/2014/main" id="{DFB4B602-AC9F-E763-CE2A-EBDF04F06741}"/>
              </a:ext>
            </a:extLst>
          </p:cNvPr>
          <p:cNvSpPr/>
          <p:nvPr/>
        </p:nvSpPr>
        <p:spPr>
          <a:xfrm>
            <a:off x="10188174" y="4042954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1" name="Shape 174">
            <a:extLst>
              <a:ext uri="{FF2B5EF4-FFF2-40B4-BE49-F238E27FC236}">
                <a16:creationId xmlns:a16="http://schemas.microsoft.com/office/drawing/2014/main" id="{FCB3B42C-1899-5F5C-A871-A91EE179B425}"/>
              </a:ext>
            </a:extLst>
          </p:cNvPr>
          <p:cNvSpPr/>
          <p:nvPr/>
        </p:nvSpPr>
        <p:spPr>
          <a:xfrm>
            <a:off x="10372110" y="4042954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Shape 175">
            <a:extLst>
              <a:ext uri="{FF2B5EF4-FFF2-40B4-BE49-F238E27FC236}">
                <a16:creationId xmlns:a16="http://schemas.microsoft.com/office/drawing/2014/main" id="{C1935C57-78F9-0DB5-B4E2-6D97CC206E41}"/>
              </a:ext>
            </a:extLst>
          </p:cNvPr>
          <p:cNvSpPr/>
          <p:nvPr/>
        </p:nvSpPr>
        <p:spPr>
          <a:xfrm>
            <a:off x="10556045" y="4042954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3" name="Shape 176">
            <a:extLst>
              <a:ext uri="{FF2B5EF4-FFF2-40B4-BE49-F238E27FC236}">
                <a16:creationId xmlns:a16="http://schemas.microsoft.com/office/drawing/2014/main" id="{4EEF3A89-F70C-3D98-9F73-1C8C424337FF}"/>
              </a:ext>
            </a:extLst>
          </p:cNvPr>
          <p:cNvSpPr/>
          <p:nvPr/>
        </p:nvSpPr>
        <p:spPr>
          <a:xfrm>
            <a:off x="10739980" y="4042954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4" name="Shape 177">
            <a:extLst>
              <a:ext uri="{FF2B5EF4-FFF2-40B4-BE49-F238E27FC236}">
                <a16:creationId xmlns:a16="http://schemas.microsoft.com/office/drawing/2014/main" id="{5F5C7AD3-2E74-666D-32EE-B071E7DFBCFD}"/>
              </a:ext>
            </a:extLst>
          </p:cNvPr>
          <p:cNvSpPr/>
          <p:nvPr/>
        </p:nvSpPr>
        <p:spPr>
          <a:xfrm>
            <a:off x="10923915" y="4042954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5" name="Shape 178">
            <a:extLst>
              <a:ext uri="{FF2B5EF4-FFF2-40B4-BE49-F238E27FC236}">
                <a16:creationId xmlns:a16="http://schemas.microsoft.com/office/drawing/2014/main" id="{8359F2CE-0B6A-91DE-CCF5-F9C9C1A169B3}"/>
              </a:ext>
            </a:extLst>
          </p:cNvPr>
          <p:cNvSpPr/>
          <p:nvPr/>
        </p:nvSpPr>
        <p:spPr>
          <a:xfrm>
            <a:off x="11107850" y="4042954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6" name="Shape 179">
            <a:extLst>
              <a:ext uri="{FF2B5EF4-FFF2-40B4-BE49-F238E27FC236}">
                <a16:creationId xmlns:a16="http://schemas.microsoft.com/office/drawing/2014/main" id="{98F31651-0CD9-DD23-63FE-FE550C05D494}"/>
              </a:ext>
            </a:extLst>
          </p:cNvPr>
          <p:cNvSpPr/>
          <p:nvPr/>
        </p:nvSpPr>
        <p:spPr>
          <a:xfrm>
            <a:off x="11291785" y="4042954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7" name="Shape 180">
            <a:extLst>
              <a:ext uri="{FF2B5EF4-FFF2-40B4-BE49-F238E27FC236}">
                <a16:creationId xmlns:a16="http://schemas.microsoft.com/office/drawing/2014/main" id="{29F14CDA-3A0C-3A50-03E5-470573AE3A99}"/>
              </a:ext>
            </a:extLst>
          </p:cNvPr>
          <p:cNvSpPr/>
          <p:nvPr/>
        </p:nvSpPr>
        <p:spPr>
          <a:xfrm>
            <a:off x="6877343" y="4173583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8" name="Shape 181">
            <a:extLst>
              <a:ext uri="{FF2B5EF4-FFF2-40B4-BE49-F238E27FC236}">
                <a16:creationId xmlns:a16="http://schemas.microsoft.com/office/drawing/2014/main" id="{2303409D-EEC0-529D-BBBE-6E9B75BD585A}"/>
              </a:ext>
            </a:extLst>
          </p:cNvPr>
          <p:cNvSpPr/>
          <p:nvPr/>
        </p:nvSpPr>
        <p:spPr>
          <a:xfrm>
            <a:off x="7061278" y="4173583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9" name="Shape 182">
            <a:extLst>
              <a:ext uri="{FF2B5EF4-FFF2-40B4-BE49-F238E27FC236}">
                <a16:creationId xmlns:a16="http://schemas.microsoft.com/office/drawing/2014/main" id="{0B8A12D2-C0A9-11AB-0E5C-BDDBE20B43B1}"/>
              </a:ext>
            </a:extLst>
          </p:cNvPr>
          <p:cNvSpPr/>
          <p:nvPr/>
        </p:nvSpPr>
        <p:spPr>
          <a:xfrm>
            <a:off x="7245213" y="4173583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0" name="Shape 183">
            <a:extLst>
              <a:ext uri="{FF2B5EF4-FFF2-40B4-BE49-F238E27FC236}">
                <a16:creationId xmlns:a16="http://schemas.microsoft.com/office/drawing/2014/main" id="{BB4EC71B-761A-AE2C-AC42-C987E1001A7C}"/>
              </a:ext>
            </a:extLst>
          </p:cNvPr>
          <p:cNvSpPr/>
          <p:nvPr/>
        </p:nvSpPr>
        <p:spPr>
          <a:xfrm>
            <a:off x="7429148" y="4173583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1" name="Shape 184">
            <a:extLst>
              <a:ext uri="{FF2B5EF4-FFF2-40B4-BE49-F238E27FC236}">
                <a16:creationId xmlns:a16="http://schemas.microsoft.com/office/drawing/2014/main" id="{DBC9C876-3756-294C-0A6B-2AD2BB183812}"/>
              </a:ext>
            </a:extLst>
          </p:cNvPr>
          <p:cNvSpPr/>
          <p:nvPr/>
        </p:nvSpPr>
        <p:spPr>
          <a:xfrm>
            <a:off x="7613083" y="4173583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2" name="Shape 185">
            <a:extLst>
              <a:ext uri="{FF2B5EF4-FFF2-40B4-BE49-F238E27FC236}">
                <a16:creationId xmlns:a16="http://schemas.microsoft.com/office/drawing/2014/main" id="{0AC4CD2F-C373-1B80-FFCF-8EDC600440ED}"/>
              </a:ext>
            </a:extLst>
          </p:cNvPr>
          <p:cNvSpPr/>
          <p:nvPr/>
        </p:nvSpPr>
        <p:spPr>
          <a:xfrm>
            <a:off x="7797018" y="4173583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3" name="Shape 186">
            <a:extLst>
              <a:ext uri="{FF2B5EF4-FFF2-40B4-BE49-F238E27FC236}">
                <a16:creationId xmlns:a16="http://schemas.microsoft.com/office/drawing/2014/main" id="{3CE22B79-513B-6149-7814-AF94A5AB23F6}"/>
              </a:ext>
            </a:extLst>
          </p:cNvPr>
          <p:cNvSpPr/>
          <p:nvPr/>
        </p:nvSpPr>
        <p:spPr>
          <a:xfrm>
            <a:off x="7980954" y="4173583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4" name="Shape 187">
            <a:extLst>
              <a:ext uri="{FF2B5EF4-FFF2-40B4-BE49-F238E27FC236}">
                <a16:creationId xmlns:a16="http://schemas.microsoft.com/office/drawing/2014/main" id="{D2060067-FC4D-7696-FFFF-0A4152785972}"/>
              </a:ext>
            </a:extLst>
          </p:cNvPr>
          <p:cNvSpPr/>
          <p:nvPr/>
        </p:nvSpPr>
        <p:spPr>
          <a:xfrm>
            <a:off x="8164889" y="4173583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5" name="Shape 188">
            <a:extLst>
              <a:ext uri="{FF2B5EF4-FFF2-40B4-BE49-F238E27FC236}">
                <a16:creationId xmlns:a16="http://schemas.microsoft.com/office/drawing/2014/main" id="{33DB1763-C257-112F-3B4A-5593F4883A2D}"/>
              </a:ext>
            </a:extLst>
          </p:cNvPr>
          <p:cNvSpPr/>
          <p:nvPr/>
        </p:nvSpPr>
        <p:spPr>
          <a:xfrm>
            <a:off x="8348824" y="4173583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6" name="Shape 189">
            <a:extLst>
              <a:ext uri="{FF2B5EF4-FFF2-40B4-BE49-F238E27FC236}">
                <a16:creationId xmlns:a16="http://schemas.microsoft.com/office/drawing/2014/main" id="{03A3CC9F-FAF2-3C09-A9C3-8324291FCFC2}"/>
              </a:ext>
            </a:extLst>
          </p:cNvPr>
          <p:cNvSpPr/>
          <p:nvPr/>
        </p:nvSpPr>
        <p:spPr>
          <a:xfrm>
            <a:off x="8532759" y="4173583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7" name="Shape 190">
            <a:extLst>
              <a:ext uri="{FF2B5EF4-FFF2-40B4-BE49-F238E27FC236}">
                <a16:creationId xmlns:a16="http://schemas.microsoft.com/office/drawing/2014/main" id="{E963B000-3FF6-B33C-CECB-FFA2E06ACDDC}"/>
              </a:ext>
            </a:extLst>
          </p:cNvPr>
          <p:cNvSpPr/>
          <p:nvPr/>
        </p:nvSpPr>
        <p:spPr>
          <a:xfrm>
            <a:off x="8716694" y="4173583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8" name="Shape 191">
            <a:extLst>
              <a:ext uri="{FF2B5EF4-FFF2-40B4-BE49-F238E27FC236}">
                <a16:creationId xmlns:a16="http://schemas.microsoft.com/office/drawing/2014/main" id="{7C62A17E-EA69-26BE-2D35-B3D5D09F642E}"/>
              </a:ext>
            </a:extLst>
          </p:cNvPr>
          <p:cNvSpPr/>
          <p:nvPr/>
        </p:nvSpPr>
        <p:spPr>
          <a:xfrm>
            <a:off x="8900629" y="4173583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9" name="Shape 192">
            <a:extLst>
              <a:ext uri="{FF2B5EF4-FFF2-40B4-BE49-F238E27FC236}">
                <a16:creationId xmlns:a16="http://schemas.microsoft.com/office/drawing/2014/main" id="{D5CE7409-7905-5BED-DDD8-2622AB62B9BE}"/>
              </a:ext>
            </a:extLst>
          </p:cNvPr>
          <p:cNvSpPr/>
          <p:nvPr/>
        </p:nvSpPr>
        <p:spPr>
          <a:xfrm>
            <a:off x="9084564" y="4173583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0" name="Shape 193">
            <a:extLst>
              <a:ext uri="{FF2B5EF4-FFF2-40B4-BE49-F238E27FC236}">
                <a16:creationId xmlns:a16="http://schemas.microsoft.com/office/drawing/2014/main" id="{B24C6E3B-DF21-D46A-1F8A-349EF763A62A}"/>
              </a:ext>
            </a:extLst>
          </p:cNvPr>
          <p:cNvSpPr/>
          <p:nvPr/>
        </p:nvSpPr>
        <p:spPr>
          <a:xfrm>
            <a:off x="9268499" y="4173583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1" name="Shape 194">
            <a:extLst>
              <a:ext uri="{FF2B5EF4-FFF2-40B4-BE49-F238E27FC236}">
                <a16:creationId xmlns:a16="http://schemas.microsoft.com/office/drawing/2014/main" id="{ABAE6774-6DDF-6733-C83C-1F0D93FDF0F1}"/>
              </a:ext>
            </a:extLst>
          </p:cNvPr>
          <p:cNvSpPr/>
          <p:nvPr/>
        </p:nvSpPr>
        <p:spPr>
          <a:xfrm>
            <a:off x="9452434" y="4173583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2" name="Shape 195">
            <a:extLst>
              <a:ext uri="{FF2B5EF4-FFF2-40B4-BE49-F238E27FC236}">
                <a16:creationId xmlns:a16="http://schemas.microsoft.com/office/drawing/2014/main" id="{0C2B7DA2-5CDB-C843-3833-D3B803BC3654}"/>
              </a:ext>
            </a:extLst>
          </p:cNvPr>
          <p:cNvSpPr/>
          <p:nvPr/>
        </p:nvSpPr>
        <p:spPr>
          <a:xfrm>
            <a:off x="9636369" y="4173583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3" name="Shape 196">
            <a:extLst>
              <a:ext uri="{FF2B5EF4-FFF2-40B4-BE49-F238E27FC236}">
                <a16:creationId xmlns:a16="http://schemas.microsoft.com/office/drawing/2014/main" id="{D5A513E4-C29C-4542-E3BA-BAE80A76313D}"/>
              </a:ext>
            </a:extLst>
          </p:cNvPr>
          <p:cNvSpPr/>
          <p:nvPr/>
        </p:nvSpPr>
        <p:spPr>
          <a:xfrm>
            <a:off x="9820304" y="4173583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4" name="Shape 197">
            <a:extLst>
              <a:ext uri="{FF2B5EF4-FFF2-40B4-BE49-F238E27FC236}">
                <a16:creationId xmlns:a16="http://schemas.microsoft.com/office/drawing/2014/main" id="{B37B6EBB-6F5C-73AB-8162-EFF3ACD96FCC}"/>
              </a:ext>
            </a:extLst>
          </p:cNvPr>
          <p:cNvSpPr/>
          <p:nvPr/>
        </p:nvSpPr>
        <p:spPr>
          <a:xfrm>
            <a:off x="10004239" y="4173583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5" name="Shape 198">
            <a:extLst>
              <a:ext uri="{FF2B5EF4-FFF2-40B4-BE49-F238E27FC236}">
                <a16:creationId xmlns:a16="http://schemas.microsoft.com/office/drawing/2014/main" id="{32245148-D462-EB02-1384-7A20A563273A}"/>
              </a:ext>
            </a:extLst>
          </p:cNvPr>
          <p:cNvSpPr/>
          <p:nvPr/>
        </p:nvSpPr>
        <p:spPr>
          <a:xfrm>
            <a:off x="10188174" y="4173583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6" name="Shape 199">
            <a:extLst>
              <a:ext uri="{FF2B5EF4-FFF2-40B4-BE49-F238E27FC236}">
                <a16:creationId xmlns:a16="http://schemas.microsoft.com/office/drawing/2014/main" id="{EB547956-8740-A041-4B6A-C9EA228639B4}"/>
              </a:ext>
            </a:extLst>
          </p:cNvPr>
          <p:cNvSpPr/>
          <p:nvPr/>
        </p:nvSpPr>
        <p:spPr>
          <a:xfrm>
            <a:off x="10372110" y="4173583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7" name="Shape 200">
            <a:extLst>
              <a:ext uri="{FF2B5EF4-FFF2-40B4-BE49-F238E27FC236}">
                <a16:creationId xmlns:a16="http://schemas.microsoft.com/office/drawing/2014/main" id="{D28FF6BC-1CEC-4D15-9BD1-8577DBD08498}"/>
              </a:ext>
            </a:extLst>
          </p:cNvPr>
          <p:cNvSpPr/>
          <p:nvPr/>
        </p:nvSpPr>
        <p:spPr>
          <a:xfrm>
            <a:off x="10556045" y="4173583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8" name="Shape 201">
            <a:extLst>
              <a:ext uri="{FF2B5EF4-FFF2-40B4-BE49-F238E27FC236}">
                <a16:creationId xmlns:a16="http://schemas.microsoft.com/office/drawing/2014/main" id="{C7627D3A-B873-7958-9B58-280A30DC630A}"/>
              </a:ext>
            </a:extLst>
          </p:cNvPr>
          <p:cNvSpPr/>
          <p:nvPr/>
        </p:nvSpPr>
        <p:spPr>
          <a:xfrm>
            <a:off x="10739980" y="4173583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9" name="Shape 202">
            <a:extLst>
              <a:ext uri="{FF2B5EF4-FFF2-40B4-BE49-F238E27FC236}">
                <a16:creationId xmlns:a16="http://schemas.microsoft.com/office/drawing/2014/main" id="{CC27DA90-3661-7A91-93C4-44F166D72147}"/>
              </a:ext>
            </a:extLst>
          </p:cNvPr>
          <p:cNvSpPr/>
          <p:nvPr/>
        </p:nvSpPr>
        <p:spPr>
          <a:xfrm>
            <a:off x="10923915" y="4173583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0" name="Shape 203">
            <a:extLst>
              <a:ext uri="{FF2B5EF4-FFF2-40B4-BE49-F238E27FC236}">
                <a16:creationId xmlns:a16="http://schemas.microsoft.com/office/drawing/2014/main" id="{2A890512-39D0-9292-CF0F-1B5F9CB610D0}"/>
              </a:ext>
            </a:extLst>
          </p:cNvPr>
          <p:cNvSpPr/>
          <p:nvPr/>
        </p:nvSpPr>
        <p:spPr>
          <a:xfrm>
            <a:off x="11107850" y="4173583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1" name="Shape 204">
            <a:extLst>
              <a:ext uri="{FF2B5EF4-FFF2-40B4-BE49-F238E27FC236}">
                <a16:creationId xmlns:a16="http://schemas.microsoft.com/office/drawing/2014/main" id="{B636CBC2-5F5F-0572-0B93-39F9FBE7A19C}"/>
              </a:ext>
            </a:extLst>
          </p:cNvPr>
          <p:cNvSpPr/>
          <p:nvPr/>
        </p:nvSpPr>
        <p:spPr>
          <a:xfrm>
            <a:off x="11291785" y="4173583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2" name="Shape 205">
            <a:extLst>
              <a:ext uri="{FF2B5EF4-FFF2-40B4-BE49-F238E27FC236}">
                <a16:creationId xmlns:a16="http://schemas.microsoft.com/office/drawing/2014/main" id="{5C428A2A-A149-B235-4F32-5DB3B95BDB7D}"/>
              </a:ext>
            </a:extLst>
          </p:cNvPr>
          <p:cNvSpPr/>
          <p:nvPr/>
        </p:nvSpPr>
        <p:spPr>
          <a:xfrm>
            <a:off x="6877343" y="4304211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3" name="Shape 206">
            <a:extLst>
              <a:ext uri="{FF2B5EF4-FFF2-40B4-BE49-F238E27FC236}">
                <a16:creationId xmlns:a16="http://schemas.microsoft.com/office/drawing/2014/main" id="{D9B1F253-1146-2BDD-EAFD-03D34F71F73C}"/>
              </a:ext>
            </a:extLst>
          </p:cNvPr>
          <p:cNvSpPr/>
          <p:nvPr/>
        </p:nvSpPr>
        <p:spPr>
          <a:xfrm>
            <a:off x="7061278" y="4304211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4" name="Shape 207">
            <a:extLst>
              <a:ext uri="{FF2B5EF4-FFF2-40B4-BE49-F238E27FC236}">
                <a16:creationId xmlns:a16="http://schemas.microsoft.com/office/drawing/2014/main" id="{E8248E7E-BF86-E933-745C-7C2DB3AD5D73}"/>
              </a:ext>
            </a:extLst>
          </p:cNvPr>
          <p:cNvSpPr/>
          <p:nvPr/>
        </p:nvSpPr>
        <p:spPr>
          <a:xfrm>
            <a:off x="7245213" y="4304211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5" name="Shape 208">
            <a:extLst>
              <a:ext uri="{FF2B5EF4-FFF2-40B4-BE49-F238E27FC236}">
                <a16:creationId xmlns:a16="http://schemas.microsoft.com/office/drawing/2014/main" id="{7C6F682C-A9E9-6067-FB87-D3074F3F6B32}"/>
              </a:ext>
            </a:extLst>
          </p:cNvPr>
          <p:cNvSpPr/>
          <p:nvPr/>
        </p:nvSpPr>
        <p:spPr>
          <a:xfrm>
            <a:off x="7429148" y="4304211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6" name="Shape 209">
            <a:extLst>
              <a:ext uri="{FF2B5EF4-FFF2-40B4-BE49-F238E27FC236}">
                <a16:creationId xmlns:a16="http://schemas.microsoft.com/office/drawing/2014/main" id="{94E849F1-70FD-270B-48C2-6305B88D8EE7}"/>
              </a:ext>
            </a:extLst>
          </p:cNvPr>
          <p:cNvSpPr/>
          <p:nvPr/>
        </p:nvSpPr>
        <p:spPr>
          <a:xfrm>
            <a:off x="7613083" y="4304211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7" name="Shape 210">
            <a:extLst>
              <a:ext uri="{FF2B5EF4-FFF2-40B4-BE49-F238E27FC236}">
                <a16:creationId xmlns:a16="http://schemas.microsoft.com/office/drawing/2014/main" id="{E51B7BE5-D285-E71D-F93D-C0412093A220}"/>
              </a:ext>
            </a:extLst>
          </p:cNvPr>
          <p:cNvSpPr/>
          <p:nvPr/>
        </p:nvSpPr>
        <p:spPr>
          <a:xfrm>
            <a:off x="7797018" y="4304211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8" name="Shape 211">
            <a:extLst>
              <a:ext uri="{FF2B5EF4-FFF2-40B4-BE49-F238E27FC236}">
                <a16:creationId xmlns:a16="http://schemas.microsoft.com/office/drawing/2014/main" id="{88E65E99-BEDE-146A-71C7-8309486AF36F}"/>
              </a:ext>
            </a:extLst>
          </p:cNvPr>
          <p:cNvSpPr/>
          <p:nvPr/>
        </p:nvSpPr>
        <p:spPr>
          <a:xfrm>
            <a:off x="7980954" y="4304211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9" name="Shape 212">
            <a:extLst>
              <a:ext uri="{FF2B5EF4-FFF2-40B4-BE49-F238E27FC236}">
                <a16:creationId xmlns:a16="http://schemas.microsoft.com/office/drawing/2014/main" id="{B657C096-6DFC-535E-DD22-3EA5E24A7000}"/>
              </a:ext>
            </a:extLst>
          </p:cNvPr>
          <p:cNvSpPr/>
          <p:nvPr/>
        </p:nvSpPr>
        <p:spPr>
          <a:xfrm>
            <a:off x="8164889" y="4304211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0" name="Shape 213">
            <a:extLst>
              <a:ext uri="{FF2B5EF4-FFF2-40B4-BE49-F238E27FC236}">
                <a16:creationId xmlns:a16="http://schemas.microsoft.com/office/drawing/2014/main" id="{A914121C-F670-E112-89E4-DA9AE3FE4BB9}"/>
              </a:ext>
            </a:extLst>
          </p:cNvPr>
          <p:cNvSpPr/>
          <p:nvPr/>
        </p:nvSpPr>
        <p:spPr>
          <a:xfrm>
            <a:off x="8348824" y="4304211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1" name="Shape 214">
            <a:extLst>
              <a:ext uri="{FF2B5EF4-FFF2-40B4-BE49-F238E27FC236}">
                <a16:creationId xmlns:a16="http://schemas.microsoft.com/office/drawing/2014/main" id="{22473659-F2FC-76CC-AD39-9825C1D331B0}"/>
              </a:ext>
            </a:extLst>
          </p:cNvPr>
          <p:cNvSpPr/>
          <p:nvPr/>
        </p:nvSpPr>
        <p:spPr>
          <a:xfrm>
            <a:off x="8532759" y="4304211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2" name="Shape 215">
            <a:extLst>
              <a:ext uri="{FF2B5EF4-FFF2-40B4-BE49-F238E27FC236}">
                <a16:creationId xmlns:a16="http://schemas.microsoft.com/office/drawing/2014/main" id="{1F476E3D-F44D-9009-C78C-437CC1F72546}"/>
              </a:ext>
            </a:extLst>
          </p:cNvPr>
          <p:cNvSpPr/>
          <p:nvPr/>
        </p:nvSpPr>
        <p:spPr>
          <a:xfrm>
            <a:off x="8716694" y="4304211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3" name="Shape 216">
            <a:extLst>
              <a:ext uri="{FF2B5EF4-FFF2-40B4-BE49-F238E27FC236}">
                <a16:creationId xmlns:a16="http://schemas.microsoft.com/office/drawing/2014/main" id="{4DE52C3C-E89B-3CDF-472F-426015E00246}"/>
              </a:ext>
            </a:extLst>
          </p:cNvPr>
          <p:cNvSpPr/>
          <p:nvPr/>
        </p:nvSpPr>
        <p:spPr>
          <a:xfrm>
            <a:off x="8900629" y="4304211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4" name="Shape 217">
            <a:extLst>
              <a:ext uri="{FF2B5EF4-FFF2-40B4-BE49-F238E27FC236}">
                <a16:creationId xmlns:a16="http://schemas.microsoft.com/office/drawing/2014/main" id="{0A34E737-11A1-EF57-6263-B549DEB6F9ED}"/>
              </a:ext>
            </a:extLst>
          </p:cNvPr>
          <p:cNvSpPr/>
          <p:nvPr/>
        </p:nvSpPr>
        <p:spPr>
          <a:xfrm>
            <a:off x="9084564" y="4304211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5" name="Shape 218">
            <a:extLst>
              <a:ext uri="{FF2B5EF4-FFF2-40B4-BE49-F238E27FC236}">
                <a16:creationId xmlns:a16="http://schemas.microsoft.com/office/drawing/2014/main" id="{B2C45922-6796-2037-CC40-80AAC3B1C3C6}"/>
              </a:ext>
            </a:extLst>
          </p:cNvPr>
          <p:cNvSpPr/>
          <p:nvPr/>
        </p:nvSpPr>
        <p:spPr>
          <a:xfrm>
            <a:off x="9268499" y="4304211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6" name="Shape 219">
            <a:extLst>
              <a:ext uri="{FF2B5EF4-FFF2-40B4-BE49-F238E27FC236}">
                <a16:creationId xmlns:a16="http://schemas.microsoft.com/office/drawing/2014/main" id="{5DC5160F-4F7F-1546-D752-70F02E969DEB}"/>
              </a:ext>
            </a:extLst>
          </p:cNvPr>
          <p:cNvSpPr/>
          <p:nvPr/>
        </p:nvSpPr>
        <p:spPr>
          <a:xfrm>
            <a:off x="9452434" y="4304211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7" name="Shape 220">
            <a:extLst>
              <a:ext uri="{FF2B5EF4-FFF2-40B4-BE49-F238E27FC236}">
                <a16:creationId xmlns:a16="http://schemas.microsoft.com/office/drawing/2014/main" id="{91C92BAB-9D2F-2096-3FDF-A7E46C4A87A5}"/>
              </a:ext>
            </a:extLst>
          </p:cNvPr>
          <p:cNvSpPr/>
          <p:nvPr/>
        </p:nvSpPr>
        <p:spPr>
          <a:xfrm>
            <a:off x="9636369" y="4304211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8" name="Shape 221">
            <a:extLst>
              <a:ext uri="{FF2B5EF4-FFF2-40B4-BE49-F238E27FC236}">
                <a16:creationId xmlns:a16="http://schemas.microsoft.com/office/drawing/2014/main" id="{8FC923E8-712D-CD16-9A11-C37D638256F7}"/>
              </a:ext>
            </a:extLst>
          </p:cNvPr>
          <p:cNvSpPr/>
          <p:nvPr/>
        </p:nvSpPr>
        <p:spPr>
          <a:xfrm>
            <a:off x="9820304" y="4304211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9" name="Shape 222">
            <a:extLst>
              <a:ext uri="{FF2B5EF4-FFF2-40B4-BE49-F238E27FC236}">
                <a16:creationId xmlns:a16="http://schemas.microsoft.com/office/drawing/2014/main" id="{7A79188F-AF67-3CFF-ADEC-E337BBDDC7FA}"/>
              </a:ext>
            </a:extLst>
          </p:cNvPr>
          <p:cNvSpPr/>
          <p:nvPr/>
        </p:nvSpPr>
        <p:spPr>
          <a:xfrm>
            <a:off x="10004239" y="4304211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0" name="Shape 223">
            <a:extLst>
              <a:ext uri="{FF2B5EF4-FFF2-40B4-BE49-F238E27FC236}">
                <a16:creationId xmlns:a16="http://schemas.microsoft.com/office/drawing/2014/main" id="{4345573D-C868-957A-2786-C94535ADF43C}"/>
              </a:ext>
            </a:extLst>
          </p:cNvPr>
          <p:cNvSpPr/>
          <p:nvPr/>
        </p:nvSpPr>
        <p:spPr>
          <a:xfrm>
            <a:off x="10188174" y="4304211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1" name="Shape 224">
            <a:extLst>
              <a:ext uri="{FF2B5EF4-FFF2-40B4-BE49-F238E27FC236}">
                <a16:creationId xmlns:a16="http://schemas.microsoft.com/office/drawing/2014/main" id="{E27BF1FE-D27C-543A-727B-C863CE3DABE7}"/>
              </a:ext>
            </a:extLst>
          </p:cNvPr>
          <p:cNvSpPr/>
          <p:nvPr/>
        </p:nvSpPr>
        <p:spPr>
          <a:xfrm>
            <a:off x="10372110" y="4304211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2" name="Shape 225">
            <a:extLst>
              <a:ext uri="{FF2B5EF4-FFF2-40B4-BE49-F238E27FC236}">
                <a16:creationId xmlns:a16="http://schemas.microsoft.com/office/drawing/2014/main" id="{1A486AB4-90D7-DF71-EF4A-1674576FD5A2}"/>
              </a:ext>
            </a:extLst>
          </p:cNvPr>
          <p:cNvSpPr/>
          <p:nvPr/>
        </p:nvSpPr>
        <p:spPr>
          <a:xfrm>
            <a:off x="10556045" y="4304211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3" name="Shape 226">
            <a:extLst>
              <a:ext uri="{FF2B5EF4-FFF2-40B4-BE49-F238E27FC236}">
                <a16:creationId xmlns:a16="http://schemas.microsoft.com/office/drawing/2014/main" id="{E148B316-BCFC-8BDD-18CA-EEDCD6E19E62}"/>
              </a:ext>
            </a:extLst>
          </p:cNvPr>
          <p:cNvSpPr/>
          <p:nvPr/>
        </p:nvSpPr>
        <p:spPr>
          <a:xfrm>
            <a:off x="10739980" y="4304211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4" name="Shape 227">
            <a:extLst>
              <a:ext uri="{FF2B5EF4-FFF2-40B4-BE49-F238E27FC236}">
                <a16:creationId xmlns:a16="http://schemas.microsoft.com/office/drawing/2014/main" id="{F19C2CCE-1204-09F6-4197-3D343D562866}"/>
              </a:ext>
            </a:extLst>
          </p:cNvPr>
          <p:cNvSpPr/>
          <p:nvPr/>
        </p:nvSpPr>
        <p:spPr>
          <a:xfrm>
            <a:off x="10923915" y="4304211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5" name="Shape 228">
            <a:extLst>
              <a:ext uri="{FF2B5EF4-FFF2-40B4-BE49-F238E27FC236}">
                <a16:creationId xmlns:a16="http://schemas.microsoft.com/office/drawing/2014/main" id="{1195DAF2-E41A-0CC7-8E34-E8FFBD940805}"/>
              </a:ext>
            </a:extLst>
          </p:cNvPr>
          <p:cNvSpPr/>
          <p:nvPr/>
        </p:nvSpPr>
        <p:spPr>
          <a:xfrm>
            <a:off x="11107850" y="4304211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6" name="Shape 229">
            <a:extLst>
              <a:ext uri="{FF2B5EF4-FFF2-40B4-BE49-F238E27FC236}">
                <a16:creationId xmlns:a16="http://schemas.microsoft.com/office/drawing/2014/main" id="{27657A11-2832-7602-C6C6-B80029763D00}"/>
              </a:ext>
            </a:extLst>
          </p:cNvPr>
          <p:cNvSpPr/>
          <p:nvPr/>
        </p:nvSpPr>
        <p:spPr>
          <a:xfrm>
            <a:off x="11291785" y="4304211"/>
            <a:ext cx="73152" cy="73152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7" name="Shape 230">
            <a:extLst>
              <a:ext uri="{FF2B5EF4-FFF2-40B4-BE49-F238E27FC236}">
                <a16:creationId xmlns:a16="http://schemas.microsoft.com/office/drawing/2014/main" id="{8160363F-B108-9964-5A69-C97C2E980D71}"/>
              </a:ext>
            </a:extLst>
          </p:cNvPr>
          <p:cNvSpPr/>
          <p:nvPr/>
        </p:nvSpPr>
        <p:spPr>
          <a:xfrm>
            <a:off x="548640" y="4544568"/>
            <a:ext cx="11109960" cy="841248"/>
          </a:xfrm>
          <a:prstGeom prst="rect">
            <a:avLst/>
          </a:prstGeom>
          <a:solidFill>
            <a:srgbClr val="121C2E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8" name="Shape 231">
            <a:extLst>
              <a:ext uri="{FF2B5EF4-FFF2-40B4-BE49-F238E27FC236}">
                <a16:creationId xmlns:a16="http://schemas.microsoft.com/office/drawing/2014/main" id="{A752CBBF-EE40-1D67-7E98-D4E0E8A1501B}"/>
              </a:ext>
            </a:extLst>
          </p:cNvPr>
          <p:cNvSpPr/>
          <p:nvPr/>
        </p:nvSpPr>
        <p:spPr>
          <a:xfrm>
            <a:off x="548640" y="4544568"/>
            <a:ext cx="73152" cy="841248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9" name="Text 232">
            <a:extLst>
              <a:ext uri="{FF2B5EF4-FFF2-40B4-BE49-F238E27FC236}">
                <a16:creationId xmlns:a16="http://schemas.microsoft.com/office/drawing/2014/main" id="{C332AA6A-D331-604A-DDB8-5ED5F144F88D}"/>
              </a:ext>
            </a:extLst>
          </p:cNvPr>
          <p:cNvSpPr/>
          <p:nvPr/>
        </p:nvSpPr>
        <p:spPr>
          <a:xfrm>
            <a:off x="731520" y="4544568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~200</a:t>
            </a:r>
            <a:endParaRPr lang="en-US" sz="4400" dirty="0"/>
          </a:p>
        </p:txBody>
      </p:sp>
      <p:sp>
        <p:nvSpPr>
          <p:cNvPr id="270" name="Text 233">
            <a:extLst>
              <a:ext uri="{FF2B5EF4-FFF2-40B4-BE49-F238E27FC236}">
                <a16:creationId xmlns:a16="http://schemas.microsoft.com/office/drawing/2014/main" id="{7B3B9A30-FC02-A6D0-DB0C-01E4A955ED71}"/>
              </a:ext>
            </a:extLst>
          </p:cNvPr>
          <p:cNvSpPr/>
          <p:nvPr/>
        </p:nvSpPr>
        <p:spPr>
          <a:xfrm>
            <a:off x="2743200" y="467258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NAMED THREATS</a:t>
            </a:r>
            <a:endParaRPr lang="en-US" sz="1700" dirty="0"/>
          </a:p>
        </p:txBody>
      </p:sp>
      <p:sp>
        <p:nvSpPr>
          <p:cNvPr id="271" name="Text 234">
            <a:extLst>
              <a:ext uri="{FF2B5EF4-FFF2-40B4-BE49-F238E27FC236}">
                <a16:creationId xmlns:a16="http://schemas.microsoft.com/office/drawing/2014/main" id="{8CA5C72E-F7D2-F93A-5E75-4DB253EF6CA9}"/>
              </a:ext>
            </a:extLst>
          </p:cNvPr>
          <p:cNvSpPr/>
          <p:nvPr/>
        </p:nvSpPr>
        <p:spPr>
          <a:xfrm>
            <a:off x="2743200" y="50017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In the illustrative catalog. Each test filter catches a threat.</a:t>
            </a:r>
            <a:endParaRPr lang="en-US" sz="1050" dirty="0"/>
          </a:p>
        </p:txBody>
      </p:sp>
      <p:sp>
        <p:nvSpPr>
          <p:cNvPr id="272" name="Shape 235">
            <a:extLst>
              <a:ext uri="{FF2B5EF4-FFF2-40B4-BE49-F238E27FC236}">
                <a16:creationId xmlns:a16="http://schemas.microsoft.com/office/drawing/2014/main" id="{CDA105B2-89E9-891F-7B3B-3CE5E664C46E}"/>
              </a:ext>
            </a:extLst>
          </p:cNvPr>
          <p:cNvSpPr/>
          <p:nvPr/>
        </p:nvSpPr>
        <p:spPr>
          <a:xfrm>
            <a:off x="7692065" y="4799152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3" name="Shape 236">
            <a:extLst>
              <a:ext uri="{FF2B5EF4-FFF2-40B4-BE49-F238E27FC236}">
                <a16:creationId xmlns:a16="http://schemas.microsoft.com/office/drawing/2014/main" id="{E350C3D4-8065-64EC-19E3-EB76BB57CFDF}"/>
              </a:ext>
            </a:extLst>
          </p:cNvPr>
          <p:cNvSpPr/>
          <p:nvPr/>
        </p:nvSpPr>
        <p:spPr>
          <a:xfrm>
            <a:off x="10163018" y="5244983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4" name="Shape 237">
            <a:extLst>
              <a:ext uri="{FF2B5EF4-FFF2-40B4-BE49-F238E27FC236}">
                <a16:creationId xmlns:a16="http://schemas.microsoft.com/office/drawing/2014/main" id="{C6A56539-C819-A734-D57C-E4620A17E10B}"/>
              </a:ext>
            </a:extLst>
          </p:cNvPr>
          <p:cNvSpPr/>
          <p:nvPr/>
        </p:nvSpPr>
        <p:spPr>
          <a:xfrm>
            <a:off x="9383862" y="4694792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5" name="Shape 238">
            <a:extLst>
              <a:ext uri="{FF2B5EF4-FFF2-40B4-BE49-F238E27FC236}">
                <a16:creationId xmlns:a16="http://schemas.microsoft.com/office/drawing/2014/main" id="{7AE87CA7-0D79-BF73-7950-2E0A9B70242B}"/>
              </a:ext>
            </a:extLst>
          </p:cNvPr>
          <p:cNvSpPr/>
          <p:nvPr/>
        </p:nvSpPr>
        <p:spPr>
          <a:xfrm>
            <a:off x="8897600" y="4907308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6" name="Shape 239">
            <a:extLst>
              <a:ext uri="{FF2B5EF4-FFF2-40B4-BE49-F238E27FC236}">
                <a16:creationId xmlns:a16="http://schemas.microsoft.com/office/drawing/2014/main" id="{D6CD75BA-EDEE-5993-B0EE-924E260049B6}"/>
              </a:ext>
            </a:extLst>
          </p:cNvPr>
          <p:cNvSpPr/>
          <p:nvPr/>
        </p:nvSpPr>
        <p:spPr>
          <a:xfrm>
            <a:off x="8088914" y="5128105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7" name="Shape 240">
            <a:extLst>
              <a:ext uri="{FF2B5EF4-FFF2-40B4-BE49-F238E27FC236}">
                <a16:creationId xmlns:a16="http://schemas.microsoft.com/office/drawing/2014/main" id="{2CB82E36-9E2F-62A7-293C-54AB9E34780D}"/>
              </a:ext>
            </a:extLst>
          </p:cNvPr>
          <p:cNvSpPr/>
          <p:nvPr/>
        </p:nvSpPr>
        <p:spPr>
          <a:xfrm>
            <a:off x="10532723" y="4884039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8" name="Shape 241">
            <a:extLst>
              <a:ext uri="{FF2B5EF4-FFF2-40B4-BE49-F238E27FC236}">
                <a16:creationId xmlns:a16="http://schemas.microsoft.com/office/drawing/2014/main" id="{58ED0CE5-1A3C-806A-0B37-04A4E4C428EB}"/>
              </a:ext>
            </a:extLst>
          </p:cNvPr>
          <p:cNvSpPr/>
          <p:nvPr/>
        </p:nvSpPr>
        <p:spPr>
          <a:xfrm>
            <a:off x="10219595" y="4825654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9" name="Shape 242">
            <a:extLst>
              <a:ext uri="{FF2B5EF4-FFF2-40B4-BE49-F238E27FC236}">
                <a16:creationId xmlns:a16="http://schemas.microsoft.com/office/drawing/2014/main" id="{D227AD4C-B625-AE6F-6DD8-CD25B52A9DE5}"/>
              </a:ext>
            </a:extLst>
          </p:cNvPr>
          <p:cNvSpPr/>
          <p:nvPr/>
        </p:nvSpPr>
        <p:spPr>
          <a:xfrm>
            <a:off x="9114937" y="4723892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0" name="Shape 243">
            <a:extLst>
              <a:ext uri="{FF2B5EF4-FFF2-40B4-BE49-F238E27FC236}">
                <a16:creationId xmlns:a16="http://schemas.microsoft.com/office/drawing/2014/main" id="{AF4FD8E1-EBB5-F042-2FAE-B49D7EBE5E6F}"/>
              </a:ext>
            </a:extLst>
          </p:cNvPr>
          <p:cNvSpPr/>
          <p:nvPr/>
        </p:nvSpPr>
        <p:spPr>
          <a:xfrm>
            <a:off x="9202224" y="4865252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1" name="Shape 244">
            <a:extLst>
              <a:ext uri="{FF2B5EF4-FFF2-40B4-BE49-F238E27FC236}">
                <a16:creationId xmlns:a16="http://schemas.microsoft.com/office/drawing/2014/main" id="{AB7DBB6F-AE47-5376-5184-DF60867FEE76}"/>
              </a:ext>
            </a:extLst>
          </p:cNvPr>
          <p:cNvSpPr/>
          <p:nvPr/>
        </p:nvSpPr>
        <p:spPr>
          <a:xfrm>
            <a:off x="9194858" y="4916751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2" name="Shape 245">
            <a:extLst>
              <a:ext uri="{FF2B5EF4-FFF2-40B4-BE49-F238E27FC236}">
                <a16:creationId xmlns:a16="http://schemas.microsoft.com/office/drawing/2014/main" id="{6A9FCA00-C947-4A92-C867-52807B7CE8FD}"/>
              </a:ext>
            </a:extLst>
          </p:cNvPr>
          <p:cNvSpPr/>
          <p:nvPr/>
        </p:nvSpPr>
        <p:spPr>
          <a:xfrm>
            <a:off x="6969092" y="4641309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3" name="Shape 246">
            <a:extLst>
              <a:ext uri="{FF2B5EF4-FFF2-40B4-BE49-F238E27FC236}">
                <a16:creationId xmlns:a16="http://schemas.microsoft.com/office/drawing/2014/main" id="{E477A4DC-929C-18D5-B368-79C143E3B39A}"/>
              </a:ext>
            </a:extLst>
          </p:cNvPr>
          <p:cNvSpPr/>
          <p:nvPr/>
        </p:nvSpPr>
        <p:spPr>
          <a:xfrm>
            <a:off x="9507792" y="4760575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4" name="Shape 247">
            <a:extLst>
              <a:ext uri="{FF2B5EF4-FFF2-40B4-BE49-F238E27FC236}">
                <a16:creationId xmlns:a16="http://schemas.microsoft.com/office/drawing/2014/main" id="{43C2294D-61A2-08F8-08E1-98ADF977780A}"/>
              </a:ext>
            </a:extLst>
          </p:cNvPr>
          <p:cNvSpPr/>
          <p:nvPr/>
        </p:nvSpPr>
        <p:spPr>
          <a:xfrm>
            <a:off x="9591069" y="4972235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5" name="Shape 248">
            <a:extLst>
              <a:ext uri="{FF2B5EF4-FFF2-40B4-BE49-F238E27FC236}">
                <a16:creationId xmlns:a16="http://schemas.microsoft.com/office/drawing/2014/main" id="{E09EEE44-1873-278D-E9A5-3C186674E105}"/>
              </a:ext>
            </a:extLst>
          </p:cNvPr>
          <p:cNvSpPr/>
          <p:nvPr/>
        </p:nvSpPr>
        <p:spPr>
          <a:xfrm>
            <a:off x="8660662" y="5160758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6" name="Shape 249">
            <a:extLst>
              <a:ext uri="{FF2B5EF4-FFF2-40B4-BE49-F238E27FC236}">
                <a16:creationId xmlns:a16="http://schemas.microsoft.com/office/drawing/2014/main" id="{3A03A923-2024-6A5A-08E0-5D702F76B751}"/>
              </a:ext>
            </a:extLst>
          </p:cNvPr>
          <p:cNvSpPr/>
          <p:nvPr/>
        </p:nvSpPr>
        <p:spPr>
          <a:xfrm>
            <a:off x="10646322" y="5106487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7" name="Shape 250">
            <a:extLst>
              <a:ext uri="{FF2B5EF4-FFF2-40B4-BE49-F238E27FC236}">
                <a16:creationId xmlns:a16="http://schemas.microsoft.com/office/drawing/2014/main" id="{08B96560-0159-E187-4853-91C2328F17DE}"/>
              </a:ext>
            </a:extLst>
          </p:cNvPr>
          <p:cNvSpPr/>
          <p:nvPr/>
        </p:nvSpPr>
        <p:spPr>
          <a:xfrm>
            <a:off x="8392268" y="4651843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8" name="Shape 251">
            <a:extLst>
              <a:ext uri="{FF2B5EF4-FFF2-40B4-BE49-F238E27FC236}">
                <a16:creationId xmlns:a16="http://schemas.microsoft.com/office/drawing/2014/main" id="{785B15C4-52B4-EA31-7EA2-1033A93EB4B4}"/>
              </a:ext>
            </a:extLst>
          </p:cNvPr>
          <p:cNvSpPr/>
          <p:nvPr/>
        </p:nvSpPr>
        <p:spPr>
          <a:xfrm>
            <a:off x="8754161" y="4683793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9" name="Shape 252">
            <a:extLst>
              <a:ext uri="{FF2B5EF4-FFF2-40B4-BE49-F238E27FC236}">
                <a16:creationId xmlns:a16="http://schemas.microsoft.com/office/drawing/2014/main" id="{A2DB61A4-9CD1-C234-2C52-12794C222352}"/>
              </a:ext>
            </a:extLst>
          </p:cNvPr>
          <p:cNvSpPr/>
          <p:nvPr/>
        </p:nvSpPr>
        <p:spPr>
          <a:xfrm>
            <a:off x="7935489" y="5100952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0" name="Shape 253">
            <a:extLst>
              <a:ext uri="{FF2B5EF4-FFF2-40B4-BE49-F238E27FC236}">
                <a16:creationId xmlns:a16="http://schemas.microsoft.com/office/drawing/2014/main" id="{3BEC4709-BFD1-91DD-C757-74BE4B734728}"/>
              </a:ext>
            </a:extLst>
          </p:cNvPr>
          <p:cNvSpPr/>
          <p:nvPr/>
        </p:nvSpPr>
        <p:spPr>
          <a:xfrm>
            <a:off x="11259431" y="4928195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1" name="Shape 254">
            <a:extLst>
              <a:ext uri="{FF2B5EF4-FFF2-40B4-BE49-F238E27FC236}">
                <a16:creationId xmlns:a16="http://schemas.microsoft.com/office/drawing/2014/main" id="{B926C5E1-C295-5A32-05A6-56243E42D076}"/>
              </a:ext>
            </a:extLst>
          </p:cNvPr>
          <p:cNvSpPr/>
          <p:nvPr/>
        </p:nvSpPr>
        <p:spPr>
          <a:xfrm>
            <a:off x="10029518" y="4771664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2" name="Shape 255">
            <a:extLst>
              <a:ext uri="{FF2B5EF4-FFF2-40B4-BE49-F238E27FC236}">
                <a16:creationId xmlns:a16="http://schemas.microsoft.com/office/drawing/2014/main" id="{9FBD8202-363F-C49D-7F08-428E0877E1CF}"/>
              </a:ext>
            </a:extLst>
          </p:cNvPr>
          <p:cNvSpPr/>
          <p:nvPr/>
        </p:nvSpPr>
        <p:spPr>
          <a:xfrm>
            <a:off x="10719461" y="4689186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3" name="Shape 256">
            <a:extLst>
              <a:ext uri="{FF2B5EF4-FFF2-40B4-BE49-F238E27FC236}">
                <a16:creationId xmlns:a16="http://schemas.microsoft.com/office/drawing/2014/main" id="{C6637844-3AF0-DA7F-D913-684C67981D4B}"/>
              </a:ext>
            </a:extLst>
          </p:cNvPr>
          <p:cNvSpPr/>
          <p:nvPr/>
        </p:nvSpPr>
        <p:spPr>
          <a:xfrm>
            <a:off x="10659164" y="4671988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4" name="Shape 257">
            <a:extLst>
              <a:ext uri="{FF2B5EF4-FFF2-40B4-BE49-F238E27FC236}">
                <a16:creationId xmlns:a16="http://schemas.microsoft.com/office/drawing/2014/main" id="{A727F036-6AB3-B1F0-1543-F03F14EF8EF4}"/>
              </a:ext>
            </a:extLst>
          </p:cNvPr>
          <p:cNvSpPr/>
          <p:nvPr/>
        </p:nvSpPr>
        <p:spPr>
          <a:xfrm>
            <a:off x="7073580" y="4641916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5" name="Shape 258">
            <a:extLst>
              <a:ext uri="{FF2B5EF4-FFF2-40B4-BE49-F238E27FC236}">
                <a16:creationId xmlns:a16="http://schemas.microsoft.com/office/drawing/2014/main" id="{E04D1EF1-7D46-76EE-BE1D-529D18E51D34}"/>
              </a:ext>
            </a:extLst>
          </p:cNvPr>
          <p:cNvSpPr/>
          <p:nvPr/>
        </p:nvSpPr>
        <p:spPr>
          <a:xfrm>
            <a:off x="9666210" y="4993817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6" name="Shape 259">
            <a:extLst>
              <a:ext uri="{FF2B5EF4-FFF2-40B4-BE49-F238E27FC236}">
                <a16:creationId xmlns:a16="http://schemas.microsoft.com/office/drawing/2014/main" id="{14D0D137-A6E1-F97C-F41E-8C7DEA8CCBB3}"/>
              </a:ext>
            </a:extLst>
          </p:cNvPr>
          <p:cNvSpPr/>
          <p:nvPr/>
        </p:nvSpPr>
        <p:spPr>
          <a:xfrm>
            <a:off x="11020885" y="4725064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7" name="Shape 260">
            <a:extLst>
              <a:ext uri="{FF2B5EF4-FFF2-40B4-BE49-F238E27FC236}">
                <a16:creationId xmlns:a16="http://schemas.microsoft.com/office/drawing/2014/main" id="{409BEF0D-61E6-6B41-2DE2-4024A3A364F2}"/>
              </a:ext>
            </a:extLst>
          </p:cNvPr>
          <p:cNvSpPr/>
          <p:nvPr/>
        </p:nvSpPr>
        <p:spPr>
          <a:xfrm>
            <a:off x="7892677" y="5104546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8" name="Shape 261">
            <a:extLst>
              <a:ext uri="{FF2B5EF4-FFF2-40B4-BE49-F238E27FC236}">
                <a16:creationId xmlns:a16="http://schemas.microsoft.com/office/drawing/2014/main" id="{3BBA1C96-75BC-5D67-5924-0D9F41ED3C4D}"/>
              </a:ext>
            </a:extLst>
          </p:cNvPr>
          <p:cNvSpPr/>
          <p:nvPr/>
        </p:nvSpPr>
        <p:spPr>
          <a:xfrm>
            <a:off x="10277290" y="5065427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9" name="Shape 262">
            <a:extLst>
              <a:ext uri="{FF2B5EF4-FFF2-40B4-BE49-F238E27FC236}">
                <a16:creationId xmlns:a16="http://schemas.microsoft.com/office/drawing/2014/main" id="{AFA04F4D-4CA7-7B3A-5EE9-6566B61F51FC}"/>
              </a:ext>
            </a:extLst>
          </p:cNvPr>
          <p:cNvSpPr/>
          <p:nvPr/>
        </p:nvSpPr>
        <p:spPr>
          <a:xfrm>
            <a:off x="7567521" y="4803316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0" name="Shape 263">
            <a:extLst>
              <a:ext uri="{FF2B5EF4-FFF2-40B4-BE49-F238E27FC236}">
                <a16:creationId xmlns:a16="http://schemas.microsoft.com/office/drawing/2014/main" id="{6A0FDB9B-3CB1-3B30-E822-FB9F0CD7E766}"/>
              </a:ext>
            </a:extLst>
          </p:cNvPr>
          <p:cNvSpPr/>
          <p:nvPr/>
        </p:nvSpPr>
        <p:spPr>
          <a:xfrm>
            <a:off x="10924979" y="4675444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1" name="Shape 264">
            <a:extLst>
              <a:ext uri="{FF2B5EF4-FFF2-40B4-BE49-F238E27FC236}">
                <a16:creationId xmlns:a16="http://schemas.microsoft.com/office/drawing/2014/main" id="{D76CE3C7-973F-E967-3408-EFBA93B5808F}"/>
              </a:ext>
            </a:extLst>
          </p:cNvPr>
          <p:cNvSpPr/>
          <p:nvPr/>
        </p:nvSpPr>
        <p:spPr>
          <a:xfrm>
            <a:off x="7670234" y="5061030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2" name="Shape 265">
            <a:extLst>
              <a:ext uri="{FF2B5EF4-FFF2-40B4-BE49-F238E27FC236}">
                <a16:creationId xmlns:a16="http://schemas.microsoft.com/office/drawing/2014/main" id="{B73AF450-8972-EAE7-DABB-784CB0FE2F4C}"/>
              </a:ext>
            </a:extLst>
          </p:cNvPr>
          <p:cNvSpPr/>
          <p:nvPr/>
        </p:nvSpPr>
        <p:spPr>
          <a:xfrm>
            <a:off x="8405135" y="4905983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3" name="Shape 266">
            <a:extLst>
              <a:ext uri="{FF2B5EF4-FFF2-40B4-BE49-F238E27FC236}">
                <a16:creationId xmlns:a16="http://schemas.microsoft.com/office/drawing/2014/main" id="{7C08D7C1-98C7-573E-F75B-4D43B92E7CF3}"/>
              </a:ext>
            </a:extLst>
          </p:cNvPr>
          <p:cNvSpPr/>
          <p:nvPr/>
        </p:nvSpPr>
        <p:spPr>
          <a:xfrm>
            <a:off x="9380697" y="4641115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4" name="Shape 267">
            <a:extLst>
              <a:ext uri="{FF2B5EF4-FFF2-40B4-BE49-F238E27FC236}">
                <a16:creationId xmlns:a16="http://schemas.microsoft.com/office/drawing/2014/main" id="{1BA05587-9794-B083-0434-450FA430BC99}"/>
              </a:ext>
            </a:extLst>
          </p:cNvPr>
          <p:cNvSpPr/>
          <p:nvPr/>
        </p:nvSpPr>
        <p:spPr>
          <a:xfrm>
            <a:off x="8511780" y="4724778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5" name="Shape 268">
            <a:extLst>
              <a:ext uri="{FF2B5EF4-FFF2-40B4-BE49-F238E27FC236}">
                <a16:creationId xmlns:a16="http://schemas.microsoft.com/office/drawing/2014/main" id="{0DF59E57-F887-8EAF-28A8-57586DEEC2B1}"/>
              </a:ext>
            </a:extLst>
          </p:cNvPr>
          <p:cNvSpPr/>
          <p:nvPr/>
        </p:nvSpPr>
        <p:spPr>
          <a:xfrm>
            <a:off x="8673961" y="4867779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6" name="Shape 269">
            <a:extLst>
              <a:ext uri="{FF2B5EF4-FFF2-40B4-BE49-F238E27FC236}">
                <a16:creationId xmlns:a16="http://schemas.microsoft.com/office/drawing/2014/main" id="{EE485336-5E2C-5E9E-1A10-A7F013FD8E40}"/>
              </a:ext>
            </a:extLst>
          </p:cNvPr>
          <p:cNvSpPr/>
          <p:nvPr/>
        </p:nvSpPr>
        <p:spPr>
          <a:xfrm>
            <a:off x="9409400" y="5165861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7" name="Shape 270">
            <a:extLst>
              <a:ext uri="{FF2B5EF4-FFF2-40B4-BE49-F238E27FC236}">
                <a16:creationId xmlns:a16="http://schemas.microsoft.com/office/drawing/2014/main" id="{A4EF0D7C-28A5-EB93-76D3-80569FDE2472}"/>
              </a:ext>
            </a:extLst>
          </p:cNvPr>
          <p:cNvSpPr/>
          <p:nvPr/>
        </p:nvSpPr>
        <p:spPr>
          <a:xfrm>
            <a:off x="7388988" y="4861185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8" name="Shape 271">
            <a:extLst>
              <a:ext uri="{FF2B5EF4-FFF2-40B4-BE49-F238E27FC236}">
                <a16:creationId xmlns:a16="http://schemas.microsoft.com/office/drawing/2014/main" id="{CBDFE11F-454D-7CB5-3E3D-B402ABC5ABE5}"/>
              </a:ext>
            </a:extLst>
          </p:cNvPr>
          <p:cNvSpPr/>
          <p:nvPr/>
        </p:nvSpPr>
        <p:spPr>
          <a:xfrm>
            <a:off x="9717507" y="4784559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9" name="Shape 272">
            <a:extLst>
              <a:ext uri="{FF2B5EF4-FFF2-40B4-BE49-F238E27FC236}">
                <a16:creationId xmlns:a16="http://schemas.microsoft.com/office/drawing/2014/main" id="{06A48912-DB27-BA21-AB01-9B4CE06044A1}"/>
              </a:ext>
            </a:extLst>
          </p:cNvPr>
          <p:cNvSpPr/>
          <p:nvPr/>
        </p:nvSpPr>
        <p:spPr>
          <a:xfrm>
            <a:off x="11141224" y="4698706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0" name="Shape 273">
            <a:extLst>
              <a:ext uri="{FF2B5EF4-FFF2-40B4-BE49-F238E27FC236}">
                <a16:creationId xmlns:a16="http://schemas.microsoft.com/office/drawing/2014/main" id="{BB008875-78AE-BFA3-879E-FA0CC95B646E}"/>
              </a:ext>
            </a:extLst>
          </p:cNvPr>
          <p:cNvSpPr/>
          <p:nvPr/>
        </p:nvSpPr>
        <p:spPr>
          <a:xfrm>
            <a:off x="7984393" y="5200312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1" name="Shape 274">
            <a:extLst>
              <a:ext uri="{FF2B5EF4-FFF2-40B4-BE49-F238E27FC236}">
                <a16:creationId xmlns:a16="http://schemas.microsoft.com/office/drawing/2014/main" id="{A61F44F9-419D-F41E-11E5-7E5670435D0D}"/>
              </a:ext>
            </a:extLst>
          </p:cNvPr>
          <p:cNvSpPr/>
          <p:nvPr/>
        </p:nvSpPr>
        <p:spPr>
          <a:xfrm>
            <a:off x="8043481" y="4915120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2" name="Shape 275">
            <a:extLst>
              <a:ext uri="{FF2B5EF4-FFF2-40B4-BE49-F238E27FC236}">
                <a16:creationId xmlns:a16="http://schemas.microsoft.com/office/drawing/2014/main" id="{310EBEDE-C36F-CB32-3058-98A78E97A0D4}"/>
              </a:ext>
            </a:extLst>
          </p:cNvPr>
          <p:cNvSpPr/>
          <p:nvPr/>
        </p:nvSpPr>
        <p:spPr>
          <a:xfrm>
            <a:off x="10349923" y="5057198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3" name="Shape 276">
            <a:extLst>
              <a:ext uri="{FF2B5EF4-FFF2-40B4-BE49-F238E27FC236}">
                <a16:creationId xmlns:a16="http://schemas.microsoft.com/office/drawing/2014/main" id="{42199779-BCF4-D536-8DDE-E4BB2D77EE70}"/>
              </a:ext>
            </a:extLst>
          </p:cNvPr>
          <p:cNvSpPr/>
          <p:nvPr/>
        </p:nvSpPr>
        <p:spPr>
          <a:xfrm>
            <a:off x="10668183" y="5187946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4" name="Shape 277">
            <a:extLst>
              <a:ext uri="{FF2B5EF4-FFF2-40B4-BE49-F238E27FC236}">
                <a16:creationId xmlns:a16="http://schemas.microsoft.com/office/drawing/2014/main" id="{4996EB59-D54E-BF07-3843-354C3A6BDCDF}"/>
              </a:ext>
            </a:extLst>
          </p:cNvPr>
          <p:cNvSpPr/>
          <p:nvPr/>
        </p:nvSpPr>
        <p:spPr>
          <a:xfrm>
            <a:off x="9718426" y="4728098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5" name="Shape 278">
            <a:extLst>
              <a:ext uri="{FF2B5EF4-FFF2-40B4-BE49-F238E27FC236}">
                <a16:creationId xmlns:a16="http://schemas.microsoft.com/office/drawing/2014/main" id="{1E2EFF7C-F07B-21AB-09FC-5959FD23B07D}"/>
              </a:ext>
            </a:extLst>
          </p:cNvPr>
          <p:cNvSpPr/>
          <p:nvPr/>
        </p:nvSpPr>
        <p:spPr>
          <a:xfrm>
            <a:off x="7235480" y="4818819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6" name="Shape 279">
            <a:extLst>
              <a:ext uri="{FF2B5EF4-FFF2-40B4-BE49-F238E27FC236}">
                <a16:creationId xmlns:a16="http://schemas.microsoft.com/office/drawing/2014/main" id="{A14B17BC-DC63-9D71-ADF8-6D6C09EE3846}"/>
              </a:ext>
            </a:extLst>
          </p:cNvPr>
          <p:cNvSpPr/>
          <p:nvPr/>
        </p:nvSpPr>
        <p:spPr>
          <a:xfrm>
            <a:off x="9089564" y="5133935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7" name="Shape 280">
            <a:extLst>
              <a:ext uri="{FF2B5EF4-FFF2-40B4-BE49-F238E27FC236}">
                <a16:creationId xmlns:a16="http://schemas.microsoft.com/office/drawing/2014/main" id="{3B9065F6-C986-8B7B-2E62-1231929990F0}"/>
              </a:ext>
            </a:extLst>
          </p:cNvPr>
          <p:cNvSpPr/>
          <p:nvPr/>
        </p:nvSpPr>
        <p:spPr>
          <a:xfrm>
            <a:off x="10467228" y="5093732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8" name="Shape 281">
            <a:extLst>
              <a:ext uri="{FF2B5EF4-FFF2-40B4-BE49-F238E27FC236}">
                <a16:creationId xmlns:a16="http://schemas.microsoft.com/office/drawing/2014/main" id="{D454DFDB-BA7C-DAE7-777A-869D56316A1B}"/>
              </a:ext>
            </a:extLst>
          </p:cNvPr>
          <p:cNvSpPr/>
          <p:nvPr/>
        </p:nvSpPr>
        <p:spPr>
          <a:xfrm>
            <a:off x="10155611" y="4855858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9" name="Shape 282">
            <a:extLst>
              <a:ext uri="{FF2B5EF4-FFF2-40B4-BE49-F238E27FC236}">
                <a16:creationId xmlns:a16="http://schemas.microsoft.com/office/drawing/2014/main" id="{7AC52BAB-D2EB-1053-E7A7-2A2289CE0651}"/>
              </a:ext>
            </a:extLst>
          </p:cNvPr>
          <p:cNvSpPr/>
          <p:nvPr/>
        </p:nvSpPr>
        <p:spPr>
          <a:xfrm>
            <a:off x="7273432" y="4875965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0" name="Shape 283">
            <a:extLst>
              <a:ext uri="{FF2B5EF4-FFF2-40B4-BE49-F238E27FC236}">
                <a16:creationId xmlns:a16="http://schemas.microsoft.com/office/drawing/2014/main" id="{3BCAB9EB-A54E-7877-3613-13DA2FF59251}"/>
              </a:ext>
            </a:extLst>
          </p:cNvPr>
          <p:cNvSpPr/>
          <p:nvPr/>
        </p:nvSpPr>
        <p:spPr>
          <a:xfrm>
            <a:off x="8802046" y="4779898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1" name="Shape 284">
            <a:extLst>
              <a:ext uri="{FF2B5EF4-FFF2-40B4-BE49-F238E27FC236}">
                <a16:creationId xmlns:a16="http://schemas.microsoft.com/office/drawing/2014/main" id="{94FE6DA2-FCED-8597-17B1-4884DA699219}"/>
              </a:ext>
            </a:extLst>
          </p:cNvPr>
          <p:cNvSpPr/>
          <p:nvPr/>
        </p:nvSpPr>
        <p:spPr>
          <a:xfrm>
            <a:off x="11250140" y="4661541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2" name="Shape 285">
            <a:extLst>
              <a:ext uri="{FF2B5EF4-FFF2-40B4-BE49-F238E27FC236}">
                <a16:creationId xmlns:a16="http://schemas.microsoft.com/office/drawing/2014/main" id="{56C1B318-9EF7-ACE2-B68D-2FAD6A9AEE93}"/>
              </a:ext>
            </a:extLst>
          </p:cNvPr>
          <p:cNvSpPr/>
          <p:nvPr/>
        </p:nvSpPr>
        <p:spPr>
          <a:xfrm>
            <a:off x="10906332" y="4973342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3" name="Shape 286">
            <a:extLst>
              <a:ext uri="{FF2B5EF4-FFF2-40B4-BE49-F238E27FC236}">
                <a16:creationId xmlns:a16="http://schemas.microsoft.com/office/drawing/2014/main" id="{890E55E3-49DB-8D57-DDC5-3F306B388ECE}"/>
              </a:ext>
            </a:extLst>
          </p:cNvPr>
          <p:cNvSpPr/>
          <p:nvPr/>
        </p:nvSpPr>
        <p:spPr>
          <a:xfrm>
            <a:off x="9016233" y="5230225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4" name="Shape 287">
            <a:extLst>
              <a:ext uri="{FF2B5EF4-FFF2-40B4-BE49-F238E27FC236}">
                <a16:creationId xmlns:a16="http://schemas.microsoft.com/office/drawing/2014/main" id="{D295E66E-A9AD-2713-8D6A-698D2060BF68}"/>
              </a:ext>
            </a:extLst>
          </p:cNvPr>
          <p:cNvSpPr/>
          <p:nvPr/>
        </p:nvSpPr>
        <p:spPr>
          <a:xfrm>
            <a:off x="8438356" y="4711242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5" name="Shape 288">
            <a:extLst>
              <a:ext uri="{FF2B5EF4-FFF2-40B4-BE49-F238E27FC236}">
                <a16:creationId xmlns:a16="http://schemas.microsoft.com/office/drawing/2014/main" id="{01295531-E011-8E65-1BE4-F471344977B7}"/>
              </a:ext>
            </a:extLst>
          </p:cNvPr>
          <p:cNvSpPr/>
          <p:nvPr/>
        </p:nvSpPr>
        <p:spPr>
          <a:xfrm>
            <a:off x="9058480" y="4937170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6" name="Shape 289">
            <a:extLst>
              <a:ext uri="{FF2B5EF4-FFF2-40B4-BE49-F238E27FC236}">
                <a16:creationId xmlns:a16="http://schemas.microsoft.com/office/drawing/2014/main" id="{EBFE20C1-7ECB-5E06-8323-9DC79B879CDF}"/>
              </a:ext>
            </a:extLst>
          </p:cNvPr>
          <p:cNvSpPr/>
          <p:nvPr/>
        </p:nvSpPr>
        <p:spPr>
          <a:xfrm>
            <a:off x="7220606" y="5218977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7" name="Shape 290">
            <a:extLst>
              <a:ext uri="{FF2B5EF4-FFF2-40B4-BE49-F238E27FC236}">
                <a16:creationId xmlns:a16="http://schemas.microsoft.com/office/drawing/2014/main" id="{C8F63040-7E2E-19B3-67FE-879DDF73CBC9}"/>
              </a:ext>
            </a:extLst>
          </p:cNvPr>
          <p:cNvSpPr/>
          <p:nvPr/>
        </p:nvSpPr>
        <p:spPr>
          <a:xfrm>
            <a:off x="10918399" y="4886073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8" name="Shape 291">
            <a:extLst>
              <a:ext uri="{FF2B5EF4-FFF2-40B4-BE49-F238E27FC236}">
                <a16:creationId xmlns:a16="http://schemas.microsoft.com/office/drawing/2014/main" id="{17F9C782-28FE-9BD9-ADF7-5662751D1EE4}"/>
              </a:ext>
            </a:extLst>
          </p:cNvPr>
          <p:cNvSpPr/>
          <p:nvPr/>
        </p:nvSpPr>
        <p:spPr>
          <a:xfrm>
            <a:off x="8183580" y="4673618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9" name="Shape 292">
            <a:extLst>
              <a:ext uri="{FF2B5EF4-FFF2-40B4-BE49-F238E27FC236}">
                <a16:creationId xmlns:a16="http://schemas.microsoft.com/office/drawing/2014/main" id="{6B79D7EF-21FC-061A-B27D-6BFAA0ACB241}"/>
              </a:ext>
            </a:extLst>
          </p:cNvPr>
          <p:cNvSpPr/>
          <p:nvPr/>
        </p:nvSpPr>
        <p:spPr>
          <a:xfrm>
            <a:off x="8393752" y="4700273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0" name="Shape 293">
            <a:extLst>
              <a:ext uri="{FF2B5EF4-FFF2-40B4-BE49-F238E27FC236}">
                <a16:creationId xmlns:a16="http://schemas.microsoft.com/office/drawing/2014/main" id="{709794F8-69D1-FA84-1B3B-427F85757B6D}"/>
              </a:ext>
            </a:extLst>
          </p:cNvPr>
          <p:cNvSpPr/>
          <p:nvPr/>
        </p:nvSpPr>
        <p:spPr>
          <a:xfrm>
            <a:off x="9615958" y="5192172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1" name="Shape 294">
            <a:extLst>
              <a:ext uri="{FF2B5EF4-FFF2-40B4-BE49-F238E27FC236}">
                <a16:creationId xmlns:a16="http://schemas.microsoft.com/office/drawing/2014/main" id="{2CF87293-6D8F-7FDE-3D99-7547E16110D2}"/>
              </a:ext>
            </a:extLst>
          </p:cNvPr>
          <p:cNvSpPr/>
          <p:nvPr/>
        </p:nvSpPr>
        <p:spPr>
          <a:xfrm>
            <a:off x="9517671" y="5046648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2" name="Shape 295">
            <a:extLst>
              <a:ext uri="{FF2B5EF4-FFF2-40B4-BE49-F238E27FC236}">
                <a16:creationId xmlns:a16="http://schemas.microsoft.com/office/drawing/2014/main" id="{70EC2960-8E3A-184C-6375-83922DC6A510}"/>
              </a:ext>
            </a:extLst>
          </p:cNvPr>
          <p:cNvSpPr/>
          <p:nvPr/>
        </p:nvSpPr>
        <p:spPr>
          <a:xfrm>
            <a:off x="9158740" y="4923411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3" name="Shape 296">
            <a:extLst>
              <a:ext uri="{FF2B5EF4-FFF2-40B4-BE49-F238E27FC236}">
                <a16:creationId xmlns:a16="http://schemas.microsoft.com/office/drawing/2014/main" id="{ECDD83CE-BE15-5759-83B4-6E3624866067}"/>
              </a:ext>
            </a:extLst>
          </p:cNvPr>
          <p:cNvSpPr/>
          <p:nvPr/>
        </p:nvSpPr>
        <p:spPr>
          <a:xfrm>
            <a:off x="8137892" y="4819595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4" name="Shape 297">
            <a:extLst>
              <a:ext uri="{FF2B5EF4-FFF2-40B4-BE49-F238E27FC236}">
                <a16:creationId xmlns:a16="http://schemas.microsoft.com/office/drawing/2014/main" id="{6A6DC678-0779-8BEE-F270-6CB05F534400}"/>
              </a:ext>
            </a:extLst>
          </p:cNvPr>
          <p:cNvSpPr/>
          <p:nvPr/>
        </p:nvSpPr>
        <p:spPr>
          <a:xfrm>
            <a:off x="11050520" y="4993480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5" name="Shape 298">
            <a:extLst>
              <a:ext uri="{FF2B5EF4-FFF2-40B4-BE49-F238E27FC236}">
                <a16:creationId xmlns:a16="http://schemas.microsoft.com/office/drawing/2014/main" id="{D3684E3F-9769-F7E3-6874-B12775DC09AC}"/>
              </a:ext>
            </a:extLst>
          </p:cNvPr>
          <p:cNvSpPr/>
          <p:nvPr/>
        </p:nvSpPr>
        <p:spPr>
          <a:xfrm>
            <a:off x="11118862" y="4955965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6" name="Shape 299">
            <a:extLst>
              <a:ext uri="{FF2B5EF4-FFF2-40B4-BE49-F238E27FC236}">
                <a16:creationId xmlns:a16="http://schemas.microsoft.com/office/drawing/2014/main" id="{F03638DD-C679-C59E-EE41-BF2DD52E7B72}"/>
              </a:ext>
            </a:extLst>
          </p:cNvPr>
          <p:cNvSpPr/>
          <p:nvPr/>
        </p:nvSpPr>
        <p:spPr>
          <a:xfrm>
            <a:off x="7499608" y="5157049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7" name="Shape 300">
            <a:extLst>
              <a:ext uri="{FF2B5EF4-FFF2-40B4-BE49-F238E27FC236}">
                <a16:creationId xmlns:a16="http://schemas.microsoft.com/office/drawing/2014/main" id="{56E04361-D6AB-C10A-B9D1-0569D1D84A59}"/>
              </a:ext>
            </a:extLst>
          </p:cNvPr>
          <p:cNvSpPr/>
          <p:nvPr/>
        </p:nvSpPr>
        <p:spPr>
          <a:xfrm>
            <a:off x="9982494" y="5161007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8" name="Shape 301">
            <a:extLst>
              <a:ext uri="{FF2B5EF4-FFF2-40B4-BE49-F238E27FC236}">
                <a16:creationId xmlns:a16="http://schemas.microsoft.com/office/drawing/2014/main" id="{D9956AC2-BCD5-F7D0-BC88-F022D8AC377E}"/>
              </a:ext>
            </a:extLst>
          </p:cNvPr>
          <p:cNvSpPr/>
          <p:nvPr/>
        </p:nvSpPr>
        <p:spPr>
          <a:xfrm>
            <a:off x="7243097" y="4796740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9" name="Shape 302">
            <a:extLst>
              <a:ext uri="{FF2B5EF4-FFF2-40B4-BE49-F238E27FC236}">
                <a16:creationId xmlns:a16="http://schemas.microsoft.com/office/drawing/2014/main" id="{95AB6C82-A3C3-4B74-B12A-36217D46AFF7}"/>
              </a:ext>
            </a:extLst>
          </p:cNvPr>
          <p:cNvSpPr/>
          <p:nvPr/>
        </p:nvSpPr>
        <p:spPr>
          <a:xfrm>
            <a:off x="11259667" y="5003455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0" name="Shape 303">
            <a:extLst>
              <a:ext uri="{FF2B5EF4-FFF2-40B4-BE49-F238E27FC236}">
                <a16:creationId xmlns:a16="http://schemas.microsoft.com/office/drawing/2014/main" id="{84905446-A9B3-DF35-D83C-866C4A3B3FE2}"/>
              </a:ext>
            </a:extLst>
          </p:cNvPr>
          <p:cNvSpPr/>
          <p:nvPr/>
        </p:nvSpPr>
        <p:spPr>
          <a:xfrm>
            <a:off x="9238114" y="5238497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1" name="Shape 304">
            <a:extLst>
              <a:ext uri="{FF2B5EF4-FFF2-40B4-BE49-F238E27FC236}">
                <a16:creationId xmlns:a16="http://schemas.microsoft.com/office/drawing/2014/main" id="{E01BD0F1-9853-07DE-5828-549D28CC62F6}"/>
              </a:ext>
            </a:extLst>
          </p:cNvPr>
          <p:cNvSpPr/>
          <p:nvPr/>
        </p:nvSpPr>
        <p:spPr>
          <a:xfrm>
            <a:off x="8654509" y="4856406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2" name="Shape 305">
            <a:extLst>
              <a:ext uri="{FF2B5EF4-FFF2-40B4-BE49-F238E27FC236}">
                <a16:creationId xmlns:a16="http://schemas.microsoft.com/office/drawing/2014/main" id="{55F4127A-2C87-9DFF-4351-725BCBC84255}"/>
              </a:ext>
            </a:extLst>
          </p:cNvPr>
          <p:cNvSpPr/>
          <p:nvPr/>
        </p:nvSpPr>
        <p:spPr>
          <a:xfrm>
            <a:off x="9530266" y="4839561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3" name="Shape 306">
            <a:extLst>
              <a:ext uri="{FF2B5EF4-FFF2-40B4-BE49-F238E27FC236}">
                <a16:creationId xmlns:a16="http://schemas.microsoft.com/office/drawing/2014/main" id="{9B4D6315-B480-E118-94D2-E930C8744D8A}"/>
              </a:ext>
            </a:extLst>
          </p:cNvPr>
          <p:cNvSpPr/>
          <p:nvPr/>
        </p:nvSpPr>
        <p:spPr>
          <a:xfrm>
            <a:off x="8864130" y="5193208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4" name="Shape 307">
            <a:extLst>
              <a:ext uri="{FF2B5EF4-FFF2-40B4-BE49-F238E27FC236}">
                <a16:creationId xmlns:a16="http://schemas.microsoft.com/office/drawing/2014/main" id="{472EC6AD-BD0F-F8E0-D936-074DB881EB49}"/>
              </a:ext>
            </a:extLst>
          </p:cNvPr>
          <p:cNvSpPr/>
          <p:nvPr/>
        </p:nvSpPr>
        <p:spPr>
          <a:xfrm>
            <a:off x="8939293" y="4773882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5" name="Shape 308">
            <a:extLst>
              <a:ext uri="{FF2B5EF4-FFF2-40B4-BE49-F238E27FC236}">
                <a16:creationId xmlns:a16="http://schemas.microsoft.com/office/drawing/2014/main" id="{AF7403FB-4857-4913-BE60-45A8AF3564AE}"/>
              </a:ext>
            </a:extLst>
          </p:cNvPr>
          <p:cNvSpPr/>
          <p:nvPr/>
        </p:nvSpPr>
        <p:spPr>
          <a:xfrm>
            <a:off x="6901959" y="4807897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6" name="Shape 309">
            <a:extLst>
              <a:ext uri="{FF2B5EF4-FFF2-40B4-BE49-F238E27FC236}">
                <a16:creationId xmlns:a16="http://schemas.microsoft.com/office/drawing/2014/main" id="{603A19B6-8E9A-627F-BA88-5FE3F11ACBCA}"/>
              </a:ext>
            </a:extLst>
          </p:cNvPr>
          <p:cNvSpPr/>
          <p:nvPr/>
        </p:nvSpPr>
        <p:spPr>
          <a:xfrm>
            <a:off x="10113982" y="5211872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7" name="Shape 310">
            <a:extLst>
              <a:ext uri="{FF2B5EF4-FFF2-40B4-BE49-F238E27FC236}">
                <a16:creationId xmlns:a16="http://schemas.microsoft.com/office/drawing/2014/main" id="{4499120F-8447-866E-33DF-260B2208AF28}"/>
              </a:ext>
            </a:extLst>
          </p:cNvPr>
          <p:cNvSpPr/>
          <p:nvPr/>
        </p:nvSpPr>
        <p:spPr>
          <a:xfrm>
            <a:off x="8358306" y="4928721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8" name="Shape 311">
            <a:extLst>
              <a:ext uri="{FF2B5EF4-FFF2-40B4-BE49-F238E27FC236}">
                <a16:creationId xmlns:a16="http://schemas.microsoft.com/office/drawing/2014/main" id="{DB2CD48D-7128-382C-207E-D2E64C2425DF}"/>
              </a:ext>
            </a:extLst>
          </p:cNvPr>
          <p:cNvSpPr/>
          <p:nvPr/>
        </p:nvSpPr>
        <p:spPr>
          <a:xfrm>
            <a:off x="7926764" y="5057270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9" name="Shape 312">
            <a:extLst>
              <a:ext uri="{FF2B5EF4-FFF2-40B4-BE49-F238E27FC236}">
                <a16:creationId xmlns:a16="http://schemas.microsoft.com/office/drawing/2014/main" id="{F2113305-E981-1E0F-7C45-CAB87398A4CE}"/>
              </a:ext>
            </a:extLst>
          </p:cNvPr>
          <p:cNvSpPr/>
          <p:nvPr/>
        </p:nvSpPr>
        <p:spPr>
          <a:xfrm>
            <a:off x="10515777" y="5172989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0" name="Shape 313">
            <a:extLst>
              <a:ext uri="{FF2B5EF4-FFF2-40B4-BE49-F238E27FC236}">
                <a16:creationId xmlns:a16="http://schemas.microsoft.com/office/drawing/2014/main" id="{C13D881D-758E-1A80-D508-A88AD6066418}"/>
              </a:ext>
            </a:extLst>
          </p:cNvPr>
          <p:cNvSpPr/>
          <p:nvPr/>
        </p:nvSpPr>
        <p:spPr>
          <a:xfrm>
            <a:off x="11227269" y="4717671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1" name="Shape 314">
            <a:extLst>
              <a:ext uri="{FF2B5EF4-FFF2-40B4-BE49-F238E27FC236}">
                <a16:creationId xmlns:a16="http://schemas.microsoft.com/office/drawing/2014/main" id="{8D812847-5936-9566-1661-144CB6907724}"/>
              </a:ext>
            </a:extLst>
          </p:cNvPr>
          <p:cNvSpPr/>
          <p:nvPr/>
        </p:nvSpPr>
        <p:spPr>
          <a:xfrm>
            <a:off x="8072036" y="4662627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2" name="Shape 315">
            <a:extLst>
              <a:ext uri="{FF2B5EF4-FFF2-40B4-BE49-F238E27FC236}">
                <a16:creationId xmlns:a16="http://schemas.microsoft.com/office/drawing/2014/main" id="{02794D0C-6BC0-B1EA-7700-AC4DE3A1EEC3}"/>
              </a:ext>
            </a:extLst>
          </p:cNvPr>
          <p:cNvSpPr/>
          <p:nvPr/>
        </p:nvSpPr>
        <p:spPr>
          <a:xfrm>
            <a:off x="7267701" y="4888936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3" name="Shape 316">
            <a:extLst>
              <a:ext uri="{FF2B5EF4-FFF2-40B4-BE49-F238E27FC236}">
                <a16:creationId xmlns:a16="http://schemas.microsoft.com/office/drawing/2014/main" id="{1784C1BB-0537-DE88-CD1F-4F0D7619521C}"/>
              </a:ext>
            </a:extLst>
          </p:cNvPr>
          <p:cNvSpPr/>
          <p:nvPr/>
        </p:nvSpPr>
        <p:spPr>
          <a:xfrm>
            <a:off x="9234322" y="4717570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4" name="Shape 317">
            <a:extLst>
              <a:ext uri="{FF2B5EF4-FFF2-40B4-BE49-F238E27FC236}">
                <a16:creationId xmlns:a16="http://schemas.microsoft.com/office/drawing/2014/main" id="{77840A78-FB48-EAC6-ECC7-11BD6D2E85BA}"/>
              </a:ext>
            </a:extLst>
          </p:cNvPr>
          <p:cNvSpPr/>
          <p:nvPr/>
        </p:nvSpPr>
        <p:spPr>
          <a:xfrm>
            <a:off x="8564001" y="5140866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5" name="Shape 318">
            <a:extLst>
              <a:ext uri="{FF2B5EF4-FFF2-40B4-BE49-F238E27FC236}">
                <a16:creationId xmlns:a16="http://schemas.microsoft.com/office/drawing/2014/main" id="{2F9CEB47-FC8C-7A95-1F9D-C7C4C9A21673}"/>
              </a:ext>
            </a:extLst>
          </p:cNvPr>
          <p:cNvSpPr/>
          <p:nvPr/>
        </p:nvSpPr>
        <p:spPr>
          <a:xfrm>
            <a:off x="9910881" y="4955541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6" name="Shape 319">
            <a:extLst>
              <a:ext uri="{FF2B5EF4-FFF2-40B4-BE49-F238E27FC236}">
                <a16:creationId xmlns:a16="http://schemas.microsoft.com/office/drawing/2014/main" id="{66B6F927-99BF-E4E5-C884-BA506CFC03BE}"/>
              </a:ext>
            </a:extLst>
          </p:cNvPr>
          <p:cNvSpPr/>
          <p:nvPr/>
        </p:nvSpPr>
        <p:spPr>
          <a:xfrm>
            <a:off x="10273924" y="4982260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7" name="Shape 320">
            <a:extLst>
              <a:ext uri="{FF2B5EF4-FFF2-40B4-BE49-F238E27FC236}">
                <a16:creationId xmlns:a16="http://schemas.microsoft.com/office/drawing/2014/main" id="{EBDBD240-410F-8449-E9EF-05B3BB956471}"/>
              </a:ext>
            </a:extLst>
          </p:cNvPr>
          <p:cNvSpPr/>
          <p:nvPr/>
        </p:nvSpPr>
        <p:spPr>
          <a:xfrm>
            <a:off x="9637814" y="4988836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8" name="Shape 321">
            <a:extLst>
              <a:ext uri="{FF2B5EF4-FFF2-40B4-BE49-F238E27FC236}">
                <a16:creationId xmlns:a16="http://schemas.microsoft.com/office/drawing/2014/main" id="{29ABCA80-8D15-2AC0-E8CA-B3E6DA079AD6}"/>
              </a:ext>
            </a:extLst>
          </p:cNvPr>
          <p:cNvSpPr/>
          <p:nvPr/>
        </p:nvSpPr>
        <p:spPr>
          <a:xfrm>
            <a:off x="9603136" y="4915682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9" name="Shape 322">
            <a:extLst>
              <a:ext uri="{FF2B5EF4-FFF2-40B4-BE49-F238E27FC236}">
                <a16:creationId xmlns:a16="http://schemas.microsoft.com/office/drawing/2014/main" id="{259B6524-1E27-82B0-74CD-F3CBD2DF02E1}"/>
              </a:ext>
            </a:extLst>
          </p:cNvPr>
          <p:cNvSpPr/>
          <p:nvPr/>
        </p:nvSpPr>
        <p:spPr>
          <a:xfrm>
            <a:off x="7456264" y="5085685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0" name="Shape 323">
            <a:extLst>
              <a:ext uri="{FF2B5EF4-FFF2-40B4-BE49-F238E27FC236}">
                <a16:creationId xmlns:a16="http://schemas.microsoft.com/office/drawing/2014/main" id="{BC53DE49-9A9B-09EB-8AD5-C69F1F60DBA1}"/>
              </a:ext>
            </a:extLst>
          </p:cNvPr>
          <p:cNvSpPr/>
          <p:nvPr/>
        </p:nvSpPr>
        <p:spPr>
          <a:xfrm>
            <a:off x="8913989" y="5197260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1" name="Shape 324">
            <a:extLst>
              <a:ext uri="{FF2B5EF4-FFF2-40B4-BE49-F238E27FC236}">
                <a16:creationId xmlns:a16="http://schemas.microsoft.com/office/drawing/2014/main" id="{54D8B01F-7631-5895-7451-23A2903C0020}"/>
              </a:ext>
            </a:extLst>
          </p:cNvPr>
          <p:cNvSpPr/>
          <p:nvPr/>
        </p:nvSpPr>
        <p:spPr>
          <a:xfrm>
            <a:off x="9461076" y="4883639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2" name="Shape 325">
            <a:extLst>
              <a:ext uri="{FF2B5EF4-FFF2-40B4-BE49-F238E27FC236}">
                <a16:creationId xmlns:a16="http://schemas.microsoft.com/office/drawing/2014/main" id="{F9A42915-6CD3-3092-0FF1-0D5027519C0B}"/>
              </a:ext>
            </a:extLst>
          </p:cNvPr>
          <p:cNvSpPr/>
          <p:nvPr/>
        </p:nvSpPr>
        <p:spPr>
          <a:xfrm>
            <a:off x="7651921" y="4632731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3" name="Shape 326">
            <a:extLst>
              <a:ext uri="{FF2B5EF4-FFF2-40B4-BE49-F238E27FC236}">
                <a16:creationId xmlns:a16="http://schemas.microsoft.com/office/drawing/2014/main" id="{705549E8-B201-2151-56EC-10A9732CB7FB}"/>
              </a:ext>
            </a:extLst>
          </p:cNvPr>
          <p:cNvSpPr/>
          <p:nvPr/>
        </p:nvSpPr>
        <p:spPr>
          <a:xfrm>
            <a:off x="8087914" y="4678120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4" name="Shape 327">
            <a:extLst>
              <a:ext uri="{FF2B5EF4-FFF2-40B4-BE49-F238E27FC236}">
                <a16:creationId xmlns:a16="http://schemas.microsoft.com/office/drawing/2014/main" id="{0F61D21C-4C41-EFD7-6075-796CE84F8D0E}"/>
              </a:ext>
            </a:extLst>
          </p:cNvPr>
          <p:cNvSpPr/>
          <p:nvPr/>
        </p:nvSpPr>
        <p:spPr>
          <a:xfrm>
            <a:off x="11024067" y="4963364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5" name="Shape 328">
            <a:extLst>
              <a:ext uri="{FF2B5EF4-FFF2-40B4-BE49-F238E27FC236}">
                <a16:creationId xmlns:a16="http://schemas.microsoft.com/office/drawing/2014/main" id="{7008C500-425F-D015-84EE-AA30A60DB527}"/>
              </a:ext>
            </a:extLst>
          </p:cNvPr>
          <p:cNvSpPr/>
          <p:nvPr/>
        </p:nvSpPr>
        <p:spPr>
          <a:xfrm>
            <a:off x="9624052" y="4939162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6" name="Shape 329">
            <a:extLst>
              <a:ext uri="{FF2B5EF4-FFF2-40B4-BE49-F238E27FC236}">
                <a16:creationId xmlns:a16="http://schemas.microsoft.com/office/drawing/2014/main" id="{3F3E514B-98A8-2854-24D6-E005F4B7445C}"/>
              </a:ext>
            </a:extLst>
          </p:cNvPr>
          <p:cNvSpPr/>
          <p:nvPr/>
        </p:nvSpPr>
        <p:spPr>
          <a:xfrm>
            <a:off x="9819926" y="4785671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7" name="Shape 330">
            <a:extLst>
              <a:ext uri="{FF2B5EF4-FFF2-40B4-BE49-F238E27FC236}">
                <a16:creationId xmlns:a16="http://schemas.microsoft.com/office/drawing/2014/main" id="{5D8AAABE-C331-E635-74EA-5442B50C592C}"/>
              </a:ext>
            </a:extLst>
          </p:cNvPr>
          <p:cNvSpPr/>
          <p:nvPr/>
        </p:nvSpPr>
        <p:spPr>
          <a:xfrm>
            <a:off x="10613958" y="4824960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8" name="Shape 331">
            <a:extLst>
              <a:ext uri="{FF2B5EF4-FFF2-40B4-BE49-F238E27FC236}">
                <a16:creationId xmlns:a16="http://schemas.microsoft.com/office/drawing/2014/main" id="{92D295F7-AD54-D802-B6CD-CAA2BE5FEE50}"/>
              </a:ext>
            </a:extLst>
          </p:cNvPr>
          <p:cNvSpPr/>
          <p:nvPr/>
        </p:nvSpPr>
        <p:spPr>
          <a:xfrm>
            <a:off x="8460554" y="4932501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9" name="Shape 332">
            <a:extLst>
              <a:ext uri="{FF2B5EF4-FFF2-40B4-BE49-F238E27FC236}">
                <a16:creationId xmlns:a16="http://schemas.microsoft.com/office/drawing/2014/main" id="{0D5512DF-6503-D4B4-0FB4-6ABE6AC6F2AE}"/>
              </a:ext>
            </a:extLst>
          </p:cNvPr>
          <p:cNvSpPr/>
          <p:nvPr/>
        </p:nvSpPr>
        <p:spPr>
          <a:xfrm>
            <a:off x="10601363" y="5150129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0" name="Shape 333">
            <a:extLst>
              <a:ext uri="{FF2B5EF4-FFF2-40B4-BE49-F238E27FC236}">
                <a16:creationId xmlns:a16="http://schemas.microsoft.com/office/drawing/2014/main" id="{5831090C-0F40-FB2F-704A-321E02B36933}"/>
              </a:ext>
            </a:extLst>
          </p:cNvPr>
          <p:cNvSpPr/>
          <p:nvPr/>
        </p:nvSpPr>
        <p:spPr>
          <a:xfrm>
            <a:off x="8915314" y="5074054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1" name="Shape 334">
            <a:extLst>
              <a:ext uri="{FF2B5EF4-FFF2-40B4-BE49-F238E27FC236}">
                <a16:creationId xmlns:a16="http://schemas.microsoft.com/office/drawing/2014/main" id="{CE3D570E-F5CC-249C-D499-D51DEA98C226}"/>
              </a:ext>
            </a:extLst>
          </p:cNvPr>
          <p:cNvSpPr/>
          <p:nvPr/>
        </p:nvSpPr>
        <p:spPr>
          <a:xfrm>
            <a:off x="8070900" y="4915591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2" name="Shape 335">
            <a:extLst>
              <a:ext uri="{FF2B5EF4-FFF2-40B4-BE49-F238E27FC236}">
                <a16:creationId xmlns:a16="http://schemas.microsoft.com/office/drawing/2014/main" id="{88AB654C-D454-6EC4-00B1-63CC1F2E1BA6}"/>
              </a:ext>
            </a:extLst>
          </p:cNvPr>
          <p:cNvSpPr/>
          <p:nvPr/>
        </p:nvSpPr>
        <p:spPr>
          <a:xfrm>
            <a:off x="9492936" y="5189880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3" name="Shape 336">
            <a:extLst>
              <a:ext uri="{FF2B5EF4-FFF2-40B4-BE49-F238E27FC236}">
                <a16:creationId xmlns:a16="http://schemas.microsoft.com/office/drawing/2014/main" id="{B2F6FC3E-E593-7245-D13E-165C671DF6C8}"/>
              </a:ext>
            </a:extLst>
          </p:cNvPr>
          <p:cNvSpPr/>
          <p:nvPr/>
        </p:nvSpPr>
        <p:spPr>
          <a:xfrm>
            <a:off x="7051361" y="4697014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4" name="Shape 337">
            <a:extLst>
              <a:ext uri="{FF2B5EF4-FFF2-40B4-BE49-F238E27FC236}">
                <a16:creationId xmlns:a16="http://schemas.microsoft.com/office/drawing/2014/main" id="{B1B4BDA7-BDD0-1436-0C63-0CD59CC3C1E2}"/>
              </a:ext>
            </a:extLst>
          </p:cNvPr>
          <p:cNvSpPr/>
          <p:nvPr/>
        </p:nvSpPr>
        <p:spPr>
          <a:xfrm>
            <a:off x="8455554" y="5218259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5" name="Shape 338">
            <a:extLst>
              <a:ext uri="{FF2B5EF4-FFF2-40B4-BE49-F238E27FC236}">
                <a16:creationId xmlns:a16="http://schemas.microsoft.com/office/drawing/2014/main" id="{D4F98615-EEE4-686B-1918-C10D027B68E8}"/>
              </a:ext>
            </a:extLst>
          </p:cNvPr>
          <p:cNvSpPr/>
          <p:nvPr/>
        </p:nvSpPr>
        <p:spPr>
          <a:xfrm>
            <a:off x="10788493" y="4815828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6" name="Shape 339">
            <a:extLst>
              <a:ext uri="{FF2B5EF4-FFF2-40B4-BE49-F238E27FC236}">
                <a16:creationId xmlns:a16="http://schemas.microsoft.com/office/drawing/2014/main" id="{660F6DD8-3E64-A814-DF10-D79C4268D2BE}"/>
              </a:ext>
            </a:extLst>
          </p:cNvPr>
          <p:cNvSpPr/>
          <p:nvPr/>
        </p:nvSpPr>
        <p:spPr>
          <a:xfrm>
            <a:off x="7737636" y="4662430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7" name="Shape 340">
            <a:extLst>
              <a:ext uri="{FF2B5EF4-FFF2-40B4-BE49-F238E27FC236}">
                <a16:creationId xmlns:a16="http://schemas.microsoft.com/office/drawing/2014/main" id="{859ABCEB-FD89-633F-96C0-5C1DE25B6559}"/>
              </a:ext>
            </a:extLst>
          </p:cNvPr>
          <p:cNvSpPr/>
          <p:nvPr/>
        </p:nvSpPr>
        <p:spPr>
          <a:xfrm>
            <a:off x="10915416" y="5066222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8" name="Shape 341">
            <a:extLst>
              <a:ext uri="{FF2B5EF4-FFF2-40B4-BE49-F238E27FC236}">
                <a16:creationId xmlns:a16="http://schemas.microsoft.com/office/drawing/2014/main" id="{6036C7B8-B0AA-1AA5-7667-7F55FD16D6AE}"/>
              </a:ext>
            </a:extLst>
          </p:cNvPr>
          <p:cNvSpPr/>
          <p:nvPr/>
        </p:nvSpPr>
        <p:spPr>
          <a:xfrm>
            <a:off x="9761360" y="5145326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9" name="Shape 342">
            <a:extLst>
              <a:ext uri="{FF2B5EF4-FFF2-40B4-BE49-F238E27FC236}">
                <a16:creationId xmlns:a16="http://schemas.microsoft.com/office/drawing/2014/main" id="{BBF67BF4-1472-98F5-65E3-68C31292CCF2}"/>
              </a:ext>
            </a:extLst>
          </p:cNvPr>
          <p:cNvSpPr/>
          <p:nvPr/>
        </p:nvSpPr>
        <p:spPr>
          <a:xfrm>
            <a:off x="10248029" y="4650012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0" name="Shape 343">
            <a:extLst>
              <a:ext uri="{FF2B5EF4-FFF2-40B4-BE49-F238E27FC236}">
                <a16:creationId xmlns:a16="http://schemas.microsoft.com/office/drawing/2014/main" id="{9140B948-3C2E-ECB8-17A1-2CD6996967DD}"/>
              </a:ext>
            </a:extLst>
          </p:cNvPr>
          <p:cNvSpPr/>
          <p:nvPr/>
        </p:nvSpPr>
        <p:spPr>
          <a:xfrm>
            <a:off x="7180155" y="4971653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1" name="Shape 344">
            <a:extLst>
              <a:ext uri="{FF2B5EF4-FFF2-40B4-BE49-F238E27FC236}">
                <a16:creationId xmlns:a16="http://schemas.microsoft.com/office/drawing/2014/main" id="{C0B5D699-51E7-C368-7D69-61E3A4981000}"/>
              </a:ext>
            </a:extLst>
          </p:cNvPr>
          <p:cNvSpPr/>
          <p:nvPr/>
        </p:nvSpPr>
        <p:spPr>
          <a:xfrm>
            <a:off x="9873881" y="5156068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2" name="Shape 345">
            <a:extLst>
              <a:ext uri="{FF2B5EF4-FFF2-40B4-BE49-F238E27FC236}">
                <a16:creationId xmlns:a16="http://schemas.microsoft.com/office/drawing/2014/main" id="{88DE56BF-55C3-BF55-2705-04EA811A3D1B}"/>
              </a:ext>
            </a:extLst>
          </p:cNvPr>
          <p:cNvSpPr/>
          <p:nvPr/>
        </p:nvSpPr>
        <p:spPr>
          <a:xfrm>
            <a:off x="11050155" y="4980177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3" name="Shape 346">
            <a:extLst>
              <a:ext uri="{FF2B5EF4-FFF2-40B4-BE49-F238E27FC236}">
                <a16:creationId xmlns:a16="http://schemas.microsoft.com/office/drawing/2014/main" id="{90C0765A-6B89-2F6D-F29B-FB06BE19430E}"/>
              </a:ext>
            </a:extLst>
          </p:cNvPr>
          <p:cNvSpPr/>
          <p:nvPr/>
        </p:nvSpPr>
        <p:spPr>
          <a:xfrm>
            <a:off x="9437999" y="4698128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4" name="Shape 347">
            <a:extLst>
              <a:ext uri="{FF2B5EF4-FFF2-40B4-BE49-F238E27FC236}">
                <a16:creationId xmlns:a16="http://schemas.microsoft.com/office/drawing/2014/main" id="{BDFAAAC9-3D60-5A7E-4F77-ABA61D8CAC0E}"/>
              </a:ext>
            </a:extLst>
          </p:cNvPr>
          <p:cNvSpPr/>
          <p:nvPr/>
        </p:nvSpPr>
        <p:spPr>
          <a:xfrm>
            <a:off x="9282069" y="4871058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5" name="Shape 348">
            <a:extLst>
              <a:ext uri="{FF2B5EF4-FFF2-40B4-BE49-F238E27FC236}">
                <a16:creationId xmlns:a16="http://schemas.microsoft.com/office/drawing/2014/main" id="{7209261C-A22D-AD33-BCB5-A0DE75D90DF3}"/>
              </a:ext>
            </a:extLst>
          </p:cNvPr>
          <p:cNvSpPr/>
          <p:nvPr/>
        </p:nvSpPr>
        <p:spPr>
          <a:xfrm>
            <a:off x="9689125" y="4947092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6" name="Shape 349">
            <a:extLst>
              <a:ext uri="{FF2B5EF4-FFF2-40B4-BE49-F238E27FC236}">
                <a16:creationId xmlns:a16="http://schemas.microsoft.com/office/drawing/2014/main" id="{6341024F-F64F-B590-DACE-9DF22D37637D}"/>
              </a:ext>
            </a:extLst>
          </p:cNvPr>
          <p:cNvSpPr/>
          <p:nvPr/>
        </p:nvSpPr>
        <p:spPr>
          <a:xfrm>
            <a:off x="9630520" y="5208350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7" name="Shape 350">
            <a:extLst>
              <a:ext uri="{FF2B5EF4-FFF2-40B4-BE49-F238E27FC236}">
                <a16:creationId xmlns:a16="http://schemas.microsoft.com/office/drawing/2014/main" id="{0CE79347-434C-0201-B8C0-3F055F6A6D60}"/>
              </a:ext>
            </a:extLst>
          </p:cNvPr>
          <p:cNvSpPr/>
          <p:nvPr/>
        </p:nvSpPr>
        <p:spPr>
          <a:xfrm>
            <a:off x="11148860" y="5046506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8" name="Shape 351">
            <a:extLst>
              <a:ext uri="{FF2B5EF4-FFF2-40B4-BE49-F238E27FC236}">
                <a16:creationId xmlns:a16="http://schemas.microsoft.com/office/drawing/2014/main" id="{A47BC1EA-8E23-8A19-9065-C94159271BAF}"/>
              </a:ext>
            </a:extLst>
          </p:cNvPr>
          <p:cNvSpPr/>
          <p:nvPr/>
        </p:nvSpPr>
        <p:spPr>
          <a:xfrm>
            <a:off x="10937145" y="4944071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9" name="Shape 352">
            <a:extLst>
              <a:ext uri="{FF2B5EF4-FFF2-40B4-BE49-F238E27FC236}">
                <a16:creationId xmlns:a16="http://schemas.microsoft.com/office/drawing/2014/main" id="{057BD2FD-FF78-5BD4-E44D-69E2B2811904}"/>
              </a:ext>
            </a:extLst>
          </p:cNvPr>
          <p:cNvSpPr/>
          <p:nvPr/>
        </p:nvSpPr>
        <p:spPr>
          <a:xfrm>
            <a:off x="7014749" y="4809253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0" name="Shape 353">
            <a:extLst>
              <a:ext uri="{FF2B5EF4-FFF2-40B4-BE49-F238E27FC236}">
                <a16:creationId xmlns:a16="http://schemas.microsoft.com/office/drawing/2014/main" id="{09A4BD27-C214-2F6B-C025-21323F031ED1}"/>
              </a:ext>
            </a:extLst>
          </p:cNvPr>
          <p:cNvSpPr/>
          <p:nvPr/>
        </p:nvSpPr>
        <p:spPr>
          <a:xfrm>
            <a:off x="10512677" y="4643891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1" name="Shape 354">
            <a:extLst>
              <a:ext uri="{FF2B5EF4-FFF2-40B4-BE49-F238E27FC236}">
                <a16:creationId xmlns:a16="http://schemas.microsoft.com/office/drawing/2014/main" id="{3AAF386B-4AE7-2EB8-A9FB-6464887CE392}"/>
              </a:ext>
            </a:extLst>
          </p:cNvPr>
          <p:cNvSpPr/>
          <p:nvPr/>
        </p:nvSpPr>
        <p:spPr>
          <a:xfrm>
            <a:off x="10883965" y="4650173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2" name="Shape 355">
            <a:extLst>
              <a:ext uri="{FF2B5EF4-FFF2-40B4-BE49-F238E27FC236}">
                <a16:creationId xmlns:a16="http://schemas.microsoft.com/office/drawing/2014/main" id="{D421E5A4-EC46-50D4-93E9-0EFD9EA92491}"/>
              </a:ext>
            </a:extLst>
          </p:cNvPr>
          <p:cNvSpPr/>
          <p:nvPr/>
        </p:nvSpPr>
        <p:spPr>
          <a:xfrm>
            <a:off x="8288550" y="5069781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3" name="Shape 356">
            <a:extLst>
              <a:ext uri="{FF2B5EF4-FFF2-40B4-BE49-F238E27FC236}">
                <a16:creationId xmlns:a16="http://schemas.microsoft.com/office/drawing/2014/main" id="{FFE3BCF6-8A48-ADEB-B962-04B0618678F3}"/>
              </a:ext>
            </a:extLst>
          </p:cNvPr>
          <p:cNvSpPr/>
          <p:nvPr/>
        </p:nvSpPr>
        <p:spPr>
          <a:xfrm>
            <a:off x="7538624" y="4719400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4" name="Shape 357">
            <a:extLst>
              <a:ext uri="{FF2B5EF4-FFF2-40B4-BE49-F238E27FC236}">
                <a16:creationId xmlns:a16="http://schemas.microsoft.com/office/drawing/2014/main" id="{FFB99CA0-6498-B29A-18B0-F79B62EBFE90}"/>
              </a:ext>
            </a:extLst>
          </p:cNvPr>
          <p:cNvSpPr/>
          <p:nvPr/>
        </p:nvSpPr>
        <p:spPr>
          <a:xfrm>
            <a:off x="11307554" y="4672297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5" name="Shape 358">
            <a:extLst>
              <a:ext uri="{FF2B5EF4-FFF2-40B4-BE49-F238E27FC236}">
                <a16:creationId xmlns:a16="http://schemas.microsoft.com/office/drawing/2014/main" id="{12104CE0-CD6F-A741-C429-C643CC2CF442}"/>
              </a:ext>
            </a:extLst>
          </p:cNvPr>
          <p:cNvSpPr/>
          <p:nvPr/>
        </p:nvSpPr>
        <p:spPr>
          <a:xfrm>
            <a:off x="9509505" y="5162577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6" name="Shape 359">
            <a:extLst>
              <a:ext uri="{FF2B5EF4-FFF2-40B4-BE49-F238E27FC236}">
                <a16:creationId xmlns:a16="http://schemas.microsoft.com/office/drawing/2014/main" id="{F816B3A9-8FA2-51A9-0165-5F8AE118A31B}"/>
              </a:ext>
            </a:extLst>
          </p:cNvPr>
          <p:cNvSpPr/>
          <p:nvPr/>
        </p:nvSpPr>
        <p:spPr>
          <a:xfrm>
            <a:off x="10132114" y="4688878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7" name="Shape 360">
            <a:extLst>
              <a:ext uri="{FF2B5EF4-FFF2-40B4-BE49-F238E27FC236}">
                <a16:creationId xmlns:a16="http://schemas.microsoft.com/office/drawing/2014/main" id="{90D849C3-FA89-60BF-2874-E2803746DACE}"/>
              </a:ext>
            </a:extLst>
          </p:cNvPr>
          <p:cNvSpPr/>
          <p:nvPr/>
        </p:nvSpPr>
        <p:spPr>
          <a:xfrm>
            <a:off x="9556808" y="4711805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8" name="Shape 361">
            <a:extLst>
              <a:ext uri="{FF2B5EF4-FFF2-40B4-BE49-F238E27FC236}">
                <a16:creationId xmlns:a16="http://schemas.microsoft.com/office/drawing/2014/main" id="{8E66ED28-98C8-E8A1-EAF4-580A0765F11F}"/>
              </a:ext>
            </a:extLst>
          </p:cNvPr>
          <p:cNvSpPr/>
          <p:nvPr/>
        </p:nvSpPr>
        <p:spPr>
          <a:xfrm>
            <a:off x="10236520" y="5061112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9" name="Shape 362">
            <a:extLst>
              <a:ext uri="{FF2B5EF4-FFF2-40B4-BE49-F238E27FC236}">
                <a16:creationId xmlns:a16="http://schemas.microsoft.com/office/drawing/2014/main" id="{E6CD6B1D-EA0A-EB1B-D511-EEFBF5DE9E09}"/>
              </a:ext>
            </a:extLst>
          </p:cNvPr>
          <p:cNvSpPr/>
          <p:nvPr/>
        </p:nvSpPr>
        <p:spPr>
          <a:xfrm>
            <a:off x="9506140" y="5171997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0" name="Shape 363">
            <a:extLst>
              <a:ext uri="{FF2B5EF4-FFF2-40B4-BE49-F238E27FC236}">
                <a16:creationId xmlns:a16="http://schemas.microsoft.com/office/drawing/2014/main" id="{DCC2B26D-3658-2CC8-D464-9A17C7644A05}"/>
              </a:ext>
            </a:extLst>
          </p:cNvPr>
          <p:cNvSpPr/>
          <p:nvPr/>
        </p:nvSpPr>
        <p:spPr>
          <a:xfrm>
            <a:off x="8237819" y="4744655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1" name="Shape 364">
            <a:extLst>
              <a:ext uri="{FF2B5EF4-FFF2-40B4-BE49-F238E27FC236}">
                <a16:creationId xmlns:a16="http://schemas.microsoft.com/office/drawing/2014/main" id="{2FEC0C23-DD2E-D67D-1E0D-B8BAE9F52DD5}"/>
              </a:ext>
            </a:extLst>
          </p:cNvPr>
          <p:cNvSpPr/>
          <p:nvPr/>
        </p:nvSpPr>
        <p:spPr>
          <a:xfrm>
            <a:off x="7734370" y="5118006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2" name="Shape 365">
            <a:extLst>
              <a:ext uri="{FF2B5EF4-FFF2-40B4-BE49-F238E27FC236}">
                <a16:creationId xmlns:a16="http://schemas.microsoft.com/office/drawing/2014/main" id="{0F947319-5A73-8F43-BE9B-72E85E21F3EE}"/>
              </a:ext>
            </a:extLst>
          </p:cNvPr>
          <p:cNvSpPr/>
          <p:nvPr/>
        </p:nvSpPr>
        <p:spPr>
          <a:xfrm>
            <a:off x="7269989" y="5118151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3" name="Shape 366">
            <a:extLst>
              <a:ext uri="{FF2B5EF4-FFF2-40B4-BE49-F238E27FC236}">
                <a16:creationId xmlns:a16="http://schemas.microsoft.com/office/drawing/2014/main" id="{04D07D4F-2BCE-309F-9C77-B81D51A2BBE6}"/>
              </a:ext>
            </a:extLst>
          </p:cNvPr>
          <p:cNvSpPr/>
          <p:nvPr/>
        </p:nvSpPr>
        <p:spPr>
          <a:xfrm>
            <a:off x="8583684" y="4967764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4" name="Shape 367">
            <a:extLst>
              <a:ext uri="{FF2B5EF4-FFF2-40B4-BE49-F238E27FC236}">
                <a16:creationId xmlns:a16="http://schemas.microsoft.com/office/drawing/2014/main" id="{19A34590-55AF-6025-1B7E-6108B2D65AC3}"/>
              </a:ext>
            </a:extLst>
          </p:cNvPr>
          <p:cNvSpPr/>
          <p:nvPr/>
        </p:nvSpPr>
        <p:spPr>
          <a:xfrm>
            <a:off x="10830679" y="4785076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5" name="Shape 368">
            <a:extLst>
              <a:ext uri="{FF2B5EF4-FFF2-40B4-BE49-F238E27FC236}">
                <a16:creationId xmlns:a16="http://schemas.microsoft.com/office/drawing/2014/main" id="{2FA6D7D8-FAA4-6BAA-6D39-0ADA0930F52D}"/>
              </a:ext>
            </a:extLst>
          </p:cNvPr>
          <p:cNvSpPr/>
          <p:nvPr/>
        </p:nvSpPr>
        <p:spPr>
          <a:xfrm>
            <a:off x="8706699" y="5084524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6" name="Shape 369">
            <a:extLst>
              <a:ext uri="{FF2B5EF4-FFF2-40B4-BE49-F238E27FC236}">
                <a16:creationId xmlns:a16="http://schemas.microsoft.com/office/drawing/2014/main" id="{782208FC-A861-7045-ACCB-A669AA0F93B9}"/>
              </a:ext>
            </a:extLst>
          </p:cNvPr>
          <p:cNvSpPr/>
          <p:nvPr/>
        </p:nvSpPr>
        <p:spPr>
          <a:xfrm>
            <a:off x="8152287" y="5094719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7" name="Shape 370">
            <a:extLst>
              <a:ext uri="{FF2B5EF4-FFF2-40B4-BE49-F238E27FC236}">
                <a16:creationId xmlns:a16="http://schemas.microsoft.com/office/drawing/2014/main" id="{1E78C7D3-E943-429B-3971-3DFB175B8948}"/>
              </a:ext>
            </a:extLst>
          </p:cNvPr>
          <p:cNvSpPr/>
          <p:nvPr/>
        </p:nvSpPr>
        <p:spPr>
          <a:xfrm>
            <a:off x="6934364" y="5058912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8" name="Shape 371">
            <a:extLst>
              <a:ext uri="{FF2B5EF4-FFF2-40B4-BE49-F238E27FC236}">
                <a16:creationId xmlns:a16="http://schemas.microsoft.com/office/drawing/2014/main" id="{2ED4C401-0251-9B9D-626A-D1E7A4434AE1}"/>
              </a:ext>
            </a:extLst>
          </p:cNvPr>
          <p:cNvSpPr/>
          <p:nvPr/>
        </p:nvSpPr>
        <p:spPr>
          <a:xfrm>
            <a:off x="6958792" y="4716061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9" name="Shape 372">
            <a:extLst>
              <a:ext uri="{FF2B5EF4-FFF2-40B4-BE49-F238E27FC236}">
                <a16:creationId xmlns:a16="http://schemas.microsoft.com/office/drawing/2014/main" id="{8F4F02EF-9DB9-3417-23A9-2B558C2512FC}"/>
              </a:ext>
            </a:extLst>
          </p:cNvPr>
          <p:cNvSpPr/>
          <p:nvPr/>
        </p:nvSpPr>
        <p:spPr>
          <a:xfrm>
            <a:off x="9306166" y="5040236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0" name="Shape 373">
            <a:extLst>
              <a:ext uri="{FF2B5EF4-FFF2-40B4-BE49-F238E27FC236}">
                <a16:creationId xmlns:a16="http://schemas.microsoft.com/office/drawing/2014/main" id="{FAC307B2-3705-5650-FE57-ECDEECA01D81}"/>
              </a:ext>
            </a:extLst>
          </p:cNvPr>
          <p:cNvSpPr/>
          <p:nvPr/>
        </p:nvSpPr>
        <p:spPr>
          <a:xfrm>
            <a:off x="9182857" y="5020439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1" name="Shape 374">
            <a:extLst>
              <a:ext uri="{FF2B5EF4-FFF2-40B4-BE49-F238E27FC236}">
                <a16:creationId xmlns:a16="http://schemas.microsoft.com/office/drawing/2014/main" id="{4B3239BE-7491-DA64-CAFB-A2E541B38F08}"/>
              </a:ext>
            </a:extLst>
          </p:cNvPr>
          <p:cNvSpPr/>
          <p:nvPr/>
        </p:nvSpPr>
        <p:spPr>
          <a:xfrm>
            <a:off x="8464542" y="4709933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2" name="Shape 375">
            <a:extLst>
              <a:ext uri="{FF2B5EF4-FFF2-40B4-BE49-F238E27FC236}">
                <a16:creationId xmlns:a16="http://schemas.microsoft.com/office/drawing/2014/main" id="{2258632C-0449-793C-3CF3-DB8EB932CB0E}"/>
              </a:ext>
            </a:extLst>
          </p:cNvPr>
          <p:cNvSpPr/>
          <p:nvPr/>
        </p:nvSpPr>
        <p:spPr>
          <a:xfrm>
            <a:off x="8377686" y="5210438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3" name="Shape 376">
            <a:extLst>
              <a:ext uri="{FF2B5EF4-FFF2-40B4-BE49-F238E27FC236}">
                <a16:creationId xmlns:a16="http://schemas.microsoft.com/office/drawing/2014/main" id="{1DCDB2F6-471D-1ABE-122B-319CC652F8F8}"/>
              </a:ext>
            </a:extLst>
          </p:cNvPr>
          <p:cNvSpPr/>
          <p:nvPr/>
        </p:nvSpPr>
        <p:spPr>
          <a:xfrm>
            <a:off x="7171306" y="5110972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4" name="Shape 377">
            <a:extLst>
              <a:ext uri="{FF2B5EF4-FFF2-40B4-BE49-F238E27FC236}">
                <a16:creationId xmlns:a16="http://schemas.microsoft.com/office/drawing/2014/main" id="{1FD7FB70-4E8E-A237-1054-265F6A81AF1A}"/>
              </a:ext>
            </a:extLst>
          </p:cNvPr>
          <p:cNvSpPr/>
          <p:nvPr/>
        </p:nvSpPr>
        <p:spPr>
          <a:xfrm>
            <a:off x="7276075" y="4810754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5" name="Shape 378">
            <a:extLst>
              <a:ext uri="{FF2B5EF4-FFF2-40B4-BE49-F238E27FC236}">
                <a16:creationId xmlns:a16="http://schemas.microsoft.com/office/drawing/2014/main" id="{6FF782C9-06E4-3DA0-A318-6FA0E39B86A9}"/>
              </a:ext>
            </a:extLst>
          </p:cNvPr>
          <p:cNvSpPr/>
          <p:nvPr/>
        </p:nvSpPr>
        <p:spPr>
          <a:xfrm>
            <a:off x="11140497" y="4793464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6" name="Shape 379">
            <a:extLst>
              <a:ext uri="{FF2B5EF4-FFF2-40B4-BE49-F238E27FC236}">
                <a16:creationId xmlns:a16="http://schemas.microsoft.com/office/drawing/2014/main" id="{AE773340-1D30-8716-3A75-B0F57D3B2817}"/>
              </a:ext>
            </a:extLst>
          </p:cNvPr>
          <p:cNvSpPr/>
          <p:nvPr/>
        </p:nvSpPr>
        <p:spPr>
          <a:xfrm>
            <a:off x="7168422" y="5054731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7" name="Shape 380">
            <a:extLst>
              <a:ext uri="{FF2B5EF4-FFF2-40B4-BE49-F238E27FC236}">
                <a16:creationId xmlns:a16="http://schemas.microsoft.com/office/drawing/2014/main" id="{C441E09E-8723-73FF-99CC-0AF5F0728DF4}"/>
              </a:ext>
            </a:extLst>
          </p:cNvPr>
          <p:cNvSpPr/>
          <p:nvPr/>
        </p:nvSpPr>
        <p:spPr>
          <a:xfrm>
            <a:off x="7837064" y="5020033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8" name="Shape 381">
            <a:extLst>
              <a:ext uri="{FF2B5EF4-FFF2-40B4-BE49-F238E27FC236}">
                <a16:creationId xmlns:a16="http://schemas.microsoft.com/office/drawing/2014/main" id="{E4205304-9CC6-2DD8-3ED1-071E6661C87E}"/>
              </a:ext>
            </a:extLst>
          </p:cNvPr>
          <p:cNvSpPr/>
          <p:nvPr/>
        </p:nvSpPr>
        <p:spPr>
          <a:xfrm>
            <a:off x="9233854" y="4825568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9" name="Shape 382">
            <a:extLst>
              <a:ext uri="{FF2B5EF4-FFF2-40B4-BE49-F238E27FC236}">
                <a16:creationId xmlns:a16="http://schemas.microsoft.com/office/drawing/2014/main" id="{D106C585-90E9-AE50-01A0-FC7345927A12}"/>
              </a:ext>
            </a:extLst>
          </p:cNvPr>
          <p:cNvSpPr/>
          <p:nvPr/>
        </p:nvSpPr>
        <p:spPr>
          <a:xfrm>
            <a:off x="9036432" y="4866520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0" name="Shape 383">
            <a:extLst>
              <a:ext uri="{FF2B5EF4-FFF2-40B4-BE49-F238E27FC236}">
                <a16:creationId xmlns:a16="http://schemas.microsoft.com/office/drawing/2014/main" id="{A0AB3AC9-FC39-F810-BFAD-789B62EFCFE9}"/>
              </a:ext>
            </a:extLst>
          </p:cNvPr>
          <p:cNvSpPr/>
          <p:nvPr/>
        </p:nvSpPr>
        <p:spPr>
          <a:xfrm>
            <a:off x="8393598" y="4729707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1" name="Shape 384">
            <a:extLst>
              <a:ext uri="{FF2B5EF4-FFF2-40B4-BE49-F238E27FC236}">
                <a16:creationId xmlns:a16="http://schemas.microsoft.com/office/drawing/2014/main" id="{6AFD8673-00A6-0936-98D9-FD85EC7B7C18}"/>
              </a:ext>
            </a:extLst>
          </p:cNvPr>
          <p:cNvSpPr/>
          <p:nvPr/>
        </p:nvSpPr>
        <p:spPr>
          <a:xfrm>
            <a:off x="7305069" y="5171169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2" name="Shape 385">
            <a:extLst>
              <a:ext uri="{FF2B5EF4-FFF2-40B4-BE49-F238E27FC236}">
                <a16:creationId xmlns:a16="http://schemas.microsoft.com/office/drawing/2014/main" id="{0EDC6321-744C-7784-B3B2-A6E56669063C}"/>
              </a:ext>
            </a:extLst>
          </p:cNvPr>
          <p:cNvSpPr/>
          <p:nvPr/>
        </p:nvSpPr>
        <p:spPr>
          <a:xfrm>
            <a:off x="8583786" y="5194363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3" name="Shape 386">
            <a:extLst>
              <a:ext uri="{FF2B5EF4-FFF2-40B4-BE49-F238E27FC236}">
                <a16:creationId xmlns:a16="http://schemas.microsoft.com/office/drawing/2014/main" id="{AE8A1324-F760-9790-E259-3DBA21A68982}"/>
              </a:ext>
            </a:extLst>
          </p:cNvPr>
          <p:cNvSpPr/>
          <p:nvPr/>
        </p:nvSpPr>
        <p:spPr>
          <a:xfrm>
            <a:off x="10971667" y="5193894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4" name="Shape 387">
            <a:extLst>
              <a:ext uri="{FF2B5EF4-FFF2-40B4-BE49-F238E27FC236}">
                <a16:creationId xmlns:a16="http://schemas.microsoft.com/office/drawing/2014/main" id="{A0AA4080-1783-CD03-2D48-67B878C8F78A}"/>
              </a:ext>
            </a:extLst>
          </p:cNvPr>
          <p:cNvSpPr/>
          <p:nvPr/>
        </p:nvSpPr>
        <p:spPr>
          <a:xfrm>
            <a:off x="8927961" y="4750310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5" name="Shape 388">
            <a:extLst>
              <a:ext uri="{FF2B5EF4-FFF2-40B4-BE49-F238E27FC236}">
                <a16:creationId xmlns:a16="http://schemas.microsoft.com/office/drawing/2014/main" id="{EDB94040-004C-5FCA-1D59-89F9D131D224}"/>
              </a:ext>
            </a:extLst>
          </p:cNvPr>
          <p:cNvSpPr/>
          <p:nvPr/>
        </p:nvSpPr>
        <p:spPr>
          <a:xfrm>
            <a:off x="7874629" y="5108545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6" name="Shape 389">
            <a:extLst>
              <a:ext uri="{FF2B5EF4-FFF2-40B4-BE49-F238E27FC236}">
                <a16:creationId xmlns:a16="http://schemas.microsoft.com/office/drawing/2014/main" id="{CE4232B6-1846-2A75-F162-D8A77D66CC15}"/>
              </a:ext>
            </a:extLst>
          </p:cNvPr>
          <p:cNvSpPr/>
          <p:nvPr/>
        </p:nvSpPr>
        <p:spPr>
          <a:xfrm>
            <a:off x="7674995" y="5239179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7" name="Shape 390">
            <a:extLst>
              <a:ext uri="{FF2B5EF4-FFF2-40B4-BE49-F238E27FC236}">
                <a16:creationId xmlns:a16="http://schemas.microsoft.com/office/drawing/2014/main" id="{62A21EDB-0154-E15E-00C5-B7CA79AAD3F5}"/>
              </a:ext>
            </a:extLst>
          </p:cNvPr>
          <p:cNvSpPr/>
          <p:nvPr/>
        </p:nvSpPr>
        <p:spPr>
          <a:xfrm>
            <a:off x="11215895" y="5144861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8" name="Shape 391">
            <a:extLst>
              <a:ext uri="{FF2B5EF4-FFF2-40B4-BE49-F238E27FC236}">
                <a16:creationId xmlns:a16="http://schemas.microsoft.com/office/drawing/2014/main" id="{DF9B871D-9A74-9486-27B6-5986E9E544B8}"/>
              </a:ext>
            </a:extLst>
          </p:cNvPr>
          <p:cNvSpPr/>
          <p:nvPr/>
        </p:nvSpPr>
        <p:spPr>
          <a:xfrm>
            <a:off x="8372383" y="5070114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9" name="Shape 392">
            <a:extLst>
              <a:ext uri="{FF2B5EF4-FFF2-40B4-BE49-F238E27FC236}">
                <a16:creationId xmlns:a16="http://schemas.microsoft.com/office/drawing/2014/main" id="{F131CC49-AF98-7472-8869-B70710420209}"/>
              </a:ext>
            </a:extLst>
          </p:cNvPr>
          <p:cNvSpPr/>
          <p:nvPr/>
        </p:nvSpPr>
        <p:spPr>
          <a:xfrm>
            <a:off x="7723318" y="4755291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0" name="Shape 393">
            <a:extLst>
              <a:ext uri="{FF2B5EF4-FFF2-40B4-BE49-F238E27FC236}">
                <a16:creationId xmlns:a16="http://schemas.microsoft.com/office/drawing/2014/main" id="{133862A5-3C8B-7D41-C50F-F3E734864A0F}"/>
              </a:ext>
            </a:extLst>
          </p:cNvPr>
          <p:cNvSpPr/>
          <p:nvPr/>
        </p:nvSpPr>
        <p:spPr>
          <a:xfrm>
            <a:off x="9199316" y="4916001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1" name="Shape 394">
            <a:extLst>
              <a:ext uri="{FF2B5EF4-FFF2-40B4-BE49-F238E27FC236}">
                <a16:creationId xmlns:a16="http://schemas.microsoft.com/office/drawing/2014/main" id="{CB307760-7EAE-820A-96CE-DBA4DEAD4216}"/>
              </a:ext>
            </a:extLst>
          </p:cNvPr>
          <p:cNvSpPr/>
          <p:nvPr/>
        </p:nvSpPr>
        <p:spPr>
          <a:xfrm>
            <a:off x="7167916" y="4676474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2" name="Shape 395">
            <a:extLst>
              <a:ext uri="{FF2B5EF4-FFF2-40B4-BE49-F238E27FC236}">
                <a16:creationId xmlns:a16="http://schemas.microsoft.com/office/drawing/2014/main" id="{A85F461A-0CC8-7558-845C-30C74932F252}"/>
              </a:ext>
            </a:extLst>
          </p:cNvPr>
          <p:cNvSpPr/>
          <p:nvPr/>
        </p:nvSpPr>
        <p:spPr>
          <a:xfrm>
            <a:off x="9180717" y="4633787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3" name="Shape 396">
            <a:extLst>
              <a:ext uri="{FF2B5EF4-FFF2-40B4-BE49-F238E27FC236}">
                <a16:creationId xmlns:a16="http://schemas.microsoft.com/office/drawing/2014/main" id="{B621B1D3-F78E-258F-17EA-3A36F86B3BDC}"/>
              </a:ext>
            </a:extLst>
          </p:cNvPr>
          <p:cNvSpPr/>
          <p:nvPr/>
        </p:nvSpPr>
        <p:spPr>
          <a:xfrm>
            <a:off x="8528449" y="4679196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4" name="Shape 397">
            <a:extLst>
              <a:ext uri="{FF2B5EF4-FFF2-40B4-BE49-F238E27FC236}">
                <a16:creationId xmlns:a16="http://schemas.microsoft.com/office/drawing/2014/main" id="{BC96DD87-02F8-D3B1-A6BA-A4E3B3026BE9}"/>
              </a:ext>
            </a:extLst>
          </p:cNvPr>
          <p:cNvSpPr/>
          <p:nvPr/>
        </p:nvSpPr>
        <p:spPr>
          <a:xfrm>
            <a:off x="7524153" y="4807853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5" name="Shape 398">
            <a:extLst>
              <a:ext uri="{FF2B5EF4-FFF2-40B4-BE49-F238E27FC236}">
                <a16:creationId xmlns:a16="http://schemas.microsoft.com/office/drawing/2014/main" id="{DA6039BD-C3E6-835B-5B4D-294A75DB9E3A}"/>
              </a:ext>
            </a:extLst>
          </p:cNvPr>
          <p:cNvSpPr/>
          <p:nvPr/>
        </p:nvSpPr>
        <p:spPr>
          <a:xfrm>
            <a:off x="10323193" y="4725215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6" name="Shape 399">
            <a:extLst>
              <a:ext uri="{FF2B5EF4-FFF2-40B4-BE49-F238E27FC236}">
                <a16:creationId xmlns:a16="http://schemas.microsoft.com/office/drawing/2014/main" id="{43F2F4D1-4FE2-3715-27D7-94610574DEB7}"/>
              </a:ext>
            </a:extLst>
          </p:cNvPr>
          <p:cNvSpPr/>
          <p:nvPr/>
        </p:nvSpPr>
        <p:spPr>
          <a:xfrm>
            <a:off x="7721997" y="4874258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7" name="Shape 400">
            <a:extLst>
              <a:ext uri="{FF2B5EF4-FFF2-40B4-BE49-F238E27FC236}">
                <a16:creationId xmlns:a16="http://schemas.microsoft.com/office/drawing/2014/main" id="{128805BC-71F7-F8F7-72B5-E10C04E61E94}"/>
              </a:ext>
            </a:extLst>
          </p:cNvPr>
          <p:cNvSpPr/>
          <p:nvPr/>
        </p:nvSpPr>
        <p:spPr>
          <a:xfrm>
            <a:off x="9259078" y="4797231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8" name="Shape 401">
            <a:extLst>
              <a:ext uri="{FF2B5EF4-FFF2-40B4-BE49-F238E27FC236}">
                <a16:creationId xmlns:a16="http://schemas.microsoft.com/office/drawing/2014/main" id="{42F747EE-C0B5-E9C5-FC32-D6C7B486A1B3}"/>
              </a:ext>
            </a:extLst>
          </p:cNvPr>
          <p:cNvSpPr/>
          <p:nvPr/>
        </p:nvSpPr>
        <p:spPr>
          <a:xfrm>
            <a:off x="10847820" y="4994614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9" name="Shape 402">
            <a:extLst>
              <a:ext uri="{FF2B5EF4-FFF2-40B4-BE49-F238E27FC236}">
                <a16:creationId xmlns:a16="http://schemas.microsoft.com/office/drawing/2014/main" id="{2D152041-55B0-803E-C5B7-0A25AB2184EF}"/>
              </a:ext>
            </a:extLst>
          </p:cNvPr>
          <p:cNvSpPr/>
          <p:nvPr/>
        </p:nvSpPr>
        <p:spPr>
          <a:xfrm>
            <a:off x="11008006" y="4930944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0" name="Shape 403">
            <a:extLst>
              <a:ext uri="{FF2B5EF4-FFF2-40B4-BE49-F238E27FC236}">
                <a16:creationId xmlns:a16="http://schemas.microsoft.com/office/drawing/2014/main" id="{C9B6635A-FCC2-E6B4-C44A-47F711B7E7D2}"/>
              </a:ext>
            </a:extLst>
          </p:cNvPr>
          <p:cNvSpPr/>
          <p:nvPr/>
        </p:nvSpPr>
        <p:spPr>
          <a:xfrm>
            <a:off x="7485426" y="5205961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1" name="Shape 404">
            <a:extLst>
              <a:ext uri="{FF2B5EF4-FFF2-40B4-BE49-F238E27FC236}">
                <a16:creationId xmlns:a16="http://schemas.microsoft.com/office/drawing/2014/main" id="{E78AA1C5-33C5-ADAB-0058-F1D2233EAA5A}"/>
              </a:ext>
            </a:extLst>
          </p:cNvPr>
          <p:cNvSpPr/>
          <p:nvPr/>
        </p:nvSpPr>
        <p:spPr>
          <a:xfrm>
            <a:off x="11177238" y="5002165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2" name="Shape 405">
            <a:extLst>
              <a:ext uri="{FF2B5EF4-FFF2-40B4-BE49-F238E27FC236}">
                <a16:creationId xmlns:a16="http://schemas.microsoft.com/office/drawing/2014/main" id="{9BB9FE44-2714-D006-A632-24C08AB180D6}"/>
              </a:ext>
            </a:extLst>
          </p:cNvPr>
          <p:cNvSpPr/>
          <p:nvPr/>
        </p:nvSpPr>
        <p:spPr>
          <a:xfrm>
            <a:off x="10139297" y="5009209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3" name="Shape 406">
            <a:extLst>
              <a:ext uri="{FF2B5EF4-FFF2-40B4-BE49-F238E27FC236}">
                <a16:creationId xmlns:a16="http://schemas.microsoft.com/office/drawing/2014/main" id="{C57E6627-A7FA-B6A5-49AB-1FD57F6B24DA}"/>
              </a:ext>
            </a:extLst>
          </p:cNvPr>
          <p:cNvSpPr/>
          <p:nvPr/>
        </p:nvSpPr>
        <p:spPr>
          <a:xfrm>
            <a:off x="7447513" y="5028950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4" name="Shape 407">
            <a:extLst>
              <a:ext uri="{FF2B5EF4-FFF2-40B4-BE49-F238E27FC236}">
                <a16:creationId xmlns:a16="http://schemas.microsoft.com/office/drawing/2014/main" id="{C09B9311-24B4-4B86-3B3D-C7A658E4D51F}"/>
              </a:ext>
            </a:extLst>
          </p:cNvPr>
          <p:cNvSpPr/>
          <p:nvPr/>
        </p:nvSpPr>
        <p:spPr>
          <a:xfrm>
            <a:off x="7654798" y="5041293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5" name="Shape 408">
            <a:extLst>
              <a:ext uri="{FF2B5EF4-FFF2-40B4-BE49-F238E27FC236}">
                <a16:creationId xmlns:a16="http://schemas.microsoft.com/office/drawing/2014/main" id="{760AB0BC-5299-62B9-57A7-6ABC6E80CC0A}"/>
              </a:ext>
            </a:extLst>
          </p:cNvPr>
          <p:cNvSpPr/>
          <p:nvPr/>
        </p:nvSpPr>
        <p:spPr>
          <a:xfrm>
            <a:off x="8732733" y="5012586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6" name="Shape 409">
            <a:extLst>
              <a:ext uri="{FF2B5EF4-FFF2-40B4-BE49-F238E27FC236}">
                <a16:creationId xmlns:a16="http://schemas.microsoft.com/office/drawing/2014/main" id="{3C36B7A9-10B9-C279-B0DE-D23A4866BC98}"/>
              </a:ext>
            </a:extLst>
          </p:cNvPr>
          <p:cNvSpPr/>
          <p:nvPr/>
        </p:nvSpPr>
        <p:spPr>
          <a:xfrm>
            <a:off x="10455823" y="4715390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7" name="Shape 410">
            <a:extLst>
              <a:ext uri="{FF2B5EF4-FFF2-40B4-BE49-F238E27FC236}">
                <a16:creationId xmlns:a16="http://schemas.microsoft.com/office/drawing/2014/main" id="{A1F02524-7332-6763-5FDC-3D3A78A33F37}"/>
              </a:ext>
            </a:extLst>
          </p:cNvPr>
          <p:cNvSpPr/>
          <p:nvPr/>
        </p:nvSpPr>
        <p:spPr>
          <a:xfrm>
            <a:off x="7344390" y="4697949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8" name="Shape 411">
            <a:extLst>
              <a:ext uri="{FF2B5EF4-FFF2-40B4-BE49-F238E27FC236}">
                <a16:creationId xmlns:a16="http://schemas.microsoft.com/office/drawing/2014/main" id="{E9DFFA13-BA8C-33A3-E6C2-CB2D0F91D879}"/>
              </a:ext>
            </a:extLst>
          </p:cNvPr>
          <p:cNvSpPr/>
          <p:nvPr/>
        </p:nvSpPr>
        <p:spPr>
          <a:xfrm>
            <a:off x="10618068" y="4776471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9" name="Shape 412">
            <a:extLst>
              <a:ext uri="{FF2B5EF4-FFF2-40B4-BE49-F238E27FC236}">
                <a16:creationId xmlns:a16="http://schemas.microsoft.com/office/drawing/2014/main" id="{DD3EAAAB-FAE7-82CC-5EF6-A08538F34951}"/>
              </a:ext>
            </a:extLst>
          </p:cNvPr>
          <p:cNvSpPr/>
          <p:nvPr/>
        </p:nvSpPr>
        <p:spPr>
          <a:xfrm>
            <a:off x="11033667" y="5016859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0" name="Shape 413">
            <a:extLst>
              <a:ext uri="{FF2B5EF4-FFF2-40B4-BE49-F238E27FC236}">
                <a16:creationId xmlns:a16="http://schemas.microsoft.com/office/drawing/2014/main" id="{709D08CA-0AED-C466-F08B-F68117120501}"/>
              </a:ext>
            </a:extLst>
          </p:cNvPr>
          <p:cNvSpPr/>
          <p:nvPr/>
        </p:nvSpPr>
        <p:spPr>
          <a:xfrm>
            <a:off x="8285912" y="5054802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1" name="Shape 414">
            <a:extLst>
              <a:ext uri="{FF2B5EF4-FFF2-40B4-BE49-F238E27FC236}">
                <a16:creationId xmlns:a16="http://schemas.microsoft.com/office/drawing/2014/main" id="{B78001E3-AE51-D5CC-6FD9-520711C75FFD}"/>
              </a:ext>
            </a:extLst>
          </p:cNvPr>
          <p:cNvSpPr/>
          <p:nvPr/>
        </p:nvSpPr>
        <p:spPr>
          <a:xfrm>
            <a:off x="8983400" y="5047333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2" name="Shape 415">
            <a:extLst>
              <a:ext uri="{FF2B5EF4-FFF2-40B4-BE49-F238E27FC236}">
                <a16:creationId xmlns:a16="http://schemas.microsoft.com/office/drawing/2014/main" id="{72FF5192-20D7-0B5A-3ED6-F77D978ED8F6}"/>
              </a:ext>
            </a:extLst>
          </p:cNvPr>
          <p:cNvSpPr/>
          <p:nvPr/>
        </p:nvSpPr>
        <p:spPr>
          <a:xfrm>
            <a:off x="7872901" y="4874044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3" name="Shape 416">
            <a:extLst>
              <a:ext uri="{FF2B5EF4-FFF2-40B4-BE49-F238E27FC236}">
                <a16:creationId xmlns:a16="http://schemas.microsoft.com/office/drawing/2014/main" id="{8F812894-1FC8-B9D6-8736-5DE24A95BA2B}"/>
              </a:ext>
            </a:extLst>
          </p:cNvPr>
          <p:cNvSpPr/>
          <p:nvPr/>
        </p:nvSpPr>
        <p:spPr>
          <a:xfrm>
            <a:off x="8145607" y="4892170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4" name="Shape 417">
            <a:extLst>
              <a:ext uri="{FF2B5EF4-FFF2-40B4-BE49-F238E27FC236}">
                <a16:creationId xmlns:a16="http://schemas.microsoft.com/office/drawing/2014/main" id="{0169C201-0E28-05E8-6E07-4537E577B0F9}"/>
              </a:ext>
            </a:extLst>
          </p:cNvPr>
          <p:cNvSpPr/>
          <p:nvPr/>
        </p:nvSpPr>
        <p:spPr>
          <a:xfrm>
            <a:off x="7990347" y="5147046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5" name="Shape 418">
            <a:extLst>
              <a:ext uri="{FF2B5EF4-FFF2-40B4-BE49-F238E27FC236}">
                <a16:creationId xmlns:a16="http://schemas.microsoft.com/office/drawing/2014/main" id="{E9F6B55C-2388-DD33-5CF0-C418B267932F}"/>
              </a:ext>
            </a:extLst>
          </p:cNvPr>
          <p:cNvSpPr/>
          <p:nvPr/>
        </p:nvSpPr>
        <p:spPr>
          <a:xfrm>
            <a:off x="10153846" y="4953494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6" name="Shape 419">
            <a:extLst>
              <a:ext uri="{FF2B5EF4-FFF2-40B4-BE49-F238E27FC236}">
                <a16:creationId xmlns:a16="http://schemas.microsoft.com/office/drawing/2014/main" id="{4C5ED036-2436-16C2-10E7-543D7A3FF069}"/>
              </a:ext>
            </a:extLst>
          </p:cNvPr>
          <p:cNvSpPr/>
          <p:nvPr/>
        </p:nvSpPr>
        <p:spPr>
          <a:xfrm>
            <a:off x="9819126" y="5169623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7" name="Shape 420">
            <a:extLst>
              <a:ext uri="{FF2B5EF4-FFF2-40B4-BE49-F238E27FC236}">
                <a16:creationId xmlns:a16="http://schemas.microsoft.com/office/drawing/2014/main" id="{F6E745D3-88F7-4266-FC76-05C3E1B3EA35}"/>
              </a:ext>
            </a:extLst>
          </p:cNvPr>
          <p:cNvSpPr/>
          <p:nvPr/>
        </p:nvSpPr>
        <p:spPr>
          <a:xfrm>
            <a:off x="7977523" y="5249493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8" name="Shape 421">
            <a:extLst>
              <a:ext uri="{FF2B5EF4-FFF2-40B4-BE49-F238E27FC236}">
                <a16:creationId xmlns:a16="http://schemas.microsoft.com/office/drawing/2014/main" id="{4ADD0E97-E0AF-30EB-6CE2-2CCDD4EFE2D5}"/>
              </a:ext>
            </a:extLst>
          </p:cNvPr>
          <p:cNvSpPr/>
          <p:nvPr/>
        </p:nvSpPr>
        <p:spPr>
          <a:xfrm>
            <a:off x="10368839" y="4922303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9" name="Shape 422">
            <a:extLst>
              <a:ext uri="{FF2B5EF4-FFF2-40B4-BE49-F238E27FC236}">
                <a16:creationId xmlns:a16="http://schemas.microsoft.com/office/drawing/2014/main" id="{6AF6F1CC-17E6-127E-B5C0-1F30ECD5EDC6}"/>
              </a:ext>
            </a:extLst>
          </p:cNvPr>
          <p:cNvSpPr/>
          <p:nvPr/>
        </p:nvSpPr>
        <p:spPr>
          <a:xfrm>
            <a:off x="9140809" y="4737260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0" name="Shape 423">
            <a:extLst>
              <a:ext uri="{FF2B5EF4-FFF2-40B4-BE49-F238E27FC236}">
                <a16:creationId xmlns:a16="http://schemas.microsoft.com/office/drawing/2014/main" id="{00095418-4D5D-0388-2EDC-C9BBF74CADF6}"/>
              </a:ext>
            </a:extLst>
          </p:cNvPr>
          <p:cNvSpPr/>
          <p:nvPr/>
        </p:nvSpPr>
        <p:spPr>
          <a:xfrm>
            <a:off x="9640375" y="5021306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1" name="Shape 424">
            <a:extLst>
              <a:ext uri="{FF2B5EF4-FFF2-40B4-BE49-F238E27FC236}">
                <a16:creationId xmlns:a16="http://schemas.microsoft.com/office/drawing/2014/main" id="{EE9E29B4-FCF1-4DA4-51AC-736AB24F09B8}"/>
              </a:ext>
            </a:extLst>
          </p:cNvPr>
          <p:cNvSpPr/>
          <p:nvPr/>
        </p:nvSpPr>
        <p:spPr>
          <a:xfrm>
            <a:off x="10090874" y="5074304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2" name="Shape 425">
            <a:extLst>
              <a:ext uri="{FF2B5EF4-FFF2-40B4-BE49-F238E27FC236}">
                <a16:creationId xmlns:a16="http://schemas.microsoft.com/office/drawing/2014/main" id="{DC335114-1854-8D44-43D4-AD43A9F4E913}"/>
              </a:ext>
            </a:extLst>
          </p:cNvPr>
          <p:cNvSpPr/>
          <p:nvPr/>
        </p:nvSpPr>
        <p:spPr>
          <a:xfrm>
            <a:off x="6993090" y="4913083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3" name="Shape 426">
            <a:extLst>
              <a:ext uri="{FF2B5EF4-FFF2-40B4-BE49-F238E27FC236}">
                <a16:creationId xmlns:a16="http://schemas.microsoft.com/office/drawing/2014/main" id="{9FB5A5C4-4500-ED30-8B61-D8436D892FEA}"/>
              </a:ext>
            </a:extLst>
          </p:cNvPr>
          <p:cNvSpPr/>
          <p:nvPr/>
        </p:nvSpPr>
        <p:spPr>
          <a:xfrm>
            <a:off x="10342466" y="4813899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4" name="Shape 427">
            <a:extLst>
              <a:ext uri="{FF2B5EF4-FFF2-40B4-BE49-F238E27FC236}">
                <a16:creationId xmlns:a16="http://schemas.microsoft.com/office/drawing/2014/main" id="{0379C759-12A9-FD3E-B9B9-7496265C46D3}"/>
              </a:ext>
            </a:extLst>
          </p:cNvPr>
          <p:cNvSpPr/>
          <p:nvPr/>
        </p:nvSpPr>
        <p:spPr>
          <a:xfrm>
            <a:off x="9660666" y="4690460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5" name="Shape 428">
            <a:extLst>
              <a:ext uri="{FF2B5EF4-FFF2-40B4-BE49-F238E27FC236}">
                <a16:creationId xmlns:a16="http://schemas.microsoft.com/office/drawing/2014/main" id="{4D618E64-AD1A-921B-676B-7AB43EAEE61A}"/>
              </a:ext>
            </a:extLst>
          </p:cNvPr>
          <p:cNvSpPr/>
          <p:nvPr/>
        </p:nvSpPr>
        <p:spPr>
          <a:xfrm>
            <a:off x="11026767" y="5179444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6" name="Shape 429">
            <a:extLst>
              <a:ext uri="{FF2B5EF4-FFF2-40B4-BE49-F238E27FC236}">
                <a16:creationId xmlns:a16="http://schemas.microsoft.com/office/drawing/2014/main" id="{24B9E9C2-C4DD-9889-FFFF-AA0A0A74C2F2}"/>
              </a:ext>
            </a:extLst>
          </p:cNvPr>
          <p:cNvSpPr/>
          <p:nvPr/>
        </p:nvSpPr>
        <p:spPr>
          <a:xfrm>
            <a:off x="10583062" y="4926008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7" name="Shape 430">
            <a:extLst>
              <a:ext uri="{FF2B5EF4-FFF2-40B4-BE49-F238E27FC236}">
                <a16:creationId xmlns:a16="http://schemas.microsoft.com/office/drawing/2014/main" id="{2170E296-5D02-410F-D48B-EE0332BFD261}"/>
              </a:ext>
            </a:extLst>
          </p:cNvPr>
          <p:cNvSpPr/>
          <p:nvPr/>
        </p:nvSpPr>
        <p:spPr>
          <a:xfrm>
            <a:off x="10399726" y="5046545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8" name="Shape 431">
            <a:extLst>
              <a:ext uri="{FF2B5EF4-FFF2-40B4-BE49-F238E27FC236}">
                <a16:creationId xmlns:a16="http://schemas.microsoft.com/office/drawing/2014/main" id="{EB1C3E0E-5E10-3469-6A8A-9BB0D979214F}"/>
              </a:ext>
            </a:extLst>
          </p:cNvPr>
          <p:cNvSpPr/>
          <p:nvPr/>
        </p:nvSpPr>
        <p:spPr>
          <a:xfrm>
            <a:off x="10083196" y="5145412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9" name="Shape 432">
            <a:extLst>
              <a:ext uri="{FF2B5EF4-FFF2-40B4-BE49-F238E27FC236}">
                <a16:creationId xmlns:a16="http://schemas.microsoft.com/office/drawing/2014/main" id="{73EE71E7-160F-706F-6D81-334F10494DDD}"/>
              </a:ext>
            </a:extLst>
          </p:cNvPr>
          <p:cNvSpPr/>
          <p:nvPr/>
        </p:nvSpPr>
        <p:spPr>
          <a:xfrm>
            <a:off x="10448318" y="4677464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0" name="Shape 433">
            <a:extLst>
              <a:ext uri="{FF2B5EF4-FFF2-40B4-BE49-F238E27FC236}">
                <a16:creationId xmlns:a16="http://schemas.microsoft.com/office/drawing/2014/main" id="{49BCB6A8-129D-8F56-6B9D-11AA8E4164BE}"/>
              </a:ext>
            </a:extLst>
          </p:cNvPr>
          <p:cNvSpPr/>
          <p:nvPr/>
        </p:nvSpPr>
        <p:spPr>
          <a:xfrm>
            <a:off x="9418140" y="5119224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1" name="Shape 434">
            <a:extLst>
              <a:ext uri="{FF2B5EF4-FFF2-40B4-BE49-F238E27FC236}">
                <a16:creationId xmlns:a16="http://schemas.microsoft.com/office/drawing/2014/main" id="{12D37230-5BC4-F540-312C-73B928E7EA0C}"/>
              </a:ext>
            </a:extLst>
          </p:cNvPr>
          <p:cNvSpPr/>
          <p:nvPr/>
        </p:nvSpPr>
        <p:spPr>
          <a:xfrm>
            <a:off x="8637530" y="5011063"/>
            <a:ext cx="45720" cy="45720"/>
          </a:xfrm>
          <a:prstGeom prst="ellipse">
            <a:avLst/>
          </a:prstGeom>
          <a:solidFill>
            <a:srgbClr val="08F4D6">
              <a:alpha val="65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2" name="Shape 435">
            <a:extLst>
              <a:ext uri="{FF2B5EF4-FFF2-40B4-BE49-F238E27FC236}">
                <a16:creationId xmlns:a16="http://schemas.microsoft.com/office/drawing/2014/main" id="{564CCCEB-327A-421D-C360-ED8231B62478}"/>
              </a:ext>
            </a:extLst>
          </p:cNvPr>
          <p:cNvSpPr/>
          <p:nvPr/>
        </p:nvSpPr>
        <p:spPr>
          <a:xfrm>
            <a:off x="548640" y="5495544"/>
            <a:ext cx="11109960" cy="981456"/>
          </a:xfrm>
          <a:prstGeom prst="rect">
            <a:avLst/>
          </a:prstGeom>
          <a:solidFill>
            <a:srgbClr val="121C2E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3" name="Shape 436">
            <a:extLst>
              <a:ext uri="{FF2B5EF4-FFF2-40B4-BE49-F238E27FC236}">
                <a16:creationId xmlns:a16="http://schemas.microsoft.com/office/drawing/2014/main" id="{3D090FA3-12B5-ABED-B16E-8A51B32F3D5E}"/>
              </a:ext>
            </a:extLst>
          </p:cNvPr>
          <p:cNvSpPr/>
          <p:nvPr/>
        </p:nvSpPr>
        <p:spPr>
          <a:xfrm>
            <a:off x="548640" y="5495544"/>
            <a:ext cx="73152" cy="841248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4" name="Text 437">
            <a:extLst>
              <a:ext uri="{FF2B5EF4-FFF2-40B4-BE49-F238E27FC236}">
                <a16:creationId xmlns:a16="http://schemas.microsoft.com/office/drawing/2014/main" id="{6126BC86-DC16-20C5-455B-1B2019FF71DE}"/>
              </a:ext>
            </a:extLst>
          </p:cNvPr>
          <p:cNvSpPr/>
          <p:nvPr/>
        </p:nvSpPr>
        <p:spPr>
          <a:xfrm>
            <a:off x="731520" y="5495544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∞</a:t>
            </a:r>
            <a:endParaRPr lang="en-US" sz="4400" dirty="0"/>
          </a:p>
        </p:txBody>
      </p:sp>
      <p:sp>
        <p:nvSpPr>
          <p:cNvPr id="475" name="Text 438">
            <a:extLst>
              <a:ext uri="{FF2B5EF4-FFF2-40B4-BE49-F238E27FC236}">
                <a16:creationId xmlns:a16="http://schemas.microsoft.com/office/drawing/2014/main" id="{6940A54F-44E4-500F-E275-E4532D9F1F4D}"/>
              </a:ext>
            </a:extLst>
          </p:cNvPr>
          <p:cNvSpPr/>
          <p:nvPr/>
        </p:nvSpPr>
        <p:spPr>
          <a:xfrm>
            <a:off x="2743200" y="562356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EVOLVING THREATS</a:t>
            </a:r>
            <a:endParaRPr lang="en-US" sz="1700" dirty="0"/>
          </a:p>
        </p:txBody>
      </p:sp>
      <p:sp>
        <p:nvSpPr>
          <p:cNvPr id="476" name="Text 439">
            <a:extLst>
              <a:ext uri="{FF2B5EF4-FFF2-40B4-BE49-F238E27FC236}">
                <a16:creationId xmlns:a16="http://schemas.microsoft.com/office/drawing/2014/main" id="{BBD9E5A2-4EED-9432-D550-5165CB914851}"/>
              </a:ext>
            </a:extLst>
          </p:cNvPr>
          <p:cNvSpPr/>
          <p:nvPr/>
        </p:nvSpPr>
        <p:spPr>
          <a:xfrm>
            <a:off x="2743200" y="595274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Specific attacks keep evolving. The invariants don't.</a:t>
            </a:r>
            <a:endParaRPr lang="en-US" sz="1050" dirty="0"/>
          </a:p>
        </p:txBody>
      </p:sp>
      <p:sp>
        <p:nvSpPr>
          <p:cNvPr id="477" name="Shape 440">
            <a:extLst>
              <a:ext uri="{FF2B5EF4-FFF2-40B4-BE49-F238E27FC236}">
                <a16:creationId xmlns:a16="http://schemas.microsoft.com/office/drawing/2014/main" id="{7F98BD58-166B-F4AB-082C-384FF948D79A}"/>
              </a:ext>
            </a:extLst>
          </p:cNvPr>
          <p:cNvSpPr/>
          <p:nvPr/>
        </p:nvSpPr>
        <p:spPr>
          <a:xfrm>
            <a:off x="8618220" y="5641848"/>
            <a:ext cx="1005840" cy="548640"/>
          </a:xfrm>
          <a:prstGeom prst="ellipse">
            <a:avLst/>
          </a:prstGeom>
          <a:solidFill>
            <a:srgbClr val="08F4D6">
              <a:alpha val="20000"/>
            </a:srgbClr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8" name="Text 441">
            <a:extLst>
              <a:ext uri="{FF2B5EF4-FFF2-40B4-BE49-F238E27FC236}">
                <a16:creationId xmlns:a16="http://schemas.microsoft.com/office/drawing/2014/main" id="{650E55DB-921E-488F-7940-7B573D8041AA}"/>
              </a:ext>
            </a:extLst>
          </p:cNvPr>
          <p:cNvSpPr/>
          <p:nvPr/>
        </p:nvSpPr>
        <p:spPr>
          <a:xfrm>
            <a:off x="8481060" y="5634228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∞</a:t>
            </a:r>
            <a:endParaRPr lang="en-US" sz="5600" dirty="0"/>
          </a:p>
        </p:txBody>
      </p:sp>
      <p:sp>
        <p:nvSpPr>
          <p:cNvPr id="479" name="Text 442">
            <a:extLst>
              <a:ext uri="{FF2B5EF4-FFF2-40B4-BE49-F238E27FC236}">
                <a16:creationId xmlns:a16="http://schemas.microsoft.com/office/drawing/2014/main" id="{F4E1D3BB-4580-890C-78C6-007CE6D61622}"/>
              </a:ext>
            </a:extLst>
          </p:cNvPr>
          <p:cNvSpPr/>
          <p:nvPr/>
        </p:nvSpPr>
        <p:spPr>
          <a:xfrm>
            <a:off x="365760" y="6565392"/>
            <a:ext cx="11475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Finite Framework. Infinite Coverage.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9073561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>
          <a:extLst>
            <a:ext uri="{FF2B5EF4-FFF2-40B4-BE49-F238E27FC236}">
              <a16:creationId xmlns:a16="http://schemas.microsoft.com/office/drawing/2014/main" id="{5CFD0D06-DB29-8AC5-0D97-1191528A8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0">
            <a:extLst>
              <a:ext uri="{FF2B5EF4-FFF2-40B4-BE49-F238E27FC236}">
                <a16:creationId xmlns:a16="http://schemas.microsoft.com/office/drawing/2014/main" id="{93AAB9E9-E787-3612-1A86-A2E9F6932E3F}"/>
              </a:ext>
            </a:extLst>
          </p:cNvPr>
          <p:cNvSpPr/>
          <p:nvPr/>
        </p:nvSpPr>
        <p:spPr>
          <a:xfrm>
            <a:off x="411480" y="22100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G.H.O.S.T  |  ARTEFACTS</a:t>
            </a:r>
            <a:endParaRPr lang="en-US" sz="1000" b="1" dirty="0"/>
          </a:p>
        </p:txBody>
      </p:sp>
      <p:sp>
        <p:nvSpPr>
          <p:cNvPr id="2" name="Google Shape;315;p47">
            <a:extLst>
              <a:ext uri="{FF2B5EF4-FFF2-40B4-BE49-F238E27FC236}">
                <a16:creationId xmlns:a16="http://schemas.microsoft.com/office/drawing/2014/main" id="{6CED611F-212D-31C9-452F-4FA274ABC08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71399" y="590500"/>
            <a:ext cx="10176705" cy="304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Try it. Run it. Make it yours,</a:t>
            </a:r>
            <a:endParaRPr sz="3200" dirty="0"/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BBBB318E-5EE5-2B07-DB69-0FA9F807F54E}"/>
              </a:ext>
            </a:extLst>
          </p:cNvPr>
          <p:cNvSpPr/>
          <p:nvPr/>
        </p:nvSpPr>
        <p:spPr>
          <a:xfrm>
            <a:off x="365760" y="1491615"/>
            <a:ext cx="5655564" cy="2468880"/>
          </a:xfrm>
          <a:prstGeom prst="rect">
            <a:avLst/>
          </a:prstGeom>
          <a:solidFill>
            <a:srgbClr val="121C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6">
            <a:extLst>
              <a:ext uri="{FF2B5EF4-FFF2-40B4-BE49-F238E27FC236}">
                <a16:creationId xmlns:a16="http://schemas.microsoft.com/office/drawing/2014/main" id="{D00F7516-AC25-E971-A99F-7EC68E5AD021}"/>
              </a:ext>
            </a:extLst>
          </p:cNvPr>
          <p:cNvSpPr/>
          <p:nvPr/>
        </p:nvSpPr>
        <p:spPr>
          <a:xfrm>
            <a:off x="365760" y="1491615"/>
            <a:ext cx="73152" cy="2468880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7">
            <a:extLst>
              <a:ext uri="{FF2B5EF4-FFF2-40B4-BE49-F238E27FC236}">
                <a16:creationId xmlns:a16="http://schemas.microsoft.com/office/drawing/2014/main" id="{2B4CAE42-AF85-EDA4-05C4-58BEDE2EF232}"/>
              </a:ext>
            </a:extLst>
          </p:cNvPr>
          <p:cNvSpPr/>
          <p:nvPr/>
        </p:nvSpPr>
        <p:spPr>
          <a:xfrm>
            <a:off x="640080" y="1857375"/>
            <a:ext cx="777240" cy="777240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8">
            <a:extLst>
              <a:ext uri="{FF2B5EF4-FFF2-40B4-BE49-F238E27FC236}">
                <a16:creationId xmlns:a16="http://schemas.microsoft.com/office/drawing/2014/main" id="{DF0FCA4E-D691-6A44-7E92-30DF6A0C581B}"/>
              </a:ext>
            </a:extLst>
          </p:cNvPr>
          <p:cNvSpPr/>
          <p:nvPr/>
        </p:nvSpPr>
        <p:spPr>
          <a:xfrm>
            <a:off x="640080" y="1857375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1220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▶</a:t>
            </a:r>
            <a:endParaRPr lang="en-US" sz="2800" dirty="0"/>
          </a:p>
        </p:txBody>
      </p:sp>
      <p:sp>
        <p:nvSpPr>
          <p:cNvPr id="45" name="Text 9">
            <a:extLst>
              <a:ext uri="{FF2B5EF4-FFF2-40B4-BE49-F238E27FC236}">
                <a16:creationId xmlns:a16="http://schemas.microsoft.com/office/drawing/2014/main" id="{E949D474-F6EF-7219-676F-6109AF4335C4}"/>
              </a:ext>
            </a:extLst>
          </p:cNvPr>
          <p:cNvSpPr/>
          <p:nvPr/>
        </p:nvSpPr>
        <p:spPr>
          <a:xfrm>
            <a:off x="1600200" y="1875663"/>
            <a:ext cx="42382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46" name="Text 10">
            <a:extLst>
              <a:ext uri="{FF2B5EF4-FFF2-40B4-BE49-F238E27FC236}">
                <a16:creationId xmlns:a16="http://schemas.microsoft.com/office/drawing/2014/main" id="{3DFF29EE-B9E8-8117-BC26-704BECC2848C}"/>
              </a:ext>
            </a:extLst>
          </p:cNvPr>
          <p:cNvSpPr/>
          <p:nvPr/>
        </p:nvSpPr>
        <p:spPr>
          <a:xfrm>
            <a:off x="1600200" y="2131695"/>
            <a:ext cx="42382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theghostmodel.com</a:t>
            </a:r>
            <a:endParaRPr lang="en-US" sz="1800" dirty="0"/>
          </a:p>
        </p:txBody>
      </p:sp>
      <p:sp>
        <p:nvSpPr>
          <p:cNvPr id="47" name="Text 11">
            <a:extLst>
              <a:ext uri="{FF2B5EF4-FFF2-40B4-BE49-F238E27FC236}">
                <a16:creationId xmlns:a16="http://schemas.microsoft.com/office/drawing/2014/main" id="{3ED779E1-E75D-EC0D-F970-739146E85AF6}"/>
              </a:ext>
            </a:extLst>
          </p:cNvPr>
          <p:cNvSpPr/>
          <p:nvPr/>
        </p:nvSpPr>
        <p:spPr>
          <a:xfrm>
            <a:off x="640080" y="2771775"/>
            <a:ext cx="51526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Tic-Tac-Toe + Chat, fully instrumented with toggleable controls and telemetry. </a:t>
            </a:r>
            <a:endParaRPr lang="en-US" sz="1200" dirty="0"/>
          </a:p>
        </p:txBody>
      </p:sp>
      <p:sp>
        <p:nvSpPr>
          <p:cNvPr id="48" name="Shape 12">
            <a:extLst>
              <a:ext uri="{FF2B5EF4-FFF2-40B4-BE49-F238E27FC236}">
                <a16:creationId xmlns:a16="http://schemas.microsoft.com/office/drawing/2014/main" id="{0F55136D-B4AA-0964-6C90-0380E9C3C503}"/>
              </a:ext>
            </a:extLst>
          </p:cNvPr>
          <p:cNvSpPr/>
          <p:nvPr/>
        </p:nvSpPr>
        <p:spPr>
          <a:xfrm>
            <a:off x="640080" y="3503295"/>
            <a:ext cx="2286000" cy="310896"/>
          </a:xfrm>
          <a:prstGeom prst="rect">
            <a:avLst/>
          </a:prstGeom>
          <a:solidFill>
            <a:srgbClr val="1A2540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13">
            <a:extLst>
              <a:ext uri="{FF2B5EF4-FFF2-40B4-BE49-F238E27FC236}">
                <a16:creationId xmlns:a16="http://schemas.microsoft.com/office/drawing/2014/main" id="{C008F8A8-1C27-2BF0-918F-FD399A1BEBB8}"/>
              </a:ext>
            </a:extLst>
          </p:cNvPr>
          <p:cNvSpPr/>
          <p:nvPr/>
        </p:nvSpPr>
        <p:spPr>
          <a:xfrm>
            <a:off x="640080" y="3503295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Open in any browser</a:t>
            </a:r>
            <a:endParaRPr lang="en-US" sz="1000" dirty="0"/>
          </a:p>
        </p:txBody>
      </p:sp>
      <p:sp>
        <p:nvSpPr>
          <p:cNvPr id="50" name="Shape 14">
            <a:extLst>
              <a:ext uri="{FF2B5EF4-FFF2-40B4-BE49-F238E27FC236}">
                <a16:creationId xmlns:a16="http://schemas.microsoft.com/office/drawing/2014/main" id="{1E37F933-8594-8E26-0FB2-8C79EC9FB156}"/>
              </a:ext>
            </a:extLst>
          </p:cNvPr>
          <p:cNvSpPr/>
          <p:nvPr/>
        </p:nvSpPr>
        <p:spPr>
          <a:xfrm>
            <a:off x="6185916" y="1491615"/>
            <a:ext cx="5655564" cy="2468880"/>
          </a:xfrm>
          <a:prstGeom prst="rect">
            <a:avLst/>
          </a:prstGeom>
          <a:solidFill>
            <a:srgbClr val="121C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15">
            <a:extLst>
              <a:ext uri="{FF2B5EF4-FFF2-40B4-BE49-F238E27FC236}">
                <a16:creationId xmlns:a16="http://schemas.microsoft.com/office/drawing/2014/main" id="{631091D4-943C-C0B6-71AE-ECA99992A219}"/>
              </a:ext>
            </a:extLst>
          </p:cNvPr>
          <p:cNvSpPr/>
          <p:nvPr/>
        </p:nvSpPr>
        <p:spPr>
          <a:xfrm>
            <a:off x="6185916" y="1491615"/>
            <a:ext cx="73152" cy="2468880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764D1F25-D037-784F-9838-D0A939E38778}"/>
              </a:ext>
            </a:extLst>
          </p:cNvPr>
          <p:cNvSpPr/>
          <p:nvPr/>
        </p:nvSpPr>
        <p:spPr>
          <a:xfrm>
            <a:off x="6460236" y="1857375"/>
            <a:ext cx="777240" cy="777240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17">
            <a:extLst>
              <a:ext uri="{FF2B5EF4-FFF2-40B4-BE49-F238E27FC236}">
                <a16:creationId xmlns:a16="http://schemas.microsoft.com/office/drawing/2014/main" id="{3F2C2695-2F60-AD34-7352-60FFFAD5B2AF}"/>
              </a:ext>
            </a:extLst>
          </p:cNvPr>
          <p:cNvSpPr/>
          <p:nvPr/>
        </p:nvSpPr>
        <p:spPr>
          <a:xfrm>
            <a:off x="6460236" y="1857375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1220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{ }</a:t>
            </a:r>
            <a:endParaRPr lang="en-US" sz="2800" dirty="0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D065B5F4-C2FE-5B30-D07D-D38EA8257B61}"/>
              </a:ext>
            </a:extLst>
          </p:cNvPr>
          <p:cNvSpPr/>
          <p:nvPr/>
        </p:nvSpPr>
        <p:spPr>
          <a:xfrm>
            <a:off x="7420356" y="1875663"/>
            <a:ext cx="42382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EVERYTHING ELSE</a:t>
            </a:r>
            <a:endParaRPr lang="en-US" sz="11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04CF9830-CE08-287F-60A0-B7727DDAEBC2}"/>
              </a:ext>
            </a:extLst>
          </p:cNvPr>
          <p:cNvSpPr/>
          <p:nvPr/>
        </p:nvSpPr>
        <p:spPr>
          <a:xfrm>
            <a:off x="7420356" y="2131695"/>
            <a:ext cx="42382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</a:t>
            </a:r>
            <a:r>
              <a:rPr lang="en-US" sz="1800" b="1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TheGHOSTModel</a:t>
            </a: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/ghost</a:t>
            </a:r>
            <a:endParaRPr lang="en-US" sz="1800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2421C345-5098-5F94-8811-59CD6C12F71A}"/>
              </a:ext>
            </a:extLst>
          </p:cNvPr>
          <p:cNvSpPr/>
          <p:nvPr/>
        </p:nvSpPr>
        <p:spPr>
          <a:xfrm>
            <a:off x="6460236" y="2771775"/>
            <a:ext cx="51526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Framework spec, threat catalog, telemetry schemas, IAT templates, AGE-X matrix, slides, and the traceability tooling — all in one repo.</a:t>
            </a:r>
            <a:endParaRPr lang="en-US" sz="1200" dirty="0"/>
          </a:p>
        </p:txBody>
      </p:sp>
      <p:sp>
        <p:nvSpPr>
          <p:cNvPr id="57" name="Shape 21">
            <a:extLst>
              <a:ext uri="{FF2B5EF4-FFF2-40B4-BE49-F238E27FC236}">
                <a16:creationId xmlns:a16="http://schemas.microsoft.com/office/drawing/2014/main" id="{8F5C207A-53BE-AFFD-DAC9-E7E1ECC5F1A3}"/>
              </a:ext>
            </a:extLst>
          </p:cNvPr>
          <p:cNvSpPr/>
          <p:nvPr/>
        </p:nvSpPr>
        <p:spPr>
          <a:xfrm>
            <a:off x="6460236" y="3503295"/>
            <a:ext cx="2286000" cy="310896"/>
          </a:xfrm>
          <a:prstGeom prst="rect">
            <a:avLst/>
          </a:prstGeom>
          <a:solidFill>
            <a:srgbClr val="1A2540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22">
            <a:extLst>
              <a:ext uri="{FF2B5EF4-FFF2-40B4-BE49-F238E27FC236}">
                <a16:creationId xmlns:a16="http://schemas.microsoft.com/office/drawing/2014/main" id="{4D4DBC64-E1DA-2975-AAE4-7E87F1587724}"/>
              </a:ext>
            </a:extLst>
          </p:cNvPr>
          <p:cNvSpPr/>
          <p:nvPr/>
        </p:nvSpPr>
        <p:spPr>
          <a:xfrm>
            <a:off x="6460236" y="3503295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Clone or fork</a:t>
            </a:r>
            <a:endParaRPr lang="en-US" sz="1000" dirty="0"/>
          </a:p>
        </p:txBody>
      </p:sp>
      <p:sp>
        <p:nvSpPr>
          <p:cNvPr id="59" name="Shape 23">
            <a:extLst>
              <a:ext uri="{FF2B5EF4-FFF2-40B4-BE49-F238E27FC236}">
                <a16:creationId xmlns:a16="http://schemas.microsoft.com/office/drawing/2014/main" id="{5F5B6AB2-3384-31C8-646A-EAA2C695EA1D}"/>
              </a:ext>
            </a:extLst>
          </p:cNvPr>
          <p:cNvSpPr/>
          <p:nvPr/>
        </p:nvSpPr>
        <p:spPr>
          <a:xfrm>
            <a:off x="365760" y="4201287"/>
            <a:ext cx="3727704" cy="2194560"/>
          </a:xfrm>
          <a:prstGeom prst="rect">
            <a:avLst/>
          </a:prstGeom>
          <a:solidFill>
            <a:srgbClr val="121C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24">
            <a:extLst>
              <a:ext uri="{FF2B5EF4-FFF2-40B4-BE49-F238E27FC236}">
                <a16:creationId xmlns:a16="http://schemas.microsoft.com/office/drawing/2014/main" id="{17838370-7BD4-C792-F9B9-7F3B8F11A674}"/>
              </a:ext>
            </a:extLst>
          </p:cNvPr>
          <p:cNvSpPr/>
          <p:nvPr/>
        </p:nvSpPr>
        <p:spPr>
          <a:xfrm>
            <a:off x="365760" y="4201287"/>
            <a:ext cx="73152" cy="2194560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25">
            <a:extLst>
              <a:ext uri="{FF2B5EF4-FFF2-40B4-BE49-F238E27FC236}">
                <a16:creationId xmlns:a16="http://schemas.microsoft.com/office/drawing/2014/main" id="{5F99E09D-2084-FC91-2C9A-3D3CAAE94CEB}"/>
              </a:ext>
            </a:extLst>
          </p:cNvPr>
          <p:cNvSpPr/>
          <p:nvPr/>
        </p:nvSpPr>
        <p:spPr>
          <a:xfrm>
            <a:off x="640080" y="4475607"/>
            <a:ext cx="548640" cy="548640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26">
            <a:extLst>
              <a:ext uri="{FF2B5EF4-FFF2-40B4-BE49-F238E27FC236}">
                <a16:creationId xmlns:a16="http://schemas.microsoft.com/office/drawing/2014/main" id="{3C5C3483-837A-F085-FC3D-B49AA7FB2D0F}"/>
              </a:ext>
            </a:extLst>
          </p:cNvPr>
          <p:cNvSpPr/>
          <p:nvPr/>
        </p:nvSpPr>
        <p:spPr>
          <a:xfrm>
            <a:off x="640080" y="44756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220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⬜</a:t>
            </a:r>
            <a:endParaRPr lang="en-US" sz="2000" dirty="0"/>
          </a:p>
        </p:txBody>
      </p:sp>
      <p:sp>
        <p:nvSpPr>
          <p:cNvPr id="63" name="Text 27">
            <a:extLst>
              <a:ext uri="{FF2B5EF4-FFF2-40B4-BE49-F238E27FC236}">
                <a16:creationId xmlns:a16="http://schemas.microsoft.com/office/drawing/2014/main" id="{85DC26C2-361B-6ECB-8E91-C11DF35BF445}"/>
              </a:ext>
            </a:extLst>
          </p:cNvPr>
          <p:cNvSpPr/>
          <p:nvPr/>
        </p:nvSpPr>
        <p:spPr>
          <a:xfrm>
            <a:off x="1371600" y="4493895"/>
            <a:ext cx="2538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TEMPLATES</a:t>
            </a:r>
            <a:endParaRPr lang="en-US" sz="950" dirty="0"/>
          </a:p>
        </p:txBody>
      </p:sp>
      <p:sp>
        <p:nvSpPr>
          <p:cNvPr id="448" name="Text 28">
            <a:extLst>
              <a:ext uri="{FF2B5EF4-FFF2-40B4-BE49-F238E27FC236}">
                <a16:creationId xmlns:a16="http://schemas.microsoft.com/office/drawing/2014/main" id="{1133166D-16CF-815D-128B-18FFB03D8877}"/>
              </a:ext>
            </a:extLst>
          </p:cNvPr>
          <p:cNvSpPr/>
          <p:nvPr/>
        </p:nvSpPr>
        <p:spPr>
          <a:xfrm>
            <a:off x="1371600" y="4731639"/>
            <a:ext cx="2538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IAT spreadsheets</a:t>
            </a:r>
            <a:endParaRPr lang="en-US" sz="1500" dirty="0"/>
          </a:p>
        </p:txBody>
      </p:sp>
      <p:sp>
        <p:nvSpPr>
          <p:cNvPr id="449" name="Text 29">
            <a:extLst>
              <a:ext uri="{FF2B5EF4-FFF2-40B4-BE49-F238E27FC236}">
                <a16:creationId xmlns:a16="http://schemas.microsoft.com/office/drawing/2014/main" id="{D97B390B-58A7-39C8-E340-67EEEF4EE6E7}"/>
              </a:ext>
            </a:extLst>
          </p:cNvPr>
          <p:cNvSpPr/>
          <p:nvPr/>
        </p:nvSpPr>
        <p:spPr>
          <a:xfrm>
            <a:off x="640080" y="5280279"/>
            <a:ext cx="3224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Four versions — light + dark, blank + worked example. With Test Traceability for TDTM.</a:t>
            </a:r>
            <a:endParaRPr lang="en-US" sz="1050" dirty="0"/>
          </a:p>
        </p:txBody>
      </p:sp>
      <p:sp>
        <p:nvSpPr>
          <p:cNvPr id="450" name="Shape 30">
            <a:extLst>
              <a:ext uri="{FF2B5EF4-FFF2-40B4-BE49-F238E27FC236}">
                <a16:creationId xmlns:a16="http://schemas.microsoft.com/office/drawing/2014/main" id="{04C63CD1-9B51-CD0A-04EB-79C6264A0CBB}"/>
              </a:ext>
            </a:extLst>
          </p:cNvPr>
          <p:cNvSpPr/>
          <p:nvPr/>
        </p:nvSpPr>
        <p:spPr>
          <a:xfrm>
            <a:off x="640080" y="5938647"/>
            <a:ext cx="1737360" cy="310896"/>
          </a:xfrm>
          <a:prstGeom prst="rect">
            <a:avLst/>
          </a:prstGeom>
          <a:solidFill>
            <a:srgbClr val="1A2540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1" name="Text 31">
            <a:extLst>
              <a:ext uri="{FF2B5EF4-FFF2-40B4-BE49-F238E27FC236}">
                <a16:creationId xmlns:a16="http://schemas.microsoft.com/office/drawing/2014/main" id="{E81EF31A-FBDA-BEB1-6B85-1C2B5A67A99F}"/>
              </a:ext>
            </a:extLst>
          </p:cNvPr>
          <p:cNvSpPr/>
          <p:nvPr/>
        </p:nvSpPr>
        <p:spPr>
          <a:xfrm>
            <a:off x="640080" y="5938647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F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/templates</a:t>
            </a:r>
            <a:endParaRPr lang="en-US" sz="1100" dirty="0"/>
          </a:p>
        </p:txBody>
      </p:sp>
      <p:sp>
        <p:nvSpPr>
          <p:cNvPr id="452" name="Shape 32">
            <a:extLst>
              <a:ext uri="{FF2B5EF4-FFF2-40B4-BE49-F238E27FC236}">
                <a16:creationId xmlns:a16="http://schemas.microsoft.com/office/drawing/2014/main" id="{B0EE55F4-C75F-076B-1737-4354019EF620}"/>
              </a:ext>
            </a:extLst>
          </p:cNvPr>
          <p:cNvSpPr/>
          <p:nvPr/>
        </p:nvSpPr>
        <p:spPr>
          <a:xfrm>
            <a:off x="4239768" y="4201287"/>
            <a:ext cx="3727704" cy="2194560"/>
          </a:xfrm>
          <a:prstGeom prst="rect">
            <a:avLst/>
          </a:prstGeom>
          <a:solidFill>
            <a:srgbClr val="121C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3" name="Shape 33">
            <a:extLst>
              <a:ext uri="{FF2B5EF4-FFF2-40B4-BE49-F238E27FC236}">
                <a16:creationId xmlns:a16="http://schemas.microsoft.com/office/drawing/2014/main" id="{331F2731-185C-2AA2-1952-1B52044C2F58}"/>
              </a:ext>
            </a:extLst>
          </p:cNvPr>
          <p:cNvSpPr/>
          <p:nvPr/>
        </p:nvSpPr>
        <p:spPr>
          <a:xfrm>
            <a:off x="4239768" y="4201287"/>
            <a:ext cx="73152" cy="2194560"/>
          </a:xfrm>
          <a:prstGeom prst="rect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4" name="Shape 34">
            <a:extLst>
              <a:ext uri="{FF2B5EF4-FFF2-40B4-BE49-F238E27FC236}">
                <a16:creationId xmlns:a16="http://schemas.microsoft.com/office/drawing/2014/main" id="{9C38A059-237A-34C6-E33B-4055BA1FFB64}"/>
              </a:ext>
            </a:extLst>
          </p:cNvPr>
          <p:cNvSpPr/>
          <p:nvPr/>
        </p:nvSpPr>
        <p:spPr>
          <a:xfrm>
            <a:off x="4514088" y="4475607"/>
            <a:ext cx="548640" cy="548640"/>
          </a:xfrm>
          <a:prstGeom prst="ellipse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5" name="Text 35">
            <a:extLst>
              <a:ext uri="{FF2B5EF4-FFF2-40B4-BE49-F238E27FC236}">
                <a16:creationId xmlns:a16="http://schemas.microsoft.com/office/drawing/2014/main" id="{7F998422-66D3-588C-8AF9-7DF485A37DBF}"/>
              </a:ext>
            </a:extLst>
          </p:cNvPr>
          <p:cNvSpPr/>
          <p:nvPr/>
        </p:nvSpPr>
        <p:spPr>
          <a:xfrm>
            <a:off x="4514088" y="44756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220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★</a:t>
            </a:r>
            <a:endParaRPr lang="en-US" sz="2000" dirty="0"/>
          </a:p>
        </p:txBody>
      </p:sp>
      <p:sp>
        <p:nvSpPr>
          <p:cNvPr id="456" name="Text 36">
            <a:extLst>
              <a:ext uri="{FF2B5EF4-FFF2-40B4-BE49-F238E27FC236}">
                <a16:creationId xmlns:a16="http://schemas.microsoft.com/office/drawing/2014/main" id="{00D8048B-2471-D6DE-47C8-87444BDBC69E}"/>
              </a:ext>
            </a:extLst>
          </p:cNvPr>
          <p:cNvSpPr/>
          <p:nvPr/>
        </p:nvSpPr>
        <p:spPr>
          <a:xfrm>
            <a:off x="5245608" y="4493895"/>
            <a:ext cx="2538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F0A04B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PRIORITIZATION</a:t>
            </a:r>
            <a:endParaRPr lang="en-US" sz="950" dirty="0"/>
          </a:p>
        </p:txBody>
      </p:sp>
      <p:sp>
        <p:nvSpPr>
          <p:cNvPr id="457" name="Text 37">
            <a:extLst>
              <a:ext uri="{FF2B5EF4-FFF2-40B4-BE49-F238E27FC236}">
                <a16:creationId xmlns:a16="http://schemas.microsoft.com/office/drawing/2014/main" id="{980AE709-3369-6A4C-1380-043649E48FB0}"/>
              </a:ext>
            </a:extLst>
          </p:cNvPr>
          <p:cNvSpPr/>
          <p:nvPr/>
        </p:nvSpPr>
        <p:spPr>
          <a:xfrm>
            <a:off x="5245608" y="4731639"/>
            <a:ext cx="2538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AGE-X matrix</a:t>
            </a:r>
            <a:endParaRPr lang="en-US" sz="1500" dirty="0"/>
          </a:p>
        </p:txBody>
      </p:sp>
      <p:sp>
        <p:nvSpPr>
          <p:cNvPr id="458" name="Text 38">
            <a:extLst>
              <a:ext uri="{FF2B5EF4-FFF2-40B4-BE49-F238E27FC236}">
                <a16:creationId xmlns:a16="http://schemas.microsoft.com/office/drawing/2014/main" id="{37400942-2050-6E79-A3CB-FAE8699D6F25}"/>
              </a:ext>
            </a:extLst>
          </p:cNvPr>
          <p:cNvSpPr/>
          <p:nvPr/>
        </p:nvSpPr>
        <p:spPr>
          <a:xfrm>
            <a:off x="4514088" y="5280279"/>
            <a:ext cx="3224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Risk-scoring rubric. Formula, criteria, weight justification, scoring template for your platform's components.</a:t>
            </a:r>
            <a:endParaRPr lang="en-US" sz="1050" dirty="0"/>
          </a:p>
        </p:txBody>
      </p:sp>
      <p:sp>
        <p:nvSpPr>
          <p:cNvPr id="459" name="Shape 39">
            <a:extLst>
              <a:ext uri="{FF2B5EF4-FFF2-40B4-BE49-F238E27FC236}">
                <a16:creationId xmlns:a16="http://schemas.microsoft.com/office/drawing/2014/main" id="{A70C799E-4C2E-F905-F0DD-B57B80E28265}"/>
              </a:ext>
            </a:extLst>
          </p:cNvPr>
          <p:cNvSpPr/>
          <p:nvPr/>
        </p:nvSpPr>
        <p:spPr>
          <a:xfrm>
            <a:off x="4514088" y="5938647"/>
            <a:ext cx="1737360" cy="310896"/>
          </a:xfrm>
          <a:prstGeom prst="rect">
            <a:avLst/>
          </a:prstGeom>
          <a:solidFill>
            <a:srgbClr val="1A2540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0" name="Text 40">
            <a:extLst>
              <a:ext uri="{FF2B5EF4-FFF2-40B4-BE49-F238E27FC236}">
                <a16:creationId xmlns:a16="http://schemas.microsoft.com/office/drawing/2014/main" id="{510502B1-0217-5FB0-07F9-3CC07402F10E}"/>
              </a:ext>
            </a:extLst>
          </p:cNvPr>
          <p:cNvSpPr/>
          <p:nvPr/>
        </p:nvSpPr>
        <p:spPr>
          <a:xfrm>
            <a:off x="4514088" y="5938647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A0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/scoring</a:t>
            </a:r>
            <a:endParaRPr lang="en-US" sz="1100" dirty="0"/>
          </a:p>
        </p:txBody>
      </p:sp>
      <p:sp>
        <p:nvSpPr>
          <p:cNvPr id="461" name="Shape 41">
            <a:extLst>
              <a:ext uri="{FF2B5EF4-FFF2-40B4-BE49-F238E27FC236}">
                <a16:creationId xmlns:a16="http://schemas.microsoft.com/office/drawing/2014/main" id="{D57A1973-7FB9-1127-88F9-3E6DAF22BAEF}"/>
              </a:ext>
            </a:extLst>
          </p:cNvPr>
          <p:cNvSpPr/>
          <p:nvPr/>
        </p:nvSpPr>
        <p:spPr>
          <a:xfrm>
            <a:off x="8113776" y="4201286"/>
            <a:ext cx="3727704" cy="2217801"/>
          </a:xfrm>
          <a:prstGeom prst="rect">
            <a:avLst/>
          </a:prstGeom>
          <a:solidFill>
            <a:srgbClr val="121C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2" name="Shape 42">
            <a:extLst>
              <a:ext uri="{FF2B5EF4-FFF2-40B4-BE49-F238E27FC236}">
                <a16:creationId xmlns:a16="http://schemas.microsoft.com/office/drawing/2014/main" id="{C30BFFE8-8373-B1A2-2582-5B617B910930}"/>
              </a:ext>
            </a:extLst>
          </p:cNvPr>
          <p:cNvSpPr/>
          <p:nvPr/>
        </p:nvSpPr>
        <p:spPr>
          <a:xfrm>
            <a:off x="8113776" y="4201287"/>
            <a:ext cx="73152" cy="2194560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3" name="Shape 43">
            <a:extLst>
              <a:ext uri="{FF2B5EF4-FFF2-40B4-BE49-F238E27FC236}">
                <a16:creationId xmlns:a16="http://schemas.microsoft.com/office/drawing/2014/main" id="{5F4586BD-F4E9-7455-5BA5-43429EFA8982}"/>
              </a:ext>
            </a:extLst>
          </p:cNvPr>
          <p:cNvSpPr/>
          <p:nvPr/>
        </p:nvSpPr>
        <p:spPr>
          <a:xfrm>
            <a:off x="8388096" y="4475607"/>
            <a:ext cx="548640" cy="548640"/>
          </a:xfrm>
          <a:prstGeom prst="ellipse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4" name="Text 44">
            <a:extLst>
              <a:ext uri="{FF2B5EF4-FFF2-40B4-BE49-F238E27FC236}">
                <a16:creationId xmlns:a16="http://schemas.microsoft.com/office/drawing/2014/main" id="{06AA93A1-91FF-1CE8-9D1C-F8AE5F1267C8}"/>
              </a:ext>
            </a:extLst>
          </p:cNvPr>
          <p:cNvSpPr/>
          <p:nvPr/>
        </p:nvSpPr>
        <p:spPr>
          <a:xfrm>
            <a:off x="8388096" y="44756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220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◫</a:t>
            </a:r>
            <a:endParaRPr lang="en-US" sz="2000" dirty="0"/>
          </a:p>
        </p:txBody>
      </p:sp>
      <p:sp>
        <p:nvSpPr>
          <p:cNvPr id="465" name="Text 45">
            <a:extLst>
              <a:ext uri="{FF2B5EF4-FFF2-40B4-BE49-F238E27FC236}">
                <a16:creationId xmlns:a16="http://schemas.microsoft.com/office/drawing/2014/main" id="{222A63E8-833C-ABAB-ED88-C223283E5D0E}"/>
              </a:ext>
            </a:extLst>
          </p:cNvPr>
          <p:cNvSpPr/>
          <p:nvPr/>
        </p:nvSpPr>
        <p:spPr>
          <a:xfrm>
            <a:off x="9119616" y="4493895"/>
            <a:ext cx="2538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THIS DECK</a:t>
            </a:r>
            <a:endParaRPr lang="en-US" sz="950" dirty="0"/>
          </a:p>
        </p:txBody>
      </p:sp>
      <p:sp>
        <p:nvSpPr>
          <p:cNvPr id="466" name="Text 46">
            <a:extLst>
              <a:ext uri="{FF2B5EF4-FFF2-40B4-BE49-F238E27FC236}">
                <a16:creationId xmlns:a16="http://schemas.microsoft.com/office/drawing/2014/main" id="{EA83E747-CA5D-C251-9FF4-A2FD943EFE42}"/>
              </a:ext>
            </a:extLst>
          </p:cNvPr>
          <p:cNvSpPr/>
          <p:nvPr/>
        </p:nvSpPr>
        <p:spPr>
          <a:xfrm>
            <a:off x="9119616" y="4731639"/>
            <a:ext cx="2538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Slides &amp; notes</a:t>
            </a:r>
            <a:endParaRPr lang="en-US" sz="1500" dirty="0"/>
          </a:p>
        </p:txBody>
      </p:sp>
      <p:sp>
        <p:nvSpPr>
          <p:cNvPr id="467" name="Text 47">
            <a:extLst>
              <a:ext uri="{FF2B5EF4-FFF2-40B4-BE49-F238E27FC236}">
                <a16:creationId xmlns:a16="http://schemas.microsoft.com/office/drawing/2014/main" id="{DE730364-B565-8695-D57D-729A56862127}"/>
              </a:ext>
            </a:extLst>
          </p:cNvPr>
          <p:cNvSpPr/>
          <p:nvPr/>
        </p:nvSpPr>
        <p:spPr>
          <a:xfrm>
            <a:off x="8388096" y="5280279"/>
            <a:ext cx="3224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All the slides from this talk, with full speaker notes. Use them, remix them, adapt them.</a:t>
            </a:r>
            <a:endParaRPr lang="en-US" sz="1050" dirty="0"/>
          </a:p>
        </p:txBody>
      </p:sp>
      <p:sp>
        <p:nvSpPr>
          <p:cNvPr id="468" name="Shape 48">
            <a:extLst>
              <a:ext uri="{FF2B5EF4-FFF2-40B4-BE49-F238E27FC236}">
                <a16:creationId xmlns:a16="http://schemas.microsoft.com/office/drawing/2014/main" id="{52F954CE-48FA-5147-2D8E-011599C25CDB}"/>
              </a:ext>
            </a:extLst>
          </p:cNvPr>
          <p:cNvSpPr/>
          <p:nvPr/>
        </p:nvSpPr>
        <p:spPr>
          <a:xfrm>
            <a:off x="8388096" y="5938647"/>
            <a:ext cx="1737360" cy="310896"/>
          </a:xfrm>
          <a:prstGeom prst="rect">
            <a:avLst/>
          </a:prstGeom>
          <a:solidFill>
            <a:srgbClr val="1A2540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9" name="Text 49">
            <a:extLst>
              <a:ext uri="{FF2B5EF4-FFF2-40B4-BE49-F238E27FC236}">
                <a16:creationId xmlns:a16="http://schemas.microsoft.com/office/drawing/2014/main" id="{3F4B83EC-3385-ACB8-1AE5-DCB481086E7C}"/>
              </a:ext>
            </a:extLst>
          </p:cNvPr>
          <p:cNvSpPr/>
          <p:nvPr/>
        </p:nvSpPr>
        <p:spPr>
          <a:xfrm>
            <a:off x="8388096" y="5938647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F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/deck</a:t>
            </a:r>
            <a:endParaRPr lang="en-US" sz="1100" dirty="0"/>
          </a:p>
        </p:txBody>
      </p:sp>
      <p:sp>
        <p:nvSpPr>
          <p:cNvPr id="470" name="Text 50">
            <a:extLst>
              <a:ext uri="{FF2B5EF4-FFF2-40B4-BE49-F238E27FC236}">
                <a16:creationId xmlns:a16="http://schemas.microsoft.com/office/drawing/2014/main" id="{20CE17D1-9A89-928B-6B2B-48CAD0C4D847}"/>
              </a:ext>
            </a:extLst>
          </p:cNvPr>
          <p:cNvSpPr/>
          <p:nvPr/>
        </p:nvSpPr>
        <p:spPr>
          <a:xfrm>
            <a:off x="365760" y="6565392"/>
            <a:ext cx="11475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Five domains. Fifty variants. One hundred fifty tests. One framework you can use today.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3611684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>
          <a:extLst>
            <a:ext uri="{FF2B5EF4-FFF2-40B4-BE49-F238E27FC236}">
              <a16:creationId xmlns:a16="http://schemas.microsoft.com/office/drawing/2014/main" id="{F1D9011A-483B-C540-D581-AE14987B8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BB397B2C-87A7-D8D4-6A99-A43519803FDA}"/>
              </a:ext>
            </a:extLst>
          </p:cNvPr>
          <p:cNvSpPr/>
          <p:nvPr/>
        </p:nvSpPr>
        <p:spPr>
          <a:xfrm>
            <a:off x="411480" y="22100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G.H.O.S.T  |  Q&amp;A</a:t>
            </a:r>
            <a:endParaRPr lang="en-US" sz="1000" b="1" dirty="0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43012B78-36AE-C486-6F57-C5AAE7F84CA1}"/>
              </a:ext>
            </a:extLst>
          </p:cNvPr>
          <p:cNvSpPr/>
          <p:nvPr/>
        </p:nvSpPr>
        <p:spPr>
          <a:xfrm>
            <a:off x="4708258" y="31318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Q &amp; A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9663739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>
          <a:extLst>
            <a:ext uri="{FF2B5EF4-FFF2-40B4-BE49-F238E27FC236}">
              <a16:creationId xmlns:a16="http://schemas.microsoft.com/office/drawing/2014/main" id="{67BBAED7-002E-18C6-6CC5-64017D883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7">
            <a:extLst>
              <a:ext uri="{FF2B5EF4-FFF2-40B4-BE49-F238E27FC236}">
                <a16:creationId xmlns:a16="http://schemas.microsoft.com/office/drawing/2014/main" id="{E1FF4CE9-4EC0-3988-416E-C707A20D871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71399" y="590500"/>
            <a:ext cx="10176705" cy="304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G.H.O.S.T</a:t>
            </a:r>
            <a:endParaRPr sz="3200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57A2BDB4-97E8-CDA5-F813-275876016847}"/>
              </a:ext>
            </a:extLst>
          </p:cNvPr>
          <p:cNvSpPr/>
          <p:nvPr/>
        </p:nvSpPr>
        <p:spPr>
          <a:xfrm>
            <a:off x="411480" y="22100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1" i="0" u="none" strike="noStrike" kern="0" cap="none" spc="600" normalizeH="0" baseline="0" noProof="0" dirty="0">
                <a:ln>
                  <a:noFill/>
                </a:ln>
                <a:solidFill>
                  <a:srgbClr val="08F4D6"/>
                </a:solidFill>
                <a:effectLst/>
                <a:uLnTx/>
                <a:uFillTx/>
                <a:latin typeface="Overpass" pitchFamily="34" charset="0"/>
                <a:ea typeface="Overpass" pitchFamily="34" charset="-122"/>
                <a:cs typeface="Overpass" pitchFamily="34" charset="-120"/>
                <a:sym typeface="Arial"/>
              </a:rPr>
              <a:t>G.H.O.S.T  |  THANK YOU</a:t>
            </a:r>
            <a:endParaRPr kumimoji="0" lang="en-US" sz="1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" name="Rounded Rectangle 3">
            <a:extLst>
              <a:ext uri="{FF2B5EF4-FFF2-40B4-BE49-F238E27FC236}">
                <a16:creationId xmlns:a16="http://schemas.microsoft.com/office/drawing/2014/main" id="{70A947F4-7C99-62F9-1B0F-939F7FE2ACD1}"/>
              </a:ext>
            </a:extLst>
          </p:cNvPr>
          <p:cNvSpPr/>
          <p:nvPr/>
        </p:nvSpPr>
        <p:spPr>
          <a:xfrm>
            <a:off x="502920" y="1280160"/>
            <a:ext cx="4114800" cy="5148072"/>
          </a:xfrm>
          <a:prstGeom prst="roundRect">
            <a:avLst>
              <a:gd name="adj" fmla="val 2500"/>
            </a:avLst>
          </a:prstGeom>
          <a:solidFill>
            <a:srgbClr val="F5F5F0"/>
          </a:solidFill>
          <a:ln w="15240" cap="flat" cmpd="sng" algn="ctr">
            <a:solidFill>
              <a:srgbClr val="08F4D6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1C202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pic>
        <p:nvPicPr>
          <p:cNvPr id="31" name="Picture 30" descr="ghost_logo.png">
            <a:extLst>
              <a:ext uri="{FF2B5EF4-FFF2-40B4-BE49-F238E27FC236}">
                <a16:creationId xmlns:a16="http://schemas.microsoft.com/office/drawing/2014/main" id="{8B584FE7-7482-663C-8342-A417F1B1A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08760"/>
            <a:ext cx="3657600" cy="4690872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12535F6B-FAC1-ECE1-6BB0-635307C12CF0}"/>
              </a:ext>
            </a:extLst>
          </p:cNvPr>
          <p:cNvSpPr/>
          <p:nvPr/>
        </p:nvSpPr>
        <p:spPr>
          <a:xfrm>
            <a:off x="5349240" y="14173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verpass Black" pitchFamily="34" charset="0"/>
                <a:ea typeface="Overpass Black" pitchFamily="34" charset="-122"/>
                <a:cs typeface="Overpass Black" pitchFamily="34" charset="-120"/>
                <a:sym typeface="Arial"/>
              </a:rPr>
              <a:t>Thank you for</a:t>
            </a:r>
            <a:endParaRPr kumimoji="0" lang="en-US" sz="3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B0D7AFAC-DEDD-099D-5DC8-439E0C76021D}"/>
              </a:ext>
            </a:extLst>
          </p:cNvPr>
          <p:cNvSpPr/>
          <p:nvPr/>
        </p:nvSpPr>
        <p:spPr>
          <a:xfrm>
            <a:off x="5349240" y="201168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8F4D6"/>
                </a:solidFill>
                <a:effectLst/>
                <a:uLnTx/>
                <a:uFillTx/>
                <a:latin typeface="Overpass Black" pitchFamily="34" charset="0"/>
                <a:ea typeface="Overpass Black" pitchFamily="34" charset="-122"/>
                <a:cs typeface="Overpass Black" pitchFamily="34" charset="-120"/>
                <a:sym typeface="Arial"/>
              </a:rPr>
              <a:t>this opportunity.</a:t>
            </a:r>
            <a:endParaRPr kumimoji="0" lang="en-US" sz="3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412C3D81-0EBC-D18D-7C2F-405E09D3F92D}"/>
              </a:ext>
            </a:extLst>
          </p:cNvPr>
          <p:cNvSpPr/>
          <p:nvPr/>
        </p:nvSpPr>
        <p:spPr>
          <a:xfrm>
            <a:off x="5349240" y="3337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1" u="none" strike="noStrike" kern="0" cap="none" spc="0" normalizeH="0" baseline="0" noProof="0" dirty="0">
                <a:ln>
                  <a:noFill/>
                </a:ln>
                <a:solidFill>
                  <a:srgbClr val="D0D0D8"/>
                </a:solidFill>
                <a:effectLst/>
                <a:uLnTx/>
                <a:uFillTx/>
                <a:latin typeface="Overpass" pitchFamily="34" charset="0"/>
                <a:ea typeface="Overpass" pitchFamily="34" charset="-122"/>
                <a:cs typeface="Overpass" pitchFamily="34" charset="-120"/>
                <a:sym typeface="Arial"/>
              </a:rPr>
              <a:t>Threats shift constantly. What they target rarely does.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AD838D51-7129-2DA9-D6B5-E72583566193}"/>
              </a:ext>
            </a:extLst>
          </p:cNvPr>
          <p:cNvSpPr/>
          <p:nvPr/>
        </p:nvSpPr>
        <p:spPr>
          <a:xfrm>
            <a:off x="5349240" y="3794760"/>
            <a:ext cx="1371600" cy="0"/>
          </a:xfrm>
          <a:prstGeom prst="line">
            <a:avLst/>
          </a:prstGeom>
          <a:noFill/>
          <a:ln w="19050">
            <a:solidFill>
              <a:srgbClr val="08F4D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7BD0C7CC-A6D6-C4EE-62F7-23EE71E04B81}"/>
              </a:ext>
            </a:extLst>
          </p:cNvPr>
          <p:cNvSpPr/>
          <p:nvPr/>
        </p:nvSpPr>
        <p:spPr>
          <a:xfrm>
            <a:off x="5349240" y="3931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400" normalizeH="0" baseline="0" noProof="0" dirty="0">
                <a:ln>
                  <a:noFill/>
                </a:ln>
                <a:solidFill>
                  <a:srgbClr val="9A9AA8"/>
                </a:solidFill>
                <a:effectLst/>
                <a:uLnTx/>
                <a:uFillTx/>
                <a:latin typeface="Overpass" pitchFamily="34" charset="0"/>
                <a:ea typeface="Overpass" pitchFamily="34" charset="-122"/>
                <a:cs typeface="Overpass" pitchFamily="34" charset="-120"/>
                <a:sym typeface="Arial"/>
              </a:rPr>
              <a:t>TAKE IT WITH YOU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FB5786AB-8413-2D06-0F92-1CA7E3880CAB}"/>
              </a:ext>
            </a:extLst>
          </p:cNvPr>
          <p:cNvSpPr/>
          <p:nvPr/>
        </p:nvSpPr>
        <p:spPr>
          <a:xfrm>
            <a:off x="5349240" y="4306824"/>
            <a:ext cx="45720" cy="347472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58043AF7-6ECB-77D2-33F4-55E2253A1B5E}"/>
              </a:ext>
            </a:extLst>
          </p:cNvPr>
          <p:cNvSpPr/>
          <p:nvPr/>
        </p:nvSpPr>
        <p:spPr>
          <a:xfrm>
            <a:off x="5513832" y="42519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9A9AA8"/>
                </a:solidFill>
                <a:effectLst/>
                <a:uLnTx/>
                <a:uFillTx/>
                <a:latin typeface="Overpass" pitchFamily="34" charset="0"/>
                <a:ea typeface="Overpass" pitchFamily="34" charset="-122"/>
                <a:cs typeface="Overpass" pitchFamily="34" charset="-120"/>
                <a:sym typeface="Arial"/>
              </a:rPr>
              <a:t>Web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44D62FD9-55F5-A5A1-FF33-4616FE6B764D}"/>
              </a:ext>
            </a:extLst>
          </p:cNvPr>
          <p:cNvSpPr/>
          <p:nvPr/>
        </p:nvSpPr>
        <p:spPr>
          <a:xfrm>
            <a:off x="7543800" y="425196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  <a:sym typeface="Arial"/>
              </a:rPr>
              <a:t>theghostmodel.com</a:t>
            </a:r>
            <a:endParaRPr kumimoji="0" lang="en-US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E190E7DF-13AC-4B18-3D33-1A5483716FC7}"/>
              </a:ext>
            </a:extLst>
          </p:cNvPr>
          <p:cNvSpPr/>
          <p:nvPr/>
        </p:nvSpPr>
        <p:spPr>
          <a:xfrm>
            <a:off x="5349240" y="4837176"/>
            <a:ext cx="45720" cy="347472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CF37D010-FDD5-9A4B-3DEE-AC80013CC6DB}"/>
              </a:ext>
            </a:extLst>
          </p:cNvPr>
          <p:cNvSpPr/>
          <p:nvPr/>
        </p:nvSpPr>
        <p:spPr>
          <a:xfrm>
            <a:off x="5513832" y="47823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9A9AA8"/>
                </a:solidFill>
                <a:effectLst/>
                <a:uLnTx/>
                <a:uFillTx/>
                <a:latin typeface="Overpass" pitchFamily="34" charset="0"/>
                <a:ea typeface="Overpass" pitchFamily="34" charset="-122"/>
                <a:cs typeface="Overpass" pitchFamily="34" charset="-120"/>
                <a:sym typeface="Arial"/>
              </a:rPr>
              <a:t>Git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6FFFAF2D-408B-EF33-270D-628245C30766}"/>
              </a:ext>
            </a:extLst>
          </p:cNvPr>
          <p:cNvSpPr/>
          <p:nvPr/>
        </p:nvSpPr>
        <p:spPr>
          <a:xfrm>
            <a:off x="7543800" y="478231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  <a:sym typeface="Arial"/>
              </a:rPr>
              <a:t>github.com/theGHOSTmodel/ghost</a:t>
            </a:r>
            <a:endParaRPr kumimoji="0" lang="en-US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78A38588-A16D-1323-9A4C-83800080ABC0}"/>
              </a:ext>
            </a:extLst>
          </p:cNvPr>
          <p:cNvSpPr/>
          <p:nvPr/>
        </p:nvSpPr>
        <p:spPr>
          <a:xfrm>
            <a:off x="5349240" y="5367528"/>
            <a:ext cx="45720" cy="347472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632D4C3E-2710-8E0F-1153-CE428B05BC47}"/>
              </a:ext>
            </a:extLst>
          </p:cNvPr>
          <p:cNvSpPr/>
          <p:nvPr/>
        </p:nvSpPr>
        <p:spPr>
          <a:xfrm>
            <a:off x="5513832" y="531266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9A9AA8"/>
                </a:solidFill>
                <a:effectLst/>
                <a:uLnTx/>
                <a:uFillTx/>
                <a:latin typeface="Overpass" pitchFamily="34" charset="0"/>
                <a:ea typeface="Overpass" pitchFamily="34" charset="-122"/>
                <a:cs typeface="Overpass" pitchFamily="34" charset="-120"/>
                <a:sym typeface="Arial"/>
              </a:rPr>
              <a:t>Contact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3E2EEEA2-B1E9-7310-06D5-392DF7702BA8}"/>
              </a:ext>
            </a:extLst>
          </p:cNvPr>
          <p:cNvSpPr/>
          <p:nvPr/>
        </p:nvSpPr>
        <p:spPr>
          <a:xfrm>
            <a:off x="7543800" y="5312664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  <a:sym typeface="Arial"/>
              </a:rPr>
              <a:t>linkedin.com/in/</a:t>
            </a:r>
            <a:r>
              <a:rPr kumimoji="0" lang="en-US" sz="13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  <a:sym typeface="Arial"/>
              </a:rPr>
              <a:t>harikrishnanss</a:t>
            </a:r>
            <a:endParaRPr kumimoji="0" lang="en-US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916235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>
          <a:extLst>
            <a:ext uri="{FF2B5EF4-FFF2-40B4-BE49-F238E27FC236}">
              <a16:creationId xmlns:a16="http://schemas.microsoft.com/office/drawing/2014/main" id="{29418574-3FBD-57FA-CD54-1AFE3309E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F8338030-4579-2A53-71DC-C635722DE285}"/>
              </a:ext>
            </a:extLst>
          </p:cNvPr>
          <p:cNvSpPr/>
          <p:nvPr/>
        </p:nvSpPr>
        <p:spPr>
          <a:xfrm>
            <a:off x="411480" y="22100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G.H.O.S.T  |  Appendix</a:t>
            </a:r>
            <a:endParaRPr lang="en-US" sz="1000" b="1" dirty="0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D2FC98CE-48D2-0A42-65EA-8942F99818A7}"/>
              </a:ext>
            </a:extLst>
          </p:cNvPr>
          <p:cNvSpPr/>
          <p:nvPr/>
        </p:nvSpPr>
        <p:spPr>
          <a:xfrm>
            <a:off x="3908158" y="2874645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Appendix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34671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>
          <a:extLst>
            <a:ext uri="{FF2B5EF4-FFF2-40B4-BE49-F238E27FC236}">
              <a16:creationId xmlns:a16="http://schemas.microsoft.com/office/drawing/2014/main" id="{2EE6B4CC-5292-3C38-B156-AFC5A133C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0">
            <a:extLst>
              <a:ext uri="{FF2B5EF4-FFF2-40B4-BE49-F238E27FC236}">
                <a16:creationId xmlns:a16="http://schemas.microsoft.com/office/drawing/2014/main" id="{55F57EEC-579A-014F-13EB-69F0A5338454}"/>
              </a:ext>
            </a:extLst>
          </p:cNvPr>
          <p:cNvSpPr/>
          <p:nvPr/>
        </p:nvSpPr>
        <p:spPr>
          <a:xfrm>
            <a:off x="411480" y="22100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G.H.O.S.T  |  PRIORITIZATION</a:t>
            </a:r>
            <a:endParaRPr lang="en-US" sz="1000" b="1" dirty="0"/>
          </a:p>
        </p:txBody>
      </p:sp>
      <p:sp>
        <p:nvSpPr>
          <p:cNvPr id="2" name="Google Shape;315;p47">
            <a:extLst>
              <a:ext uri="{FF2B5EF4-FFF2-40B4-BE49-F238E27FC236}">
                <a16:creationId xmlns:a16="http://schemas.microsoft.com/office/drawing/2014/main" id="{F292DA64-E4D5-D879-E3C4-AAF282D52FD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71399" y="590500"/>
            <a:ext cx="10176705" cy="304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Deciding what to model first !</a:t>
            </a:r>
            <a:endParaRPr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5F5B093-7D4C-A897-B0B1-F4555BEE8C9F}"/>
              </a:ext>
            </a:extLst>
          </p:cNvPr>
          <p:cNvSpPr/>
          <p:nvPr/>
        </p:nvSpPr>
        <p:spPr>
          <a:xfrm>
            <a:off x="365760" y="1051560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 risk-scoring matrix for deciding which app components to test first. AGE-X adds user-population vulnerability as a first-class driver.</a:t>
            </a:r>
            <a:endParaRPr lang="en-US" dirty="0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1B9D6177-8822-C078-8167-1FA63F79F910}"/>
              </a:ext>
            </a:extLst>
          </p:cNvPr>
          <p:cNvSpPr/>
          <p:nvPr/>
        </p:nvSpPr>
        <p:spPr>
          <a:xfrm>
            <a:off x="365760" y="1554480"/>
            <a:ext cx="11475720" cy="548640"/>
          </a:xfrm>
          <a:prstGeom prst="rect">
            <a:avLst/>
          </a:prstGeom>
          <a:solidFill>
            <a:srgbClr val="162236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374E454A-CA40-8B25-2124-A76741E1A929}"/>
              </a:ext>
            </a:extLst>
          </p:cNvPr>
          <p:cNvSpPr/>
          <p:nvPr/>
        </p:nvSpPr>
        <p:spPr>
          <a:xfrm>
            <a:off x="365760" y="1554480"/>
            <a:ext cx="54864" cy="548640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66AA5426-1763-BBF3-CFDC-8A59F1154615}"/>
              </a:ext>
            </a:extLst>
          </p:cNvPr>
          <p:cNvSpPr/>
          <p:nvPr/>
        </p:nvSpPr>
        <p:spPr>
          <a:xfrm>
            <a:off x="594360" y="1609344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 Score =</a:t>
            </a:r>
            <a:endParaRPr lang="en-US" sz="1400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4204B6AD-A99F-E777-11F9-58C2AD0F8185}"/>
              </a:ext>
            </a:extLst>
          </p:cNvPr>
          <p:cNvSpPr/>
          <p:nvPr/>
        </p:nvSpPr>
        <p:spPr>
          <a:xfrm>
            <a:off x="2011680" y="1609344"/>
            <a:ext cx="9738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(.20 × PRI)</a:t>
            </a:r>
            <a:r>
              <a:rPr lang="en-US" sz="1100" dirty="0">
                <a:solidFill>
                  <a:srgbClr val="8A92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 </a:t>
            </a:r>
            <a:r>
              <a:rPr lang="en-US" sz="1100" b="1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(.15 × RPE)</a:t>
            </a:r>
            <a:r>
              <a:rPr lang="en-US" sz="1100" dirty="0">
                <a:solidFill>
                  <a:srgbClr val="8A92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 </a:t>
            </a:r>
            <a:r>
              <a:rPr lang="en-US" sz="1100" b="1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(.15 × UBC)</a:t>
            </a:r>
            <a:r>
              <a:rPr lang="en-US" sz="1100" dirty="0">
                <a:solidFill>
                  <a:srgbClr val="8A92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 </a:t>
            </a:r>
            <a:r>
              <a:rPr lang="en-US" sz="1100" b="1" dirty="0">
                <a:solidFill>
                  <a:srgbClr val="F0A0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(.15 × AGE-X)</a:t>
            </a:r>
            <a:r>
              <a:rPr lang="en-US" sz="1100" dirty="0">
                <a:solidFill>
                  <a:srgbClr val="8A92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 </a:t>
            </a:r>
            <a:r>
              <a:rPr lang="en-US" sz="1100" b="1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(.15 × PP)</a:t>
            </a:r>
            <a:r>
              <a:rPr lang="en-US" sz="1100" dirty="0">
                <a:solidFill>
                  <a:srgbClr val="8A92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 </a:t>
            </a:r>
            <a:r>
              <a:rPr lang="en-US" sz="1100" b="1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(.10 × FE)</a:t>
            </a:r>
            <a:r>
              <a:rPr lang="en-US" sz="1100" dirty="0">
                <a:solidFill>
                  <a:srgbClr val="8A92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 </a:t>
            </a:r>
            <a:r>
              <a:rPr lang="en-US" sz="1100" b="1" dirty="0">
                <a:solidFill>
                  <a:srgbClr val="9FE1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(.10 × CIA)</a:t>
            </a:r>
            <a:endParaRPr lang="en-US" sz="1100" dirty="0"/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047E4F41-9846-AFF3-D2E0-4FE3F4AED592}"/>
              </a:ext>
            </a:extLst>
          </p:cNvPr>
          <p:cNvSpPr/>
          <p:nvPr/>
        </p:nvSpPr>
        <p:spPr>
          <a:xfrm>
            <a:off x="365760" y="2286000"/>
            <a:ext cx="7040880" cy="365760"/>
          </a:xfrm>
          <a:prstGeom prst="rect">
            <a:avLst/>
          </a:prstGeom>
          <a:solidFill>
            <a:srgbClr val="1A2540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6EEBB0F1-2DCC-6637-5D45-7B95A27FFABA}"/>
              </a:ext>
            </a:extLst>
          </p:cNvPr>
          <p:cNvSpPr/>
          <p:nvPr/>
        </p:nvSpPr>
        <p:spPr>
          <a:xfrm>
            <a:off x="457200" y="228600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CODE</a:t>
            </a:r>
            <a:endParaRPr lang="en-US" sz="100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D3B2389D-4B99-69A7-7E49-941E30C123D2}"/>
              </a:ext>
            </a:extLst>
          </p:cNvPr>
          <p:cNvSpPr/>
          <p:nvPr/>
        </p:nvSpPr>
        <p:spPr>
          <a:xfrm>
            <a:off x="1234440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CRITERIA</a:t>
            </a:r>
            <a:endParaRPr lang="en-US" sz="100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B944EE96-7B02-76D6-ED0A-61916545F456}"/>
              </a:ext>
            </a:extLst>
          </p:cNvPr>
          <p:cNvSpPr/>
          <p:nvPr/>
        </p:nvSpPr>
        <p:spPr>
          <a:xfrm>
            <a:off x="3337560" y="2286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MEASURES</a:t>
            </a:r>
            <a:endParaRPr lang="en-US" sz="1000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15B25239-D3B3-2C4B-4207-46B0CADEEC93}"/>
              </a:ext>
            </a:extLst>
          </p:cNvPr>
          <p:cNvSpPr/>
          <p:nvPr/>
        </p:nvSpPr>
        <p:spPr>
          <a:xfrm>
            <a:off x="6537960" y="22860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WEIGHT</a:t>
            </a:r>
            <a:endParaRPr lang="en-US" sz="1000" dirty="0"/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07EE24CD-5785-4EA4-E626-49FD7C0102DF}"/>
              </a:ext>
            </a:extLst>
          </p:cNvPr>
          <p:cNvSpPr/>
          <p:nvPr/>
        </p:nvSpPr>
        <p:spPr>
          <a:xfrm>
            <a:off x="365760" y="2651760"/>
            <a:ext cx="7040880" cy="411480"/>
          </a:xfrm>
          <a:prstGeom prst="rect">
            <a:avLst/>
          </a:prstGeom>
          <a:solidFill>
            <a:srgbClr val="121C2E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1742E110-4483-438C-4B5E-9ADBA16063DC}"/>
              </a:ext>
            </a:extLst>
          </p:cNvPr>
          <p:cNvSpPr/>
          <p:nvPr/>
        </p:nvSpPr>
        <p:spPr>
          <a:xfrm>
            <a:off x="457200" y="265176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F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</a:t>
            </a:r>
            <a:endParaRPr lang="en-US" sz="1050" dirty="0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74AF5B73-B979-8B29-0EEE-B1661513F899}"/>
              </a:ext>
            </a:extLst>
          </p:cNvPr>
          <p:cNvSpPr/>
          <p:nvPr/>
        </p:nvSpPr>
        <p:spPr>
          <a:xfrm>
            <a:off x="1234440" y="2651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Business Priority</a:t>
            </a:r>
            <a:endParaRPr lang="en-US" sz="1050" dirty="0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F1B29516-50DA-68CF-75EA-A3A0C1FDB4B6}"/>
              </a:ext>
            </a:extLst>
          </p:cNvPr>
          <p:cNvSpPr/>
          <p:nvPr/>
        </p:nvSpPr>
        <p:spPr>
          <a:xfrm>
            <a:off x="3337560" y="2651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Strategic and revenue importance</a:t>
            </a:r>
            <a:endParaRPr lang="en-US" sz="1000" dirty="0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C3125C55-9846-EC8A-99E9-27714C81101C}"/>
              </a:ext>
            </a:extLst>
          </p:cNvPr>
          <p:cNvSpPr/>
          <p:nvPr/>
        </p:nvSpPr>
        <p:spPr>
          <a:xfrm>
            <a:off x="6675120" y="265176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20%</a:t>
            </a:r>
            <a:endParaRPr lang="en-US" sz="1100" dirty="0"/>
          </a:p>
        </p:txBody>
      </p:sp>
      <p:sp>
        <p:nvSpPr>
          <p:cNvPr id="20" name="Shape 19">
            <a:extLst>
              <a:ext uri="{FF2B5EF4-FFF2-40B4-BE49-F238E27FC236}">
                <a16:creationId xmlns:a16="http://schemas.microsoft.com/office/drawing/2014/main" id="{6C3B7DCF-91FD-1CA8-8BDA-AAD573317A9E}"/>
              </a:ext>
            </a:extLst>
          </p:cNvPr>
          <p:cNvSpPr/>
          <p:nvPr/>
        </p:nvSpPr>
        <p:spPr>
          <a:xfrm>
            <a:off x="365760" y="3063240"/>
            <a:ext cx="7040880" cy="411480"/>
          </a:xfrm>
          <a:prstGeom prst="rect">
            <a:avLst/>
          </a:prstGeom>
          <a:solidFill>
            <a:srgbClr val="1A2540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0AD441F1-BC97-4448-EA06-8B7E6D31844B}"/>
              </a:ext>
            </a:extLst>
          </p:cNvPr>
          <p:cNvSpPr/>
          <p:nvPr/>
        </p:nvSpPr>
        <p:spPr>
          <a:xfrm>
            <a:off x="457200" y="306324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F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RPE</a:t>
            </a:r>
            <a:endParaRPr lang="en-US" sz="1050" dirty="0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A86E5872-DF8B-1E8B-D4C8-92F267E1D6DB}"/>
              </a:ext>
            </a:extLst>
          </p:cNvPr>
          <p:cNvSpPr/>
          <p:nvPr/>
        </p:nvSpPr>
        <p:spPr>
          <a:xfrm>
            <a:off x="1234440" y="3063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Regulatory Exposure</a:t>
            </a:r>
            <a:endParaRPr lang="en-US" sz="1050" dirty="0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396BC81B-4CC7-1C4D-61C0-CEDD1AFFAF25}"/>
              </a:ext>
            </a:extLst>
          </p:cNvPr>
          <p:cNvSpPr/>
          <p:nvPr/>
        </p:nvSpPr>
        <p:spPr>
          <a:xfrm>
            <a:off x="3337560" y="3063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GDPR, COPPA, DSA, OSA obligations</a:t>
            </a:r>
            <a:endParaRPr lang="en-US" sz="1000" dirty="0"/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D8ED379D-0A49-EAB3-637F-D0AF0BA98385}"/>
              </a:ext>
            </a:extLst>
          </p:cNvPr>
          <p:cNvSpPr/>
          <p:nvPr/>
        </p:nvSpPr>
        <p:spPr>
          <a:xfrm>
            <a:off x="6675120" y="306324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15%</a:t>
            </a:r>
            <a:endParaRPr lang="en-US" sz="1100" dirty="0"/>
          </a:p>
        </p:txBody>
      </p:sp>
      <p:sp>
        <p:nvSpPr>
          <p:cNvPr id="25" name="Shape 24">
            <a:extLst>
              <a:ext uri="{FF2B5EF4-FFF2-40B4-BE49-F238E27FC236}">
                <a16:creationId xmlns:a16="http://schemas.microsoft.com/office/drawing/2014/main" id="{96818C16-02EC-DB9E-5CE1-3BA9FBFAD632}"/>
              </a:ext>
            </a:extLst>
          </p:cNvPr>
          <p:cNvSpPr/>
          <p:nvPr/>
        </p:nvSpPr>
        <p:spPr>
          <a:xfrm>
            <a:off x="365760" y="3474720"/>
            <a:ext cx="7040880" cy="411480"/>
          </a:xfrm>
          <a:prstGeom prst="rect">
            <a:avLst/>
          </a:prstGeom>
          <a:solidFill>
            <a:srgbClr val="121C2E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BA5D3F4E-C607-FC97-7FBC-01F07C8D4B87}"/>
              </a:ext>
            </a:extLst>
          </p:cNvPr>
          <p:cNvSpPr/>
          <p:nvPr/>
        </p:nvSpPr>
        <p:spPr>
          <a:xfrm>
            <a:off x="457200" y="347472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F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UBC</a:t>
            </a:r>
            <a:endParaRPr lang="en-US" sz="1050" dirty="0"/>
          </a:p>
        </p:txBody>
      </p:sp>
      <p:sp>
        <p:nvSpPr>
          <p:cNvPr id="27" name="Text 26">
            <a:extLst>
              <a:ext uri="{FF2B5EF4-FFF2-40B4-BE49-F238E27FC236}">
                <a16:creationId xmlns:a16="http://schemas.microsoft.com/office/drawing/2014/main" id="{A0382AF6-F595-A418-91AB-7E0A29E20164}"/>
              </a:ext>
            </a:extLst>
          </p:cNvPr>
          <p:cNvSpPr/>
          <p:nvPr/>
        </p:nvSpPr>
        <p:spPr>
          <a:xfrm>
            <a:off x="1234440" y="3474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User-Base Coverage</a:t>
            </a:r>
            <a:endParaRPr lang="en-US" sz="1050" dirty="0"/>
          </a:p>
        </p:txBody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C822A3F4-9046-158C-96B3-227DBADC24D3}"/>
              </a:ext>
            </a:extLst>
          </p:cNvPr>
          <p:cNvSpPr/>
          <p:nvPr/>
        </p:nvSpPr>
        <p:spPr>
          <a:xfrm>
            <a:off x="3337560" y="3474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Proportion of users touching this surface</a:t>
            </a:r>
            <a:endParaRPr lang="en-US" sz="1000" dirty="0"/>
          </a:p>
        </p:txBody>
      </p:sp>
      <p:sp>
        <p:nvSpPr>
          <p:cNvPr id="29" name="Text 28">
            <a:extLst>
              <a:ext uri="{FF2B5EF4-FFF2-40B4-BE49-F238E27FC236}">
                <a16:creationId xmlns:a16="http://schemas.microsoft.com/office/drawing/2014/main" id="{D3F930BE-2297-ADBD-3B99-474BD2B69488}"/>
              </a:ext>
            </a:extLst>
          </p:cNvPr>
          <p:cNvSpPr/>
          <p:nvPr/>
        </p:nvSpPr>
        <p:spPr>
          <a:xfrm>
            <a:off x="6675120" y="347472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15%</a:t>
            </a:r>
            <a:endParaRPr lang="en-US" sz="1100" dirty="0"/>
          </a:p>
        </p:txBody>
      </p:sp>
      <p:sp>
        <p:nvSpPr>
          <p:cNvPr id="30" name="Shape 29">
            <a:extLst>
              <a:ext uri="{FF2B5EF4-FFF2-40B4-BE49-F238E27FC236}">
                <a16:creationId xmlns:a16="http://schemas.microsoft.com/office/drawing/2014/main" id="{69D47086-666F-60A0-D9C6-2C9F209ADD3B}"/>
              </a:ext>
            </a:extLst>
          </p:cNvPr>
          <p:cNvSpPr/>
          <p:nvPr/>
        </p:nvSpPr>
        <p:spPr>
          <a:xfrm>
            <a:off x="365760" y="3886200"/>
            <a:ext cx="7040880" cy="411480"/>
          </a:xfrm>
          <a:prstGeom prst="rect">
            <a:avLst/>
          </a:prstGeom>
          <a:solidFill>
            <a:srgbClr val="2A1E0E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30">
            <a:extLst>
              <a:ext uri="{FF2B5EF4-FFF2-40B4-BE49-F238E27FC236}">
                <a16:creationId xmlns:a16="http://schemas.microsoft.com/office/drawing/2014/main" id="{67BE890A-BA04-F623-5CEB-23C67330FE7F}"/>
              </a:ext>
            </a:extLst>
          </p:cNvPr>
          <p:cNvSpPr/>
          <p:nvPr/>
        </p:nvSpPr>
        <p:spPr>
          <a:xfrm>
            <a:off x="365760" y="3886200"/>
            <a:ext cx="45720" cy="411480"/>
          </a:xfrm>
          <a:prstGeom prst="rect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1">
            <a:extLst>
              <a:ext uri="{FF2B5EF4-FFF2-40B4-BE49-F238E27FC236}">
                <a16:creationId xmlns:a16="http://schemas.microsoft.com/office/drawing/2014/main" id="{F825C949-B035-4CA1-85CA-6525F19DBEC5}"/>
              </a:ext>
            </a:extLst>
          </p:cNvPr>
          <p:cNvSpPr/>
          <p:nvPr/>
        </p:nvSpPr>
        <p:spPr>
          <a:xfrm>
            <a:off x="457200" y="388620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A0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AGE-X</a:t>
            </a:r>
            <a:endParaRPr lang="en-US" sz="1050" dirty="0"/>
          </a:p>
        </p:txBody>
      </p:sp>
      <p:sp>
        <p:nvSpPr>
          <p:cNvPr id="33" name="Text 32">
            <a:extLst>
              <a:ext uri="{FF2B5EF4-FFF2-40B4-BE49-F238E27FC236}">
                <a16:creationId xmlns:a16="http://schemas.microsoft.com/office/drawing/2014/main" id="{0ADD2F98-14F6-07B8-FB0A-398F621E21D8}"/>
              </a:ext>
            </a:extLst>
          </p:cNvPr>
          <p:cNvSpPr/>
          <p:nvPr/>
        </p:nvSpPr>
        <p:spPr>
          <a:xfrm>
            <a:off x="1234440" y="38862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Age-Group Exposure</a:t>
            </a:r>
            <a:endParaRPr lang="en-US" sz="1050" dirty="0"/>
          </a:p>
        </p:txBody>
      </p:sp>
      <p:sp>
        <p:nvSpPr>
          <p:cNvPr id="34" name="Text 33">
            <a:extLst>
              <a:ext uri="{FF2B5EF4-FFF2-40B4-BE49-F238E27FC236}">
                <a16:creationId xmlns:a16="http://schemas.microsoft.com/office/drawing/2014/main" id="{3095CFDD-2E04-37E1-1F9F-C3ADF9056369}"/>
              </a:ext>
            </a:extLst>
          </p:cNvPr>
          <p:cNvSpPr/>
          <p:nvPr/>
        </p:nvSpPr>
        <p:spPr>
          <a:xfrm>
            <a:off x="3337560" y="3886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Risk to or from vulnerable populations</a:t>
            </a:r>
            <a:endParaRPr lang="en-US" sz="1000" dirty="0"/>
          </a:p>
        </p:txBody>
      </p:sp>
      <p:sp>
        <p:nvSpPr>
          <p:cNvPr id="35" name="Text 34">
            <a:extLst>
              <a:ext uri="{FF2B5EF4-FFF2-40B4-BE49-F238E27FC236}">
                <a16:creationId xmlns:a16="http://schemas.microsoft.com/office/drawing/2014/main" id="{2CA4AB43-C6B8-E1A3-2C04-FACD9669A04E}"/>
              </a:ext>
            </a:extLst>
          </p:cNvPr>
          <p:cNvSpPr/>
          <p:nvPr/>
        </p:nvSpPr>
        <p:spPr>
          <a:xfrm>
            <a:off x="6675120" y="388620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0A04B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15%</a:t>
            </a:r>
            <a:endParaRPr lang="en-US" sz="1100" dirty="0"/>
          </a:p>
        </p:txBody>
      </p:sp>
      <p:sp>
        <p:nvSpPr>
          <p:cNvPr id="36" name="Shape 35">
            <a:extLst>
              <a:ext uri="{FF2B5EF4-FFF2-40B4-BE49-F238E27FC236}">
                <a16:creationId xmlns:a16="http://schemas.microsoft.com/office/drawing/2014/main" id="{852B5134-F74F-31CB-B26B-1BD18505CDE2}"/>
              </a:ext>
            </a:extLst>
          </p:cNvPr>
          <p:cNvSpPr/>
          <p:nvPr/>
        </p:nvSpPr>
        <p:spPr>
          <a:xfrm>
            <a:off x="365760" y="4297680"/>
            <a:ext cx="7040880" cy="411480"/>
          </a:xfrm>
          <a:prstGeom prst="rect">
            <a:avLst/>
          </a:prstGeom>
          <a:solidFill>
            <a:srgbClr val="121C2E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6">
            <a:extLst>
              <a:ext uri="{FF2B5EF4-FFF2-40B4-BE49-F238E27FC236}">
                <a16:creationId xmlns:a16="http://schemas.microsoft.com/office/drawing/2014/main" id="{5546118E-86A6-875C-5A8B-A10FBCE3887A}"/>
              </a:ext>
            </a:extLst>
          </p:cNvPr>
          <p:cNvSpPr/>
          <p:nvPr/>
        </p:nvSpPr>
        <p:spPr>
          <a:xfrm>
            <a:off x="457200" y="429768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F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</a:t>
            </a:r>
            <a:endParaRPr lang="en-US" sz="1050" dirty="0"/>
          </a:p>
        </p:txBody>
      </p:sp>
      <p:sp>
        <p:nvSpPr>
          <p:cNvPr id="38" name="Text 37">
            <a:extLst>
              <a:ext uri="{FF2B5EF4-FFF2-40B4-BE49-F238E27FC236}">
                <a16:creationId xmlns:a16="http://schemas.microsoft.com/office/drawing/2014/main" id="{DB190724-A9E4-F966-937E-088A04C2C94D}"/>
              </a:ext>
            </a:extLst>
          </p:cNvPr>
          <p:cNvSpPr/>
          <p:nvPr/>
        </p:nvSpPr>
        <p:spPr>
          <a:xfrm>
            <a:off x="1234440" y="4297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Propagation Potential</a:t>
            </a:r>
            <a:endParaRPr lang="en-US" sz="1050" dirty="0"/>
          </a:p>
        </p:txBody>
      </p:sp>
      <p:sp>
        <p:nvSpPr>
          <p:cNvPr id="39" name="Text 38">
            <a:extLst>
              <a:ext uri="{FF2B5EF4-FFF2-40B4-BE49-F238E27FC236}">
                <a16:creationId xmlns:a16="http://schemas.microsoft.com/office/drawing/2014/main" id="{6B5C07A9-ED48-F627-78E1-62254BA4A8EA}"/>
              </a:ext>
            </a:extLst>
          </p:cNvPr>
          <p:cNvSpPr/>
          <p:nvPr/>
        </p:nvSpPr>
        <p:spPr>
          <a:xfrm>
            <a:off x="3337560" y="42976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Can threats spread to other surfaces?</a:t>
            </a:r>
            <a:endParaRPr lang="en-US" sz="1000" dirty="0"/>
          </a:p>
        </p:txBody>
      </p:sp>
      <p:sp>
        <p:nvSpPr>
          <p:cNvPr id="40" name="Text 39">
            <a:extLst>
              <a:ext uri="{FF2B5EF4-FFF2-40B4-BE49-F238E27FC236}">
                <a16:creationId xmlns:a16="http://schemas.microsoft.com/office/drawing/2014/main" id="{C0C46BD3-F3F2-2979-86F0-C608A50635C7}"/>
              </a:ext>
            </a:extLst>
          </p:cNvPr>
          <p:cNvSpPr/>
          <p:nvPr/>
        </p:nvSpPr>
        <p:spPr>
          <a:xfrm>
            <a:off x="6675120" y="429768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15%</a:t>
            </a:r>
            <a:endParaRPr lang="en-US" sz="1100" dirty="0"/>
          </a:p>
        </p:txBody>
      </p:sp>
      <p:sp>
        <p:nvSpPr>
          <p:cNvPr id="41" name="Shape 40">
            <a:extLst>
              <a:ext uri="{FF2B5EF4-FFF2-40B4-BE49-F238E27FC236}">
                <a16:creationId xmlns:a16="http://schemas.microsoft.com/office/drawing/2014/main" id="{736E38FA-65F3-1ECD-5B9B-A0D0BCD3EF55}"/>
              </a:ext>
            </a:extLst>
          </p:cNvPr>
          <p:cNvSpPr/>
          <p:nvPr/>
        </p:nvSpPr>
        <p:spPr>
          <a:xfrm>
            <a:off x="365760" y="4709160"/>
            <a:ext cx="7040880" cy="411480"/>
          </a:xfrm>
          <a:prstGeom prst="rect">
            <a:avLst/>
          </a:prstGeom>
          <a:solidFill>
            <a:srgbClr val="1A2540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0" name="Text 41">
            <a:extLst>
              <a:ext uri="{FF2B5EF4-FFF2-40B4-BE49-F238E27FC236}">
                <a16:creationId xmlns:a16="http://schemas.microsoft.com/office/drawing/2014/main" id="{2673F2C5-82A5-581F-AECF-FC76A45FB539}"/>
              </a:ext>
            </a:extLst>
          </p:cNvPr>
          <p:cNvSpPr/>
          <p:nvPr/>
        </p:nvSpPr>
        <p:spPr>
          <a:xfrm>
            <a:off x="457200" y="470916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F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</a:t>
            </a:r>
            <a:endParaRPr lang="en-US" sz="1050" dirty="0"/>
          </a:p>
        </p:txBody>
      </p:sp>
      <p:sp>
        <p:nvSpPr>
          <p:cNvPr id="481" name="Text 42">
            <a:extLst>
              <a:ext uri="{FF2B5EF4-FFF2-40B4-BE49-F238E27FC236}">
                <a16:creationId xmlns:a16="http://schemas.microsoft.com/office/drawing/2014/main" id="{E05754C4-6B53-5817-99EA-54E86DF453AA}"/>
              </a:ext>
            </a:extLst>
          </p:cNvPr>
          <p:cNvSpPr/>
          <p:nvPr/>
        </p:nvSpPr>
        <p:spPr>
          <a:xfrm>
            <a:off x="1234440" y="4709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Financial Exposure</a:t>
            </a:r>
            <a:endParaRPr lang="en-US" sz="1050" dirty="0"/>
          </a:p>
        </p:txBody>
      </p:sp>
      <p:sp>
        <p:nvSpPr>
          <p:cNvPr id="482" name="Text 43">
            <a:extLst>
              <a:ext uri="{FF2B5EF4-FFF2-40B4-BE49-F238E27FC236}">
                <a16:creationId xmlns:a16="http://schemas.microsoft.com/office/drawing/2014/main" id="{D0264F3A-C483-F277-B777-E46B1E5A1553}"/>
              </a:ext>
            </a:extLst>
          </p:cNvPr>
          <p:cNvSpPr/>
          <p:nvPr/>
        </p:nvSpPr>
        <p:spPr>
          <a:xfrm>
            <a:off x="3337560" y="4709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Direct monetary risk to users or platform</a:t>
            </a:r>
            <a:endParaRPr lang="en-US" sz="1000" dirty="0"/>
          </a:p>
        </p:txBody>
      </p:sp>
      <p:sp>
        <p:nvSpPr>
          <p:cNvPr id="483" name="Text 44">
            <a:extLst>
              <a:ext uri="{FF2B5EF4-FFF2-40B4-BE49-F238E27FC236}">
                <a16:creationId xmlns:a16="http://schemas.microsoft.com/office/drawing/2014/main" id="{08E703EB-55FF-895A-0138-0D4EA6E458F9}"/>
              </a:ext>
            </a:extLst>
          </p:cNvPr>
          <p:cNvSpPr/>
          <p:nvPr/>
        </p:nvSpPr>
        <p:spPr>
          <a:xfrm>
            <a:off x="6675120" y="470916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10%</a:t>
            </a:r>
            <a:endParaRPr lang="en-US" sz="1100" dirty="0"/>
          </a:p>
        </p:txBody>
      </p:sp>
      <p:sp>
        <p:nvSpPr>
          <p:cNvPr id="484" name="Shape 45">
            <a:extLst>
              <a:ext uri="{FF2B5EF4-FFF2-40B4-BE49-F238E27FC236}">
                <a16:creationId xmlns:a16="http://schemas.microsoft.com/office/drawing/2014/main" id="{39EF3203-B0CF-B106-9423-2CE1DB24E22E}"/>
              </a:ext>
            </a:extLst>
          </p:cNvPr>
          <p:cNvSpPr/>
          <p:nvPr/>
        </p:nvSpPr>
        <p:spPr>
          <a:xfrm>
            <a:off x="365760" y="5120640"/>
            <a:ext cx="7040880" cy="411480"/>
          </a:xfrm>
          <a:prstGeom prst="rect">
            <a:avLst/>
          </a:prstGeom>
          <a:solidFill>
            <a:srgbClr val="121C2E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5" name="Text 46">
            <a:extLst>
              <a:ext uri="{FF2B5EF4-FFF2-40B4-BE49-F238E27FC236}">
                <a16:creationId xmlns:a16="http://schemas.microsoft.com/office/drawing/2014/main" id="{398B281E-0369-5C79-5742-4FC7FC4BF765}"/>
              </a:ext>
            </a:extLst>
          </p:cNvPr>
          <p:cNvSpPr/>
          <p:nvPr/>
        </p:nvSpPr>
        <p:spPr>
          <a:xfrm>
            <a:off x="457200" y="512064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F4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CIA</a:t>
            </a:r>
            <a:endParaRPr lang="en-US" sz="1050" dirty="0"/>
          </a:p>
        </p:txBody>
      </p:sp>
      <p:sp>
        <p:nvSpPr>
          <p:cNvPr id="486" name="Text 47">
            <a:extLst>
              <a:ext uri="{FF2B5EF4-FFF2-40B4-BE49-F238E27FC236}">
                <a16:creationId xmlns:a16="http://schemas.microsoft.com/office/drawing/2014/main" id="{FEECF653-2AF6-A048-4DA4-1FFC8CEAF8AD}"/>
              </a:ext>
            </a:extLst>
          </p:cNvPr>
          <p:cNvSpPr/>
          <p:nvPr/>
        </p:nvSpPr>
        <p:spPr>
          <a:xfrm>
            <a:off x="1234440" y="5120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CIA Impact</a:t>
            </a:r>
            <a:endParaRPr lang="en-US" sz="1050" dirty="0"/>
          </a:p>
        </p:txBody>
      </p:sp>
      <p:sp>
        <p:nvSpPr>
          <p:cNvPr id="487" name="Text 48">
            <a:extLst>
              <a:ext uri="{FF2B5EF4-FFF2-40B4-BE49-F238E27FC236}">
                <a16:creationId xmlns:a16="http://schemas.microsoft.com/office/drawing/2014/main" id="{2CDCE4F7-CDDF-09D0-C67F-6A49C2671F0E}"/>
              </a:ext>
            </a:extLst>
          </p:cNvPr>
          <p:cNvSpPr/>
          <p:nvPr/>
        </p:nvSpPr>
        <p:spPr>
          <a:xfrm>
            <a:off x="3337560" y="5120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Confidentiality, Integrity, Availability</a:t>
            </a:r>
            <a:endParaRPr lang="en-US" sz="1000" dirty="0"/>
          </a:p>
        </p:txBody>
      </p:sp>
      <p:sp>
        <p:nvSpPr>
          <p:cNvPr id="488" name="Text 49">
            <a:extLst>
              <a:ext uri="{FF2B5EF4-FFF2-40B4-BE49-F238E27FC236}">
                <a16:creationId xmlns:a16="http://schemas.microsoft.com/office/drawing/2014/main" id="{35F8FBEB-FF03-47A2-B320-F17111CE8261}"/>
              </a:ext>
            </a:extLst>
          </p:cNvPr>
          <p:cNvSpPr/>
          <p:nvPr/>
        </p:nvSpPr>
        <p:spPr>
          <a:xfrm>
            <a:off x="6675120" y="512064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10%</a:t>
            </a:r>
            <a:endParaRPr lang="en-US" sz="1100" dirty="0"/>
          </a:p>
        </p:txBody>
      </p:sp>
      <p:sp>
        <p:nvSpPr>
          <p:cNvPr id="489" name="Shape 50">
            <a:extLst>
              <a:ext uri="{FF2B5EF4-FFF2-40B4-BE49-F238E27FC236}">
                <a16:creationId xmlns:a16="http://schemas.microsoft.com/office/drawing/2014/main" id="{849A3FB1-7439-C374-DDBF-6387DB4EFA44}"/>
              </a:ext>
            </a:extLst>
          </p:cNvPr>
          <p:cNvSpPr/>
          <p:nvPr/>
        </p:nvSpPr>
        <p:spPr>
          <a:xfrm>
            <a:off x="7589520" y="2286000"/>
            <a:ext cx="4251960" cy="1828800"/>
          </a:xfrm>
          <a:prstGeom prst="rect">
            <a:avLst/>
          </a:prstGeom>
          <a:solidFill>
            <a:srgbClr val="121C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490" name="Shape 51">
            <a:extLst>
              <a:ext uri="{FF2B5EF4-FFF2-40B4-BE49-F238E27FC236}">
                <a16:creationId xmlns:a16="http://schemas.microsoft.com/office/drawing/2014/main" id="{363C2C2F-245C-000B-9F62-F717B77644A1}"/>
              </a:ext>
            </a:extLst>
          </p:cNvPr>
          <p:cNvSpPr/>
          <p:nvPr/>
        </p:nvSpPr>
        <p:spPr>
          <a:xfrm>
            <a:off x="7589520" y="2286000"/>
            <a:ext cx="54864" cy="1828800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1" name="Text 52">
            <a:extLst>
              <a:ext uri="{FF2B5EF4-FFF2-40B4-BE49-F238E27FC236}">
                <a16:creationId xmlns:a16="http://schemas.microsoft.com/office/drawing/2014/main" id="{34C73948-D360-44A4-F067-9E34784D044D}"/>
              </a:ext>
            </a:extLst>
          </p:cNvPr>
          <p:cNvSpPr/>
          <p:nvPr/>
        </p:nvSpPr>
        <p:spPr>
          <a:xfrm>
            <a:off x="7772400" y="239572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HOW TO APPLY</a:t>
            </a:r>
            <a:endParaRPr lang="en-US" sz="1100" dirty="0"/>
          </a:p>
        </p:txBody>
      </p:sp>
      <p:sp>
        <p:nvSpPr>
          <p:cNvPr id="492" name="Text 53">
            <a:extLst>
              <a:ext uri="{FF2B5EF4-FFF2-40B4-BE49-F238E27FC236}">
                <a16:creationId xmlns:a16="http://schemas.microsoft.com/office/drawing/2014/main" id="{A42BF410-F32B-9B8A-51AB-BCB7E7560618}"/>
              </a:ext>
            </a:extLst>
          </p:cNvPr>
          <p:cNvSpPr/>
          <p:nvPr/>
        </p:nvSpPr>
        <p:spPr>
          <a:xfrm>
            <a:off x="7772400" y="2670048"/>
            <a:ext cx="3886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1. </a:t>
            </a:r>
            <a:r>
              <a:rPr lang="en-US" sz="1200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Score each app component 1–5 on every criterion.
</a:t>
            </a:r>
            <a:r>
              <a:rPr lang="en-US" sz="1200" b="1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2. </a:t>
            </a:r>
            <a:r>
              <a:rPr lang="en-US" sz="1200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Apply the weighted formula to get a Risk Score.
</a:t>
            </a:r>
            <a:r>
              <a:rPr lang="en-US" sz="1200" b="1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3. </a:t>
            </a:r>
            <a:r>
              <a:rPr lang="en-US" sz="1200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Sort components by score, descending.
</a:t>
            </a:r>
            <a:r>
              <a:rPr lang="en-US" sz="1200" b="1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4. </a:t>
            </a:r>
            <a:r>
              <a:rPr lang="en-US" sz="1200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Instrument the top of the list first.</a:t>
            </a:r>
            <a:endParaRPr lang="en-US" sz="1200" dirty="0"/>
          </a:p>
        </p:txBody>
      </p:sp>
      <p:sp>
        <p:nvSpPr>
          <p:cNvPr id="493" name="Shape 54">
            <a:extLst>
              <a:ext uri="{FF2B5EF4-FFF2-40B4-BE49-F238E27FC236}">
                <a16:creationId xmlns:a16="http://schemas.microsoft.com/office/drawing/2014/main" id="{FEE7F4E0-245E-FE2F-4C13-E715364BFA70}"/>
              </a:ext>
            </a:extLst>
          </p:cNvPr>
          <p:cNvSpPr/>
          <p:nvPr/>
        </p:nvSpPr>
        <p:spPr>
          <a:xfrm>
            <a:off x="7589520" y="4251960"/>
            <a:ext cx="4251960" cy="1709928"/>
          </a:xfrm>
          <a:prstGeom prst="rect">
            <a:avLst/>
          </a:prstGeom>
          <a:solidFill>
            <a:srgbClr val="1A2540"/>
          </a:solidFill>
          <a:ln w="1905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4" name="Shape 55">
            <a:extLst>
              <a:ext uri="{FF2B5EF4-FFF2-40B4-BE49-F238E27FC236}">
                <a16:creationId xmlns:a16="http://schemas.microsoft.com/office/drawing/2014/main" id="{544D1804-5250-DA8B-151D-057B523F2D24}"/>
              </a:ext>
            </a:extLst>
          </p:cNvPr>
          <p:cNvSpPr/>
          <p:nvPr/>
        </p:nvSpPr>
        <p:spPr>
          <a:xfrm>
            <a:off x="7589520" y="4267200"/>
            <a:ext cx="54864" cy="1703832"/>
          </a:xfrm>
          <a:prstGeom prst="rect">
            <a:avLst/>
          </a:prstGeom>
          <a:solidFill>
            <a:srgbClr val="F0A04B"/>
          </a:solidFill>
          <a:ln w="12700">
            <a:solidFill>
              <a:srgbClr val="F0A0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5" name="Text 56">
            <a:extLst>
              <a:ext uri="{FF2B5EF4-FFF2-40B4-BE49-F238E27FC236}">
                <a16:creationId xmlns:a16="http://schemas.microsoft.com/office/drawing/2014/main" id="{92836F29-FA7D-25C2-67AF-67D4BFA24B5A}"/>
              </a:ext>
            </a:extLst>
          </p:cNvPr>
          <p:cNvSpPr/>
          <p:nvPr/>
        </p:nvSpPr>
        <p:spPr>
          <a:xfrm>
            <a:off x="7772400" y="436168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0A04B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AGE-X — THE INTENTIONAL ADDITION</a:t>
            </a:r>
            <a:endParaRPr lang="en-US" sz="1100" dirty="0"/>
          </a:p>
        </p:txBody>
      </p:sp>
      <p:sp>
        <p:nvSpPr>
          <p:cNvPr id="496" name="Text 57">
            <a:extLst>
              <a:ext uri="{FF2B5EF4-FFF2-40B4-BE49-F238E27FC236}">
                <a16:creationId xmlns:a16="http://schemas.microsoft.com/office/drawing/2014/main" id="{8E93ACD3-B56A-EFE7-8BC5-1A230E63BA8B}"/>
              </a:ext>
            </a:extLst>
          </p:cNvPr>
          <p:cNvSpPr/>
          <p:nvPr/>
        </p:nvSpPr>
        <p:spPr>
          <a:xfrm>
            <a:off x="7772400" y="463600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i="1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Most risk-scoring matrices don't measure vulnerability of the user population.</a:t>
            </a:r>
            <a:endParaRPr lang="en-US" dirty="0"/>
          </a:p>
        </p:txBody>
      </p:sp>
      <p:sp>
        <p:nvSpPr>
          <p:cNvPr id="497" name="Text 58">
            <a:extLst>
              <a:ext uri="{FF2B5EF4-FFF2-40B4-BE49-F238E27FC236}">
                <a16:creationId xmlns:a16="http://schemas.microsoft.com/office/drawing/2014/main" id="{7DAE9BCC-4AA0-23A8-1DED-3CDE3DBB32B1}"/>
              </a:ext>
            </a:extLst>
          </p:cNvPr>
          <p:cNvSpPr/>
          <p:nvPr/>
        </p:nvSpPr>
        <p:spPr>
          <a:xfrm>
            <a:off x="7772400" y="525780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For platforms serving minors or at-risk users, treat AGE-X as a first-class risk driver — not an optional secondary concern.</a:t>
            </a:r>
            <a:endParaRPr lang="en-US" dirty="0"/>
          </a:p>
        </p:txBody>
      </p:sp>
      <p:sp>
        <p:nvSpPr>
          <p:cNvPr id="498" name="Text 59">
            <a:extLst>
              <a:ext uri="{FF2B5EF4-FFF2-40B4-BE49-F238E27FC236}">
                <a16:creationId xmlns:a16="http://schemas.microsoft.com/office/drawing/2014/main" id="{7993749F-6E1D-9F4B-A270-6FFDD1FFDCB9}"/>
              </a:ext>
            </a:extLst>
          </p:cNvPr>
          <p:cNvSpPr/>
          <p:nvPr/>
        </p:nvSpPr>
        <p:spPr>
          <a:xfrm>
            <a:off x="365760" y="6565392"/>
            <a:ext cx="11475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Weights are tunable per platform. Default shown. What matters is that AGE-X is in the formula.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6061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>
          <a:extLst>
            <a:ext uri="{FF2B5EF4-FFF2-40B4-BE49-F238E27FC236}">
              <a16:creationId xmlns:a16="http://schemas.microsoft.com/office/drawing/2014/main" id="{7E525413-5993-093F-18B6-46082174B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0">
            <a:extLst>
              <a:ext uri="{FF2B5EF4-FFF2-40B4-BE49-F238E27FC236}">
                <a16:creationId xmlns:a16="http://schemas.microsoft.com/office/drawing/2014/main" id="{B5AAD8DE-9F7B-4736-9C93-AC7378B97901}"/>
              </a:ext>
            </a:extLst>
          </p:cNvPr>
          <p:cNvSpPr/>
          <p:nvPr/>
        </p:nvSpPr>
        <p:spPr>
          <a:xfrm>
            <a:off x="411480" y="22100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G.H.O.S.T  |  </a:t>
            </a:r>
            <a:r>
              <a:rPr lang="en-US" sz="1000" b="1" spc="6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BEYOND GAMING</a:t>
            </a:r>
            <a:endParaRPr lang="en-US" sz="1000" b="1" dirty="0"/>
          </a:p>
        </p:txBody>
      </p:sp>
      <p:sp>
        <p:nvSpPr>
          <p:cNvPr id="2" name="Google Shape;315;p47">
            <a:extLst>
              <a:ext uri="{FF2B5EF4-FFF2-40B4-BE49-F238E27FC236}">
                <a16:creationId xmlns:a16="http://schemas.microsoft.com/office/drawing/2014/main" id="{2A854D49-044D-30B7-FB2A-5A10E1EA108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71399" y="590500"/>
            <a:ext cx="10176705" cy="304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Games are the cleanest case. Not the only one.</a:t>
            </a:r>
            <a:endParaRPr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902F506-58FE-BB08-C4F3-3F894F41B46B}"/>
              </a:ext>
            </a:extLst>
          </p:cNvPr>
          <p:cNvSpPr/>
          <p:nvPr/>
        </p:nvSpPr>
        <p:spPr>
          <a:xfrm>
            <a:off x="365760" y="1078992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Anywhere strategic actors interact under shared rules, the framework's surfaces, invariants, and telemetry apply. Gaming made the examples concrete — but the structure isn't gaming-specific.</a:t>
            </a:r>
            <a:endParaRPr lang="en-US" dirty="0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18DCEA9F-5B15-4FC8-1419-B6B2C587D28D}"/>
              </a:ext>
            </a:extLst>
          </p:cNvPr>
          <p:cNvSpPr/>
          <p:nvPr/>
        </p:nvSpPr>
        <p:spPr>
          <a:xfrm>
            <a:off x="365760" y="1828800"/>
            <a:ext cx="4114800" cy="4617720"/>
          </a:xfrm>
          <a:prstGeom prst="rect">
            <a:avLst/>
          </a:prstGeom>
          <a:solidFill>
            <a:srgbClr val="121C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45502D7F-17B2-2823-7DD6-7767B7AB76D5}"/>
              </a:ext>
            </a:extLst>
          </p:cNvPr>
          <p:cNvSpPr/>
          <p:nvPr/>
        </p:nvSpPr>
        <p:spPr>
          <a:xfrm>
            <a:off x="365760" y="1828800"/>
            <a:ext cx="73152" cy="4617720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79C737D1-33D7-C9F2-0B71-17CD8F15D9FF}"/>
              </a:ext>
            </a:extLst>
          </p:cNvPr>
          <p:cNvSpPr/>
          <p:nvPr/>
        </p:nvSpPr>
        <p:spPr>
          <a:xfrm>
            <a:off x="64008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THE STRUCTURAL CLAIM</a:t>
            </a:r>
            <a:endParaRPr lang="en-US" sz="1000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B6E01ACC-20FE-2D54-673D-D53CAB2A367B}"/>
              </a:ext>
            </a:extLst>
          </p:cNvPr>
          <p:cNvSpPr/>
          <p:nvPr/>
        </p:nvSpPr>
        <p:spPr>
          <a:xfrm>
            <a:off x="640080" y="24231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Any system where multiple actors interact strategically under shared rules</a:t>
            </a:r>
            <a:endParaRPr lang="en-US" sz="18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B8B8C597-0267-B15A-C022-4105518385A4}"/>
              </a:ext>
            </a:extLst>
          </p:cNvPr>
          <p:cNvSpPr/>
          <p:nvPr/>
        </p:nvSpPr>
        <p:spPr>
          <a:xfrm>
            <a:off x="640080" y="3337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is a game.</a:t>
            </a:r>
            <a:endParaRPr lang="en-US" sz="22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D1A37584-6503-787D-DF62-AA6DF1841F44}"/>
              </a:ext>
            </a:extLst>
          </p:cNvPr>
          <p:cNvSpPr/>
          <p:nvPr/>
        </p:nvSpPr>
        <p:spPr>
          <a:xfrm>
            <a:off x="64008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2A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In the formal sense:</a:t>
            </a:r>
            <a:endParaRPr lang="en-US" sz="1100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F696680E-7A7A-F39C-8D43-B7AD4B3E6D8E}"/>
              </a:ext>
            </a:extLst>
          </p:cNvPr>
          <p:cNvSpPr/>
          <p:nvPr/>
        </p:nvSpPr>
        <p:spPr>
          <a:xfrm>
            <a:off x="640080" y="4343400"/>
            <a:ext cx="3657600" cy="640080"/>
          </a:xfrm>
          <a:prstGeom prst="rect">
            <a:avLst/>
          </a:prstGeom>
          <a:solidFill>
            <a:srgbClr val="1A2540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1AAA334A-50AA-D74A-E6FC-272E9D2B229F}"/>
              </a:ext>
            </a:extLst>
          </p:cNvPr>
          <p:cNvSpPr/>
          <p:nvPr/>
        </p:nvSpPr>
        <p:spPr>
          <a:xfrm>
            <a:off x="640080" y="4343400"/>
            <a:ext cx="36576" cy="640080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9DF516CF-1749-3EF7-752F-593707F4908F}"/>
              </a:ext>
            </a:extLst>
          </p:cNvPr>
          <p:cNvSpPr/>
          <p:nvPr/>
        </p:nvSpPr>
        <p:spPr>
          <a:xfrm>
            <a:off x="777240" y="44165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Strategic interaction</a:t>
            </a:r>
            <a:endParaRPr lang="en-US" sz="12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F92D906B-DBD4-9019-0F0A-37F90A6CB9A4}"/>
              </a:ext>
            </a:extLst>
          </p:cNvPr>
          <p:cNvSpPr/>
          <p:nvPr/>
        </p:nvSpPr>
        <p:spPr>
          <a:xfrm>
            <a:off x="777240" y="46725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Actors can affect each other's outcomes</a:t>
            </a:r>
            <a:endParaRPr lang="en-US" sz="1000" dirty="0"/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91CF0C01-6A34-D21E-73A2-1627D420FBC9}"/>
              </a:ext>
            </a:extLst>
          </p:cNvPr>
          <p:cNvSpPr/>
          <p:nvPr/>
        </p:nvSpPr>
        <p:spPr>
          <a:xfrm>
            <a:off x="640080" y="5056632"/>
            <a:ext cx="3657600" cy="640080"/>
          </a:xfrm>
          <a:prstGeom prst="rect">
            <a:avLst/>
          </a:prstGeom>
          <a:solidFill>
            <a:srgbClr val="1A2540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5E12DDEB-321F-A721-3827-705AA0873CEA}"/>
              </a:ext>
            </a:extLst>
          </p:cNvPr>
          <p:cNvSpPr/>
          <p:nvPr/>
        </p:nvSpPr>
        <p:spPr>
          <a:xfrm>
            <a:off x="640080" y="5056632"/>
            <a:ext cx="36576" cy="640080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466D4CA3-CAAD-FBEE-D2D8-77DE04C04CB1}"/>
              </a:ext>
            </a:extLst>
          </p:cNvPr>
          <p:cNvSpPr/>
          <p:nvPr/>
        </p:nvSpPr>
        <p:spPr>
          <a:xfrm>
            <a:off x="777240" y="51297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Information asymmetry</a:t>
            </a:r>
            <a:endParaRPr lang="en-US" sz="1200" dirty="0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2E510286-C103-6843-8E51-6483D1A0A758}"/>
              </a:ext>
            </a:extLst>
          </p:cNvPr>
          <p:cNvSpPr/>
          <p:nvPr/>
        </p:nvSpPr>
        <p:spPr>
          <a:xfrm>
            <a:off x="777240" y="53858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Some actors know more than others</a:t>
            </a:r>
            <a:endParaRPr lang="en-US" sz="1000" dirty="0"/>
          </a:p>
        </p:txBody>
      </p:sp>
      <p:sp>
        <p:nvSpPr>
          <p:cNvPr id="20" name="Shape 19">
            <a:extLst>
              <a:ext uri="{FF2B5EF4-FFF2-40B4-BE49-F238E27FC236}">
                <a16:creationId xmlns:a16="http://schemas.microsoft.com/office/drawing/2014/main" id="{7BC99EB9-9D34-8FD5-E00D-43A02C56566F}"/>
              </a:ext>
            </a:extLst>
          </p:cNvPr>
          <p:cNvSpPr/>
          <p:nvPr/>
        </p:nvSpPr>
        <p:spPr>
          <a:xfrm>
            <a:off x="640080" y="5769864"/>
            <a:ext cx="3657600" cy="640080"/>
          </a:xfrm>
          <a:prstGeom prst="rect">
            <a:avLst/>
          </a:prstGeom>
          <a:solidFill>
            <a:srgbClr val="1A2540"/>
          </a:solidFill>
          <a:ln w="635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3B4B1A12-B4D3-4810-DFF0-57E105B37E8B}"/>
              </a:ext>
            </a:extLst>
          </p:cNvPr>
          <p:cNvSpPr/>
          <p:nvPr/>
        </p:nvSpPr>
        <p:spPr>
          <a:xfrm>
            <a:off x="640080" y="5769864"/>
            <a:ext cx="36576" cy="640080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E050D4A3-B8C0-CA52-1C14-699999DA054B}"/>
              </a:ext>
            </a:extLst>
          </p:cNvPr>
          <p:cNvSpPr/>
          <p:nvPr/>
        </p:nvSpPr>
        <p:spPr>
          <a:xfrm>
            <a:off x="777240" y="58430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Incentive misalignment</a:t>
            </a:r>
            <a:endParaRPr lang="en-US" sz="1200" dirty="0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10EF0AB5-63A8-AEED-C67F-483F414410A0}"/>
              </a:ext>
            </a:extLst>
          </p:cNvPr>
          <p:cNvSpPr/>
          <p:nvPr/>
        </p:nvSpPr>
        <p:spPr>
          <a:xfrm>
            <a:off x="777240" y="60990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What actors want diverges from what the platform wants</a:t>
            </a:r>
            <a:endParaRPr lang="en-US" sz="1000" dirty="0"/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4B10DA4C-9D68-C34E-741E-F4C516659E91}"/>
              </a:ext>
            </a:extLst>
          </p:cNvPr>
          <p:cNvSpPr/>
          <p:nvPr/>
        </p:nvSpPr>
        <p:spPr>
          <a:xfrm>
            <a:off x="4617720" y="182880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WHERE THE FRAMEWORK ALSO APPLIES</a:t>
            </a:r>
            <a:endParaRPr lang="en-US" sz="1000" dirty="0"/>
          </a:p>
        </p:txBody>
      </p:sp>
      <p:sp>
        <p:nvSpPr>
          <p:cNvPr id="25" name="Shape 24">
            <a:extLst>
              <a:ext uri="{FF2B5EF4-FFF2-40B4-BE49-F238E27FC236}">
                <a16:creationId xmlns:a16="http://schemas.microsoft.com/office/drawing/2014/main" id="{E6243972-4590-8D50-98CF-FF6533D28B3E}"/>
              </a:ext>
            </a:extLst>
          </p:cNvPr>
          <p:cNvSpPr/>
          <p:nvPr/>
        </p:nvSpPr>
        <p:spPr>
          <a:xfrm>
            <a:off x="4617720" y="2194560"/>
            <a:ext cx="2316480" cy="2057400"/>
          </a:xfrm>
          <a:prstGeom prst="rect">
            <a:avLst/>
          </a:prstGeom>
          <a:solidFill>
            <a:srgbClr val="121C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5">
            <a:extLst>
              <a:ext uri="{FF2B5EF4-FFF2-40B4-BE49-F238E27FC236}">
                <a16:creationId xmlns:a16="http://schemas.microsoft.com/office/drawing/2014/main" id="{7A516F44-240C-B71F-77A0-63C623AB54B8}"/>
              </a:ext>
            </a:extLst>
          </p:cNvPr>
          <p:cNvSpPr/>
          <p:nvPr/>
        </p:nvSpPr>
        <p:spPr>
          <a:xfrm>
            <a:off x="4617720" y="2194560"/>
            <a:ext cx="54864" cy="2057400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6">
            <a:extLst>
              <a:ext uri="{FF2B5EF4-FFF2-40B4-BE49-F238E27FC236}">
                <a16:creationId xmlns:a16="http://schemas.microsoft.com/office/drawing/2014/main" id="{9784146E-44F4-60E9-E258-424074B76FB6}"/>
              </a:ext>
            </a:extLst>
          </p:cNvPr>
          <p:cNvSpPr/>
          <p:nvPr/>
        </p:nvSpPr>
        <p:spPr>
          <a:xfrm>
            <a:off x="4800600" y="2359152"/>
            <a:ext cx="204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MARKETPLACES</a:t>
            </a:r>
            <a:endParaRPr lang="en-US" sz="1200" dirty="0"/>
          </a:p>
        </p:txBody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86E60233-8775-4AE5-6B27-26797E7B4B96}"/>
              </a:ext>
            </a:extLst>
          </p:cNvPr>
          <p:cNvSpPr/>
          <p:nvPr/>
        </p:nvSpPr>
        <p:spPr>
          <a:xfrm>
            <a:off x="4800600" y="2651760"/>
            <a:ext cx="204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Amazon · eBay · Etsy · Vinted</a:t>
            </a:r>
            <a:endParaRPr lang="en-US" sz="1000" dirty="0"/>
          </a:p>
        </p:txBody>
      </p:sp>
      <p:sp>
        <p:nvSpPr>
          <p:cNvPr id="29" name="Text 28">
            <a:extLst>
              <a:ext uri="{FF2B5EF4-FFF2-40B4-BE49-F238E27FC236}">
                <a16:creationId xmlns:a16="http://schemas.microsoft.com/office/drawing/2014/main" id="{FCAA4113-8B22-8A51-AE12-7C67E38BEB35}"/>
              </a:ext>
            </a:extLst>
          </p:cNvPr>
          <p:cNvSpPr/>
          <p:nvPr/>
        </p:nvSpPr>
        <p:spPr>
          <a:xfrm>
            <a:off x="4800600" y="2971800"/>
            <a:ext cx="204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8A92A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THREATS:</a:t>
            </a:r>
            <a:endParaRPr lang="en-US" sz="800" dirty="0"/>
          </a:p>
        </p:txBody>
      </p:sp>
      <p:sp>
        <p:nvSpPr>
          <p:cNvPr id="30" name="Text 29">
            <a:extLst>
              <a:ext uri="{FF2B5EF4-FFF2-40B4-BE49-F238E27FC236}">
                <a16:creationId xmlns:a16="http://schemas.microsoft.com/office/drawing/2014/main" id="{2860ABE8-369F-49B1-440F-159B60043CCC}"/>
              </a:ext>
            </a:extLst>
          </p:cNvPr>
          <p:cNvSpPr/>
          <p:nvPr/>
        </p:nvSpPr>
        <p:spPr>
          <a:xfrm>
            <a:off x="4800600" y="3172968"/>
            <a:ext cx="204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Fake reviews · seller fraud · price manipulation · counterfeit</a:t>
            </a:r>
            <a:endParaRPr lang="en-US" sz="950" dirty="0"/>
          </a:p>
        </p:txBody>
      </p:sp>
      <p:sp>
        <p:nvSpPr>
          <p:cNvPr id="31" name="Shape 30">
            <a:extLst>
              <a:ext uri="{FF2B5EF4-FFF2-40B4-BE49-F238E27FC236}">
                <a16:creationId xmlns:a16="http://schemas.microsoft.com/office/drawing/2014/main" id="{68A470E2-8F95-C6D3-B30F-414D95768CF8}"/>
              </a:ext>
            </a:extLst>
          </p:cNvPr>
          <p:cNvSpPr/>
          <p:nvPr/>
        </p:nvSpPr>
        <p:spPr>
          <a:xfrm>
            <a:off x="7071360" y="2194560"/>
            <a:ext cx="2316480" cy="2057400"/>
          </a:xfrm>
          <a:prstGeom prst="rect">
            <a:avLst/>
          </a:prstGeom>
          <a:solidFill>
            <a:srgbClr val="121C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1">
            <a:extLst>
              <a:ext uri="{FF2B5EF4-FFF2-40B4-BE49-F238E27FC236}">
                <a16:creationId xmlns:a16="http://schemas.microsoft.com/office/drawing/2014/main" id="{2C3D76BC-FA66-B704-5249-062E3E0E3E23}"/>
              </a:ext>
            </a:extLst>
          </p:cNvPr>
          <p:cNvSpPr/>
          <p:nvPr/>
        </p:nvSpPr>
        <p:spPr>
          <a:xfrm>
            <a:off x="7071360" y="2194560"/>
            <a:ext cx="54864" cy="2057400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2">
            <a:extLst>
              <a:ext uri="{FF2B5EF4-FFF2-40B4-BE49-F238E27FC236}">
                <a16:creationId xmlns:a16="http://schemas.microsoft.com/office/drawing/2014/main" id="{7380487C-EA4F-EAC8-6ED3-B1C4657DCD73}"/>
              </a:ext>
            </a:extLst>
          </p:cNvPr>
          <p:cNvSpPr/>
          <p:nvPr/>
        </p:nvSpPr>
        <p:spPr>
          <a:xfrm>
            <a:off x="7254240" y="2359152"/>
            <a:ext cx="204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SOCIAL PLATFORMS</a:t>
            </a:r>
            <a:endParaRPr lang="en-US" sz="1200" dirty="0"/>
          </a:p>
        </p:txBody>
      </p:sp>
      <p:sp>
        <p:nvSpPr>
          <p:cNvPr id="34" name="Text 33">
            <a:extLst>
              <a:ext uri="{FF2B5EF4-FFF2-40B4-BE49-F238E27FC236}">
                <a16:creationId xmlns:a16="http://schemas.microsoft.com/office/drawing/2014/main" id="{C26E3E37-DF10-ADB9-AFF5-45B41E3937A1}"/>
              </a:ext>
            </a:extLst>
          </p:cNvPr>
          <p:cNvSpPr/>
          <p:nvPr/>
        </p:nvSpPr>
        <p:spPr>
          <a:xfrm>
            <a:off x="7254240" y="2651760"/>
            <a:ext cx="204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Twitter · TikTok · Reddit · LinkedIn</a:t>
            </a:r>
            <a:endParaRPr lang="en-US" sz="1000" dirty="0"/>
          </a:p>
        </p:txBody>
      </p:sp>
      <p:sp>
        <p:nvSpPr>
          <p:cNvPr id="35" name="Text 34">
            <a:extLst>
              <a:ext uri="{FF2B5EF4-FFF2-40B4-BE49-F238E27FC236}">
                <a16:creationId xmlns:a16="http://schemas.microsoft.com/office/drawing/2014/main" id="{6A3FDED0-673C-056C-9361-34EED76AAFE4}"/>
              </a:ext>
            </a:extLst>
          </p:cNvPr>
          <p:cNvSpPr/>
          <p:nvPr/>
        </p:nvSpPr>
        <p:spPr>
          <a:xfrm>
            <a:off x="7254240" y="2971800"/>
            <a:ext cx="204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8A92A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THREATS:</a:t>
            </a:r>
            <a:endParaRPr lang="en-US" sz="800" dirty="0"/>
          </a:p>
        </p:txBody>
      </p:sp>
      <p:sp>
        <p:nvSpPr>
          <p:cNvPr id="36" name="Text 35">
            <a:extLst>
              <a:ext uri="{FF2B5EF4-FFF2-40B4-BE49-F238E27FC236}">
                <a16:creationId xmlns:a16="http://schemas.microsoft.com/office/drawing/2014/main" id="{D7A3FFB3-418B-DF75-730B-EFEADF9BED1E}"/>
              </a:ext>
            </a:extLst>
          </p:cNvPr>
          <p:cNvSpPr/>
          <p:nvPr/>
        </p:nvSpPr>
        <p:spPr>
          <a:xfrm>
            <a:off x="7254240" y="3172968"/>
            <a:ext cx="204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Coordinated inauthentic behavior · brigading · harassment campaigns</a:t>
            </a:r>
            <a:endParaRPr lang="en-US" sz="950" dirty="0"/>
          </a:p>
        </p:txBody>
      </p:sp>
      <p:sp>
        <p:nvSpPr>
          <p:cNvPr id="37" name="Shape 36">
            <a:extLst>
              <a:ext uri="{FF2B5EF4-FFF2-40B4-BE49-F238E27FC236}">
                <a16:creationId xmlns:a16="http://schemas.microsoft.com/office/drawing/2014/main" id="{99181121-0F49-1451-E3B0-C3517F8EBE57}"/>
              </a:ext>
            </a:extLst>
          </p:cNvPr>
          <p:cNvSpPr/>
          <p:nvPr/>
        </p:nvSpPr>
        <p:spPr>
          <a:xfrm>
            <a:off x="9525000" y="2194560"/>
            <a:ext cx="2316480" cy="2057400"/>
          </a:xfrm>
          <a:prstGeom prst="rect">
            <a:avLst/>
          </a:prstGeom>
          <a:solidFill>
            <a:srgbClr val="121C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7">
            <a:extLst>
              <a:ext uri="{FF2B5EF4-FFF2-40B4-BE49-F238E27FC236}">
                <a16:creationId xmlns:a16="http://schemas.microsoft.com/office/drawing/2014/main" id="{E34B0058-30A2-2B39-CADA-9E9EA411DA0D}"/>
              </a:ext>
            </a:extLst>
          </p:cNvPr>
          <p:cNvSpPr/>
          <p:nvPr/>
        </p:nvSpPr>
        <p:spPr>
          <a:xfrm>
            <a:off x="9525000" y="2194560"/>
            <a:ext cx="54864" cy="2057400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8">
            <a:extLst>
              <a:ext uri="{FF2B5EF4-FFF2-40B4-BE49-F238E27FC236}">
                <a16:creationId xmlns:a16="http://schemas.microsoft.com/office/drawing/2014/main" id="{F661A289-9C92-CC20-952D-BD7B4CEA9632}"/>
              </a:ext>
            </a:extLst>
          </p:cNvPr>
          <p:cNvSpPr/>
          <p:nvPr/>
        </p:nvSpPr>
        <p:spPr>
          <a:xfrm>
            <a:off x="9707880" y="2359152"/>
            <a:ext cx="204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FINTECH</a:t>
            </a:r>
            <a:endParaRPr lang="en-US" sz="1200" dirty="0"/>
          </a:p>
        </p:txBody>
      </p:sp>
      <p:sp>
        <p:nvSpPr>
          <p:cNvPr id="40" name="Text 39">
            <a:extLst>
              <a:ext uri="{FF2B5EF4-FFF2-40B4-BE49-F238E27FC236}">
                <a16:creationId xmlns:a16="http://schemas.microsoft.com/office/drawing/2014/main" id="{B755B285-6A30-FB49-9AA9-61113C44A577}"/>
              </a:ext>
            </a:extLst>
          </p:cNvPr>
          <p:cNvSpPr/>
          <p:nvPr/>
        </p:nvSpPr>
        <p:spPr>
          <a:xfrm>
            <a:off x="9707880" y="2651760"/>
            <a:ext cx="204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Banking · payments · crypto exchanges</a:t>
            </a:r>
            <a:endParaRPr lang="en-US" sz="1000" dirty="0"/>
          </a:p>
        </p:txBody>
      </p:sp>
      <p:sp>
        <p:nvSpPr>
          <p:cNvPr id="41" name="Text 40">
            <a:extLst>
              <a:ext uri="{FF2B5EF4-FFF2-40B4-BE49-F238E27FC236}">
                <a16:creationId xmlns:a16="http://schemas.microsoft.com/office/drawing/2014/main" id="{64B3469D-C9E0-BA71-8046-EB4EAD2DE9C7}"/>
              </a:ext>
            </a:extLst>
          </p:cNvPr>
          <p:cNvSpPr/>
          <p:nvPr/>
        </p:nvSpPr>
        <p:spPr>
          <a:xfrm>
            <a:off x="9707880" y="2971800"/>
            <a:ext cx="204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8A92A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THREATS:</a:t>
            </a:r>
            <a:endParaRPr lang="en-US" sz="800" dirty="0"/>
          </a:p>
        </p:txBody>
      </p:sp>
      <p:sp>
        <p:nvSpPr>
          <p:cNvPr id="471" name="Text 41">
            <a:extLst>
              <a:ext uri="{FF2B5EF4-FFF2-40B4-BE49-F238E27FC236}">
                <a16:creationId xmlns:a16="http://schemas.microsoft.com/office/drawing/2014/main" id="{F6BA1CD8-9AE2-A7A5-D434-F2FE8A876526}"/>
              </a:ext>
            </a:extLst>
          </p:cNvPr>
          <p:cNvSpPr/>
          <p:nvPr/>
        </p:nvSpPr>
        <p:spPr>
          <a:xfrm>
            <a:off x="9707880" y="3172968"/>
            <a:ext cx="204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Wash trading · pump &amp; dump · money laundering · identity fraud</a:t>
            </a:r>
            <a:endParaRPr lang="en-US" sz="950" dirty="0"/>
          </a:p>
        </p:txBody>
      </p:sp>
      <p:sp>
        <p:nvSpPr>
          <p:cNvPr id="472" name="Shape 42">
            <a:extLst>
              <a:ext uri="{FF2B5EF4-FFF2-40B4-BE49-F238E27FC236}">
                <a16:creationId xmlns:a16="http://schemas.microsoft.com/office/drawing/2014/main" id="{6E1F2CF1-5DB3-B377-92DC-D0DD903FC7C0}"/>
              </a:ext>
            </a:extLst>
          </p:cNvPr>
          <p:cNvSpPr/>
          <p:nvPr/>
        </p:nvSpPr>
        <p:spPr>
          <a:xfrm>
            <a:off x="4617720" y="4389120"/>
            <a:ext cx="2316480" cy="2057400"/>
          </a:xfrm>
          <a:prstGeom prst="rect">
            <a:avLst/>
          </a:prstGeom>
          <a:solidFill>
            <a:srgbClr val="121C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3" name="Shape 43">
            <a:extLst>
              <a:ext uri="{FF2B5EF4-FFF2-40B4-BE49-F238E27FC236}">
                <a16:creationId xmlns:a16="http://schemas.microsoft.com/office/drawing/2014/main" id="{3B3FDB8B-5736-3026-55B2-5D7959911B92}"/>
              </a:ext>
            </a:extLst>
          </p:cNvPr>
          <p:cNvSpPr/>
          <p:nvPr/>
        </p:nvSpPr>
        <p:spPr>
          <a:xfrm>
            <a:off x="4617720" y="4389120"/>
            <a:ext cx="54864" cy="2057400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4" name="Text 44">
            <a:extLst>
              <a:ext uri="{FF2B5EF4-FFF2-40B4-BE49-F238E27FC236}">
                <a16:creationId xmlns:a16="http://schemas.microsoft.com/office/drawing/2014/main" id="{C77CC4F7-A499-8F5C-41AB-6D7150FBFB8C}"/>
              </a:ext>
            </a:extLst>
          </p:cNvPr>
          <p:cNvSpPr/>
          <p:nvPr/>
        </p:nvSpPr>
        <p:spPr>
          <a:xfrm>
            <a:off x="4800600" y="4553712"/>
            <a:ext cx="204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DATING / MATCHING</a:t>
            </a:r>
            <a:endParaRPr lang="en-US" sz="1200" dirty="0"/>
          </a:p>
        </p:txBody>
      </p:sp>
      <p:sp>
        <p:nvSpPr>
          <p:cNvPr id="475" name="Text 45">
            <a:extLst>
              <a:ext uri="{FF2B5EF4-FFF2-40B4-BE49-F238E27FC236}">
                <a16:creationId xmlns:a16="http://schemas.microsoft.com/office/drawing/2014/main" id="{7C3F185F-2851-F4E2-BE76-74D4F2ABC78A}"/>
              </a:ext>
            </a:extLst>
          </p:cNvPr>
          <p:cNvSpPr/>
          <p:nvPr/>
        </p:nvSpPr>
        <p:spPr>
          <a:xfrm>
            <a:off x="4800600" y="4846320"/>
            <a:ext cx="204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Tinder · Hinge · Bumble · OkCupid</a:t>
            </a:r>
            <a:endParaRPr lang="en-US" sz="1000" dirty="0"/>
          </a:p>
        </p:txBody>
      </p:sp>
      <p:sp>
        <p:nvSpPr>
          <p:cNvPr id="476" name="Text 46">
            <a:extLst>
              <a:ext uri="{FF2B5EF4-FFF2-40B4-BE49-F238E27FC236}">
                <a16:creationId xmlns:a16="http://schemas.microsoft.com/office/drawing/2014/main" id="{928DA38B-F4C9-F2BB-CE69-51A7F823FD87}"/>
              </a:ext>
            </a:extLst>
          </p:cNvPr>
          <p:cNvSpPr/>
          <p:nvPr/>
        </p:nvSpPr>
        <p:spPr>
          <a:xfrm>
            <a:off x="4800600" y="5166360"/>
            <a:ext cx="204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8A92A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THREATS:</a:t>
            </a:r>
            <a:endParaRPr lang="en-US" sz="800" dirty="0"/>
          </a:p>
        </p:txBody>
      </p:sp>
      <p:sp>
        <p:nvSpPr>
          <p:cNvPr id="477" name="Text 47">
            <a:extLst>
              <a:ext uri="{FF2B5EF4-FFF2-40B4-BE49-F238E27FC236}">
                <a16:creationId xmlns:a16="http://schemas.microsoft.com/office/drawing/2014/main" id="{9CEBE7C2-0BFF-D72F-553E-A63D051170D6}"/>
              </a:ext>
            </a:extLst>
          </p:cNvPr>
          <p:cNvSpPr/>
          <p:nvPr/>
        </p:nvSpPr>
        <p:spPr>
          <a:xfrm>
            <a:off x="4800600" y="5367528"/>
            <a:ext cx="204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Romance scams · catfishing · stalking · coercion</a:t>
            </a:r>
            <a:endParaRPr lang="en-US" sz="950" dirty="0"/>
          </a:p>
        </p:txBody>
      </p:sp>
      <p:sp>
        <p:nvSpPr>
          <p:cNvPr id="478" name="Shape 48">
            <a:extLst>
              <a:ext uri="{FF2B5EF4-FFF2-40B4-BE49-F238E27FC236}">
                <a16:creationId xmlns:a16="http://schemas.microsoft.com/office/drawing/2014/main" id="{3ED5BD17-5C40-B483-C7A9-250CF22817C7}"/>
              </a:ext>
            </a:extLst>
          </p:cNvPr>
          <p:cNvSpPr/>
          <p:nvPr/>
        </p:nvSpPr>
        <p:spPr>
          <a:xfrm>
            <a:off x="7071360" y="4389120"/>
            <a:ext cx="2453640" cy="2057400"/>
          </a:xfrm>
          <a:prstGeom prst="rect">
            <a:avLst/>
          </a:prstGeom>
          <a:solidFill>
            <a:srgbClr val="121C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9" name="Shape 49">
            <a:extLst>
              <a:ext uri="{FF2B5EF4-FFF2-40B4-BE49-F238E27FC236}">
                <a16:creationId xmlns:a16="http://schemas.microsoft.com/office/drawing/2014/main" id="{44B6CB43-FAA4-1AAD-B174-CE7301C95931}"/>
              </a:ext>
            </a:extLst>
          </p:cNvPr>
          <p:cNvSpPr/>
          <p:nvPr/>
        </p:nvSpPr>
        <p:spPr>
          <a:xfrm>
            <a:off x="7071360" y="4389120"/>
            <a:ext cx="54864" cy="2057400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0" name="Text 50">
            <a:extLst>
              <a:ext uri="{FF2B5EF4-FFF2-40B4-BE49-F238E27FC236}">
                <a16:creationId xmlns:a16="http://schemas.microsoft.com/office/drawing/2014/main" id="{D4C4F551-3BA1-EA9A-DCB6-8AEC03756E2D}"/>
              </a:ext>
            </a:extLst>
          </p:cNvPr>
          <p:cNvSpPr/>
          <p:nvPr/>
        </p:nvSpPr>
        <p:spPr>
          <a:xfrm>
            <a:off x="7254240" y="4553712"/>
            <a:ext cx="204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GIG ECONOMY</a:t>
            </a:r>
            <a:endParaRPr lang="en-US" sz="1200" dirty="0"/>
          </a:p>
        </p:txBody>
      </p:sp>
      <p:sp>
        <p:nvSpPr>
          <p:cNvPr id="481" name="Text 51">
            <a:extLst>
              <a:ext uri="{FF2B5EF4-FFF2-40B4-BE49-F238E27FC236}">
                <a16:creationId xmlns:a16="http://schemas.microsoft.com/office/drawing/2014/main" id="{90E5DEA3-4530-A564-549C-DB4C84A75016}"/>
              </a:ext>
            </a:extLst>
          </p:cNvPr>
          <p:cNvSpPr/>
          <p:nvPr/>
        </p:nvSpPr>
        <p:spPr>
          <a:xfrm>
            <a:off x="7254240" y="4846320"/>
            <a:ext cx="204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Uber · DoorDash · Fiverr · Upwork</a:t>
            </a:r>
            <a:endParaRPr lang="en-US" sz="1000" dirty="0"/>
          </a:p>
        </p:txBody>
      </p:sp>
      <p:sp>
        <p:nvSpPr>
          <p:cNvPr id="482" name="Text 52">
            <a:extLst>
              <a:ext uri="{FF2B5EF4-FFF2-40B4-BE49-F238E27FC236}">
                <a16:creationId xmlns:a16="http://schemas.microsoft.com/office/drawing/2014/main" id="{59102C9F-AF79-6104-38D5-0A4664AD7572}"/>
              </a:ext>
            </a:extLst>
          </p:cNvPr>
          <p:cNvSpPr/>
          <p:nvPr/>
        </p:nvSpPr>
        <p:spPr>
          <a:xfrm>
            <a:off x="7254240" y="5166360"/>
            <a:ext cx="204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8A92A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THREATS:</a:t>
            </a:r>
            <a:endParaRPr lang="en-US" sz="800" dirty="0"/>
          </a:p>
        </p:txBody>
      </p:sp>
      <p:sp>
        <p:nvSpPr>
          <p:cNvPr id="483" name="Text 53">
            <a:extLst>
              <a:ext uri="{FF2B5EF4-FFF2-40B4-BE49-F238E27FC236}">
                <a16:creationId xmlns:a16="http://schemas.microsoft.com/office/drawing/2014/main" id="{C68428AE-AFF9-6280-10EA-E0CED1423199}"/>
              </a:ext>
            </a:extLst>
          </p:cNvPr>
          <p:cNvSpPr/>
          <p:nvPr/>
        </p:nvSpPr>
        <p:spPr>
          <a:xfrm>
            <a:off x="7254240" y="5367528"/>
            <a:ext cx="204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Account farming · rating manipulation · driver / rider gaming</a:t>
            </a:r>
            <a:endParaRPr lang="en-US" sz="950" dirty="0"/>
          </a:p>
        </p:txBody>
      </p:sp>
      <p:sp>
        <p:nvSpPr>
          <p:cNvPr id="484" name="Shape 54">
            <a:extLst>
              <a:ext uri="{FF2B5EF4-FFF2-40B4-BE49-F238E27FC236}">
                <a16:creationId xmlns:a16="http://schemas.microsoft.com/office/drawing/2014/main" id="{9AADE555-498E-E936-593D-3CFCF9DA0C18}"/>
              </a:ext>
            </a:extLst>
          </p:cNvPr>
          <p:cNvSpPr/>
          <p:nvPr/>
        </p:nvSpPr>
        <p:spPr>
          <a:xfrm>
            <a:off x="9525000" y="4389120"/>
            <a:ext cx="2316480" cy="2057400"/>
          </a:xfrm>
          <a:prstGeom prst="rect">
            <a:avLst/>
          </a:prstGeom>
          <a:solidFill>
            <a:srgbClr val="121C2E"/>
          </a:solidFill>
          <a:ln w="12700">
            <a:solidFill>
              <a:srgbClr val="2430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5" name="Shape 55">
            <a:extLst>
              <a:ext uri="{FF2B5EF4-FFF2-40B4-BE49-F238E27FC236}">
                <a16:creationId xmlns:a16="http://schemas.microsoft.com/office/drawing/2014/main" id="{F92CB29F-72C0-81FD-F3E0-A340C9E35628}"/>
              </a:ext>
            </a:extLst>
          </p:cNvPr>
          <p:cNvSpPr/>
          <p:nvPr/>
        </p:nvSpPr>
        <p:spPr>
          <a:xfrm>
            <a:off x="9525000" y="4389120"/>
            <a:ext cx="54864" cy="2057400"/>
          </a:xfrm>
          <a:prstGeom prst="rect">
            <a:avLst/>
          </a:prstGeom>
          <a:solidFill>
            <a:srgbClr val="08F4D6"/>
          </a:solidFill>
          <a:ln w="12700">
            <a:solidFill>
              <a:srgbClr val="08F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6" name="Text 56">
            <a:extLst>
              <a:ext uri="{FF2B5EF4-FFF2-40B4-BE49-F238E27FC236}">
                <a16:creationId xmlns:a16="http://schemas.microsoft.com/office/drawing/2014/main" id="{E4ADAACB-9DD8-CEBF-B96D-3FA38B86B988}"/>
              </a:ext>
            </a:extLst>
          </p:cNvPr>
          <p:cNvSpPr/>
          <p:nvPr/>
        </p:nvSpPr>
        <p:spPr>
          <a:xfrm>
            <a:off x="9707880" y="4553712"/>
            <a:ext cx="204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8F4D6"/>
                </a:solidFill>
                <a:latin typeface="Overpass Black" pitchFamily="34" charset="0"/>
                <a:ea typeface="Overpass Black" pitchFamily="34" charset="-122"/>
                <a:cs typeface="Overpass Black" pitchFamily="34" charset="-120"/>
              </a:rPr>
              <a:t>CONTENT PLATFORMS</a:t>
            </a:r>
            <a:endParaRPr lang="en-US" sz="1200" dirty="0"/>
          </a:p>
        </p:txBody>
      </p:sp>
      <p:sp>
        <p:nvSpPr>
          <p:cNvPr id="487" name="Text 57">
            <a:extLst>
              <a:ext uri="{FF2B5EF4-FFF2-40B4-BE49-F238E27FC236}">
                <a16:creationId xmlns:a16="http://schemas.microsoft.com/office/drawing/2014/main" id="{17A7EDDF-22D0-BFC0-26EC-4FF1BC693E19}"/>
              </a:ext>
            </a:extLst>
          </p:cNvPr>
          <p:cNvSpPr/>
          <p:nvPr/>
        </p:nvSpPr>
        <p:spPr>
          <a:xfrm>
            <a:off x="9707880" y="4846320"/>
            <a:ext cx="204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0D8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YouTube · Twitch · Spotify · Patreon</a:t>
            </a:r>
            <a:endParaRPr lang="en-US" sz="1000" dirty="0"/>
          </a:p>
        </p:txBody>
      </p:sp>
      <p:sp>
        <p:nvSpPr>
          <p:cNvPr id="488" name="Text 58">
            <a:extLst>
              <a:ext uri="{FF2B5EF4-FFF2-40B4-BE49-F238E27FC236}">
                <a16:creationId xmlns:a16="http://schemas.microsoft.com/office/drawing/2014/main" id="{5EC56D06-0592-9C51-251F-A47D8B119610}"/>
              </a:ext>
            </a:extLst>
          </p:cNvPr>
          <p:cNvSpPr/>
          <p:nvPr/>
        </p:nvSpPr>
        <p:spPr>
          <a:xfrm>
            <a:off x="9707880" y="5166360"/>
            <a:ext cx="204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8A92A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THREATS:</a:t>
            </a:r>
            <a:endParaRPr lang="en-US" sz="800" dirty="0"/>
          </a:p>
        </p:txBody>
      </p:sp>
      <p:sp>
        <p:nvSpPr>
          <p:cNvPr id="489" name="Text 59">
            <a:extLst>
              <a:ext uri="{FF2B5EF4-FFF2-40B4-BE49-F238E27FC236}">
                <a16:creationId xmlns:a16="http://schemas.microsoft.com/office/drawing/2014/main" id="{FABA7462-58E3-3B2E-A97A-B2B7709742B8}"/>
              </a:ext>
            </a:extLst>
          </p:cNvPr>
          <p:cNvSpPr/>
          <p:nvPr/>
        </p:nvSpPr>
        <p:spPr>
          <a:xfrm>
            <a:off x="9707880" y="5367528"/>
            <a:ext cx="204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Engagement fraud · copyright abuse · payout manipulation</a:t>
            </a:r>
            <a:endParaRPr lang="en-US" sz="950" dirty="0"/>
          </a:p>
        </p:txBody>
      </p:sp>
      <p:sp>
        <p:nvSpPr>
          <p:cNvPr id="490" name="Text 60">
            <a:extLst>
              <a:ext uri="{FF2B5EF4-FFF2-40B4-BE49-F238E27FC236}">
                <a16:creationId xmlns:a16="http://schemas.microsoft.com/office/drawing/2014/main" id="{12A22E50-417D-008B-AA4D-3F4AEC6C2B0D}"/>
              </a:ext>
            </a:extLst>
          </p:cNvPr>
          <p:cNvSpPr/>
          <p:nvPr/>
        </p:nvSpPr>
        <p:spPr>
          <a:xfrm>
            <a:off x="365760" y="6565392"/>
            <a:ext cx="11475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08F4D6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Same surfaces. Same invariants. Same telemetry. Different domain — same structure.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719741"/>
      </p:ext>
    </p:extLst>
  </p:cSld>
  <p:clrMapOvr>
    <a:masterClrMapping/>
  </p:clrMapOvr>
</p:sld>
</file>

<file path=ppt/theme/theme1.xml><?xml version="1.0" encoding="utf-8"?>
<a:theme xmlns:a="http://schemas.openxmlformats.org/drawingml/2006/main" name="IriusRisk Master Template">
  <a:themeElements>
    <a:clrScheme name="IriusRisk2022">
      <a:dk1>
        <a:srgbClr val="5D6566"/>
      </a:dk1>
      <a:lt1>
        <a:srgbClr val="1C2020"/>
      </a:lt1>
      <a:dk2>
        <a:srgbClr val="CACBCC"/>
      </a:dk2>
      <a:lt2>
        <a:srgbClr val="939899"/>
      </a:lt2>
      <a:accent1>
        <a:srgbClr val="F3F3F5"/>
      </a:accent1>
      <a:accent2>
        <a:srgbClr val="043647"/>
      </a:accent2>
      <a:accent3>
        <a:srgbClr val="33B8CC"/>
      </a:accent3>
      <a:accent4>
        <a:srgbClr val="6FC0AB"/>
      </a:accent4>
      <a:accent5>
        <a:srgbClr val="D3D328"/>
      </a:accent5>
      <a:accent6>
        <a:srgbClr val="D9D9D6"/>
      </a:accent6>
      <a:hlink>
        <a:srgbClr val="33B8CC"/>
      </a:hlink>
      <a:folHlink>
        <a:srgbClr val="04364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riusRisk Master Template">
  <a:themeElements>
    <a:clrScheme name="IriusRisk2022">
      <a:dk1>
        <a:srgbClr val="5D6566"/>
      </a:dk1>
      <a:lt1>
        <a:srgbClr val="1C2020"/>
      </a:lt1>
      <a:dk2>
        <a:srgbClr val="CACBCC"/>
      </a:dk2>
      <a:lt2>
        <a:srgbClr val="939899"/>
      </a:lt2>
      <a:accent1>
        <a:srgbClr val="F3F3F5"/>
      </a:accent1>
      <a:accent2>
        <a:srgbClr val="2B4865"/>
      </a:accent2>
      <a:accent3>
        <a:srgbClr val="08F3D5"/>
      </a:accent3>
      <a:accent4>
        <a:srgbClr val="31A8E0"/>
      </a:accent4>
      <a:accent5>
        <a:srgbClr val="1D1C28"/>
      </a:accent5>
      <a:accent6>
        <a:srgbClr val="D9D9D6"/>
      </a:accent6>
      <a:hlink>
        <a:srgbClr val="33B8CC"/>
      </a:hlink>
      <a:folHlink>
        <a:srgbClr val="04364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IriusRisk Master Template">
  <a:themeElements>
    <a:clrScheme name="IriusRisk2022">
      <a:dk1>
        <a:srgbClr val="5D6566"/>
      </a:dk1>
      <a:lt1>
        <a:srgbClr val="1C2020"/>
      </a:lt1>
      <a:dk2>
        <a:srgbClr val="CACBCC"/>
      </a:dk2>
      <a:lt2>
        <a:srgbClr val="939899"/>
      </a:lt2>
      <a:accent1>
        <a:srgbClr val="F3F3F5"/>
      </a:accent1>
      <a:accent2>
        <a:srgbClr val="2B4865"/>
      </a:accent2>
      <a:accent3>
        <a:srgbClr val="08F3D5"/>
      </a:accent3>
      <a:accent4>
        <a:srgbClr val="31A8E0"/>
      </a:accent4>
      <a:accent5>
        <a:srgbClr val="1D1C28"/>
      </a:accent5>
      <a:accent6>
        <a:srgbClr val="D9D9D6"/>
      </a:accent6>
      <a:hlink>
        <a:srgbClr val="33B8CC"/>
      </a:hlink>
      <a:folHlink>
        <a:srgbClr val="04364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3803</Words>
  <Application>Microsoft Office PowerPoint</Application>
  <PresentationFormat>Widescreen</PresentationFormat>
  <Paragraphs>753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Overpass Black</vt:lpstr>
      <vt:lpstr>Consolas</vt:lpstr>
      <vt:lpstr>Libre Franklin</vt:lpstr>
      <vt:lpstr>Arial</vt:lpstr>
      <vt:lpstr>Overpass</vt:lpstr>
      <vt:lpstr>IriusRisk Master Template</vt:lpstr>
      <vt:lpstr>IriusRisk Master Template</vt:lpstr>
      <vt:lpstr>1_IriusRisk Master Template</vt:lpstr>
      <vt:lpstr>PowerPoint Presentation</vt:lpstr>
      <vt:lpstr>PowerPoint Presentation</vt:lpstr>
      <vt:lpstr>Harikrishnan Santhanaraghavan (Hari)</vt:lpstr>
      <vt:lpstr>No Exploit, Still Compromised !</vt:lpstr>
      <vt:lpstr>Existing knowledge on socio-technical risks</vt:lpstr>
      <vt:lpstr>PowerPoint Presentation</vt:lpstr>
      <vt:lpstr>The Five Domains of G.H.O.S.T </vt:lpstr>
      <vt:lpstr>Why Focus on Gaming ?</vt:lpstr>
      <vt:lpstr>PowerPoint Presentation</vt:lpstr>
      <vt:lpstr>Threats Land where Players Play !</vt:lpstr>
      <vt:lpstr>All Six Surfaces, Visible on One Screen</vt:lpstr>
      <vt:lpstr>PowerPoint Presentation</vt:lpstr>
      <vt:lpstr>Invariant-Anchored Telemetry (IAT)</vt:lpstr>
      <vt:lpstr>The Fifty Non-Negotiables</vt:lpstr>
      <vt:lpstr>The same fifty, organized two ways</vt:lpstr>
      <vt:lpstr>PowerPoint Presentation</vt:lpstr>
      <vt:lpstr>Test-Driven Threat Modeling (TDTM)</vt:lpstr>
      <vt:lpstr>PowerPoint Presentation</vt:lpstr>
      <vt:lpstr>Threats rarely stay in one domain !</vt:lpstr>
      <vt:lpstr>PowerPoint Presentation</vt:lpstr>
      <vt:lpstr>PowerPoint Presentation</vt:lpstr>
      <vt:lpstr>GHOST AI Architecture</vt:lpstr>
      <vt:lpstr>PowerPoint Presentation</vt:lpstr>
      <vt:lpstr>The arithmetic of coverage !</vt:lpstr>
      <vt:lpstr>Try it. Run it. Make it yours,</vt:lpstr>
      <vt:lpstr>PowerPoint Presentation</vt:lpstr>
      <vt:lpstr>G.H.O.S.T</vt:lpstr>
      <vt:lpstr>PowerPoint Presentation</vt:lpstr>
      <vt:lpstr>Deciding what to model first !</vt:lpstr>
      <vt:lpstr>Games are the cleanest case. Not the only one.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Santhanaraghavan, Harikrishnan (Allianz Technology)</cp:lastModifiedBy>
  <cp:revision>16</cp:revision>
  <dcterms:modified xsi:type="dcterms:W3CDTF">2026-06-16T10:21:33Z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e5f591a-3248-43e9-9b70-1ad50135772d_Enabled">
    <vt:lpwstr>true</vt:lpwstr>
  </property>
  <property fmtid="{D5CDD505-2E9C-101B-9397-08002B2CF9AE}" pid="3" name="MSIP_Label_ce5f591a-3248-43e9-9b70-1ad50135772d_SetDate">
    <vt:lpwstr>2026-05-17T08:11:53Z</vt:lpwstr>
  </property>
  <property fmtid="{D5CDD505-2E9C-101B-9397-08002B2CF9AE}" pid="4" name="MSIP_Label_ce5f591a-3248-43e9-9b70-1ad50135772d_Method">
    <vt:lpwstr>Privileged</vt:lpwstr>
  </property>
  <property fmtid="{D5CDD505-2E9C-101B-9397-08002B2CF9AE}" pid="5" name="MSIP_Label_ce5f591a-3248-43e9-9b70-1ad50135772d_Name">
    <vt:lpwstr>ce5f591a-3248-43e9-9b70-1ad50135772d</vt:lpwstr>
  </property>
  <property fmtid="{D5CDD505-2E9C-101B-9397-08002B2CF9AE}" pid="6" name="MSIP_Label_ce5f591a-3248-43e9-9b70-1ad50135772d_SiteId">
    <vt:lpwstr>6e06e42d-6925-47c6-b9e7-9581c7ca302a</vt:lpwstr>
  </property>
  <property fmtid="{D5CDD505-2E9C-101B-9397-08002B2CF9AE}" pid="7" name="MSIP_Label_ce5f591a-3248-43e9-9b70-1ad50135772d_ActionId">
    <vt:lpwstr>b786dc85-2ad1-4232-93b2-20ca10842518</vt:lpwstr>
  </property>
  <property fmtid="{D5CDD505-2E9C-101B-9397-08002B2CF9AE}" pid="8" name="MSIP_Label_ce5f591a-3248-43e9-9b70-1ad50135772d_ContentBits">
    <vt:lpwstr>0</vt:lpwstr>
  </property>
  <property fmtid="{D5CDD505-2E9C-101B-9397-08002B2CF9AE}" pid="9" name="MSIP_Label_ce5f591a-3248-43e9-9b70-1ad50135772d_Tag">
    <vt:lpwstr>10, 0, 1, 1</vt:lpwstr>
  </property>
  <property fmtid="{D5CDD505-2E9C-101B-9397-08002B2CF9AE}" pid="10" name="_AdHocReviewCycleID">
    <vt:i4>1978564270</vt:i4>
  </property>
  <property fmtid="{D5CDD505-2E9C-101B-9397-08002B2CF9AE}" pid="11" name="_NewReviewCycle">
    <vt:lpwstr/>
  </property>
  <property fmtid="{D5CDD505-2E9C-101B-9397-08002B2CF9AE}" pid="12" name="_EmailSubject">
    <vt:lpwstr>ThreatModCon26Vienna_GHOST - First Draft for Review</vt:lpwstr>
  </property>
  <property fmtid="{D5CDD505-2E9C-101B-9397-08002B2CF9AE}" pid="13" name="_AuthorEmail">
    <vt:lpwstr>harikrishnan.santhanaraghavan@allianz.de</vt:lpwstr>
  </property>
  <property fmtid="{D5CDD505-2E9C-101B-9397-08002B2CF9AE}" pid="14" name="_AuthorEmailDisplayName">
    <vt:lpwstr>Santhanaraghavan, Harikrishnan (Allianz Technology)</vt:lpwstr>
  </property>
</Properties>
</file>